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8d7d63934fa41b1" /><Relationship Type="http://schemas.openxmlformats.org/officeDocument/2006/relationships/extended-properties" Target="/docProps/app.xml" Id="R84da82c2c4334200" /><Relationship Type="http://schemas.openxmlformats.org/officeDocument/2006/relationships/officeDocument" Target="/ppt/presentation.xml" Id="R5bbd1981d79e4d4c" /></Relationships>
</file>

<file path=ppt/presentation.xml><?xml version="1.0" encoding="utf-8"?>
<p:presentation xmlns:p="http://schemas.openxmlformats.org/presentationml/2006/main">
  <p:sldMasterIdLst>
    <p:sldMasterId xmlns:r="http://schemas.openxmlformats.org/officeDocument/2006/relationships" id="2147483648" r:id="Rc1273a2463fe45ef"/>
  </p:sldMasterIdLst>
  <p:notesMasterIdLst>
    <p:notesMasterId xmlns:r="http://schemas.openxmlformats.org/officeDocument/2006/relationships" r:id="R92e4025d24654063"/>
  </p:notesMasterIdLst>
  <p:sldIdLst>
    <p:sldId xmlns:r="http://schemas.openxmlformats.org/officeDocument/2006/relationships" id="256" r:id="Rdbe1879049e04c6a"/>
    <p:sldId xmlns:r="http://schemas.openxmlformats.org/officeDocument/2006/relationships" id="257" r:id="R9f740094a2be4d3e"/>
    <p:sldId xmlns:r="http://schemas.openxmlformats.org/officeDocument/2006/relationships" id="258" r:id="R1fd24ae5f6764d43"/>
    <p:sldId xmlns:r="http://schemas.openxmlformats.org/officeDocument/2006/relationships" id="259" r:id="R157c4959546b407c"/>
    <p:sldId xmlns:r="http://schemas.openxmlformats.org/officeDocument/2006/relationships" id="260" r:id="R87dd1055cd85480b"/>
    <p:sldId xmlns:r="http://schemas.openxmlformats.org/officeDocument/2006/relationships" id="261" r:id="R532cac43ccba4d98"/>
    <p:sldId xmlns:r="http://schemas.openxmlformats.org/officeDocument/2006/relationships" id="262" r:id="R49b3fbdd091f45a9"/>
    <p:sldId xmlns:r="http://schemas.openxmlformats.org/officeDocument/2006/relationships" id="263" r:id="R934774c9426546e1"/>
    <p:sldId xmlns:r="http://schemas.openxmlformats.org/officeDocument/2006/relationships" id="264" r:id="R020344e38ea34f8b"/>
    <p:sldId xmlns:r="http://schemas.openxmlformats.org/officeDocument/2006/relationships" id="265" r:id="R3c6d4be1d6b84201"/>
    <p:sldId xmlns:r="http://schemas.openxmlformats.org/officeDocument/2006/relationships" id="266" r:id="Radd6a97312b64134"/>
    <p:sldId xmlns:r="http://schemas.openxmlformats.org/officeDocument/2006/relationships" id="267" r:id="R8f31d099cb3a49c5"/>
    <p:sldId xmlns:r="http://schemas.openxmlformats.org/officeDocument/2006/relationships" id="268" r:id="R1cd0a1ce265740ec"/>
    <p:sldId xmlns:r="http://schemas.openxmlformats.org/officeDocument/2006/relationships" id="269" r:id="R00879ec0d6534bed"/>
    <p:sldId xmlns:r="http://schemas.openxmlformats.org/officeDocument/2006/relationships" id="270" r:id="R82cd0da7fa2e4b22"/>
    <p:sldId xmlns:r="http://schemas.openxmlformats.org/officeDocument/2006/relationships" id="271" r:id="R5783176c5ce84e22"/>
    <p:sldId xmlns:r="http://schemas.openxmlformats.org/officeDocument/2006/relationships" id="272" r:id="R755923857cdf45b8"/>
    <p:sldId xmlns:r="http://schemas.openxmlformats.org/officeDocument/2006/relationships" id="273" r:id="R6cdeee652c524da1"/>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53cd0f614f14787" /><Relationship Type="http://schemas.openxmlformats.org/officeDocument/2006/relationships/slideMaster" Target="/ppt/slideMasters/slideMaster1.xml" Id="Rc1273a2463fe45ef" /><Relationship Type="http://schemas.openxmlformats.org/officeDocument/2006/relationships/notesMaster" Target="/ppt/notesMasters/notesMaster1.xml" Id="R92e4025d24654063" /><Relationship Type="http://schemas.openxmlformats.org/officeDocument/2006/relationships/presProps" Target="/ppt/presProps.xml" Id="R45508edade674a1a" /><Relationship Type="http://schemas.openxmlformats.org/officeDocument/2006/relationships/viewProps" Target="/ppt/viewProps.xml" Id="R910cb8d675c24287" /><Relationship Type="http://schemas.openxmlformats.org/officeDocument/2006/relationships/tableStyles" Target="/ppt/tableStyles.xml" Id="R16aaed590cdf44d6" /><Relationship Type="http://schemas.openxmlformats.org/officeDocument/2006/relationships/slide" Target="/ppt/slides/slide1.xml" Id="Rdbe1879049e04c6a" /><Relationship Type="http://schemas.openxmlformats.org/officeDocument/2006/relationships/slide" Target="/ppt/slides/slide2.xml" Id="R9f740094a2be4d3e" /><Relationship Type="http://schemas.openxmlformats.org/officeDocument/2006/relationships/slide" Target="/ppt/slides/slide3.xml" Id="R1fd24ae5f6764d43" /><Relationship Type="http://schemas.openxmlformats.org/officeDocument/2006/relationships/slide" Target="/ppt/slides/slide4.xml" Id="R157c4959546b407c" /><Relationship Type="http://schemas.openxmlformats.org/officeDocument/2006/relationships/slide" Target="/ppt/slides/slide5.xml" Id="R87dd1055cd85480b" /><Relationship Type="http://schemas.openxmlformats.org/officeDocument/2006/relationships/slide" Target="/ppt/slides/slide6.xml" Id="R532cac43ccba4d98" /><Relationship Type="http://schemas.openxmlformats.org/officeDocument/2006/relationships/slide" Target="/ppt/slides/slide7.xml" Id="R49b3fbdd091f45a9" /><Relationship Type="http://schemas.openxmlformats.org/officeDocument/2006/relationships/slide" Target="/ppt/slides/slide8.xml" Id="R934774c9426546e1" /><Relationship Type="http://schemas.openxmlformats.org/officeDocument/2006/relationships/slide" Target="/ppt/slides/slide9.xml" Id="R020344e38ea34f8b" /><Relationship Type="http://schemas.openxmlformats.org/officeDocument/2006/relationships/slide" Target="/ppt/slides/slide10.xml" Id="R3c6d4be1d6b84201" /><Relationship Type="http://schemas.openxmlformats.org/officeDocument/2006/relationships/slide" Target="/ppt/slides/slide11.xml" Id="Radd6a97312b64134" /><Relationship Type="http://schemas.openxmlformats.org/officeDocument/2006/relationships/slide" Target="/ppt/slides/slide12.xml" Id="R8f31d099cb3a49c5" /><Relationship Type="http://schemas.openxmlformats.org/officeDocument/2006/relationships/slide" Target="/ppt/slides/slide13.xml" Id="R1cd0a1ce265740ec" /><Relationship Type="http://schemas.openxmlformats.org/officeDocument/2006/relationships/slide" Target="/ppt/slides/slide14.xml" Id="R00879ec0d6534bed" /><Relationship Type="http://schemas.openxmlformats.org/officeDocument/2006/relationships/slide" Target="/ppt/slides/slide15.xml" Id="R82cd0da7fa2e4b22" /><Relationship Type="http://schemas.openxmlformats.org/officeDocument/2006/relationships/slide" Target="/ppt/slides/slide16.xml" Id="R5783176c5ce84e22" /><Relationship Type="http://schemas.openxmlformats.org/officeDocument/2006/relationships/slide" Target="/ppt/slides/slide17.xml" Id="R755923857cdf45b8" /><Relationship Type="http://schemas.openxmlformats.org/officeDocument/2006/relationships/slide" Target="/ppt/slides/slide18.xml" Id="R6cdeee652c524da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eb79e088e243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ProteoGuard — Final Project">
  <a:themeElements>
    <a:clrScheme name="ProteoGuard — Final Project">
      <a:dk1>
        <a:srgbClr val="1A1F2E"/>
      </a:dk1>
      <a:lt1>
        <a:srgbClr val="FBFBF8"/>
      </a:lt1>
      <a:dk2>
        <a:srgbClr val="525661"/>
      </a:dk2>
      <a:lt2>
        <a:srgbClr val="E5E5E4"/>
      </a:lt2>
      <a:accent1>
        <a:srgbClr val="C2410C"/>
      </a:accent1>
      <a:accent2>
        <a:srgbClr val="BFD0F0"/>
      </a:accent2>
      <a:accent3>
        <a:srgbClr val="8FB3FF"/>
      </a:accent3>
      <a:accent4>
        <a:srgbClr val="1F5FE0"/>
      </a:accent4>
      <a:accent5>
        <a:srgbClr val="1D2D52"/>
      </a:accent5>
      <a:accent6>
        <a:srgbClr val="157347"/>
      </a:accent6>
      <a:hlink>
        <a:srgbClr val="0563C1"/>
      </a:hlink>
      <a:folHlink>
        <a:srgbClr val="954F72"/>
      </a:folHlink>
    </a:clrScheme>
    <a:fontScheme name="ProteoGuard — Final Project">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roteoGuard — Final Project">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37d58c7851426a" /><Relationship Type="http://schemas.openxmlformats.org/officeDocument/2006/relationships/notesMaster" Target="/ppt/notesMasters/notesMaster1.xml" Id="Rdaddb0541ad749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e409246aec446a" /><Relationship Type="http://schemas.openxmlformats.org/officeDocument/2006/relationships/notesMaster" Target="/ppt/notesMasters/notesMaster1.xml" Id="Rcf2fb24b122247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344b4b2e2c4953" /><Relationship Type="http://schemas.openxmlformats.org/officeDocument/2006/relationships/notesMaster" Target="/ppt/notesMasters/notesMaster1.xml" Id="Re194a0a5eb2041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780364b4ec5497c" /><Relationship Type="http://schemas.openxmlformats.org/officeDocument/2006/relationships/notesMaster" Target="/ppt/notesMasters/notesMaster1.xml" Id="R0449f59244e14fd3" /></Relationships>
</file>

<file path=ppt/notesSlides/_rels/notesSlide5.xml.rels>&#65279;<?xml version="1.0" encoding="utf-8"?><Relationships xmlns="http://schemas.openxmlformats.org/package/2006/relationships"><Relationship Type="http://schemas.openxmlformats.org/officeDocument/2006/relationships/slide" Target="/ppt/slides/slide5.xml" Id="R7a8ed6d18c744255" /><Relationship Type="http://schemas.openxmlformats.org/officeDocument/2006/relationships/notesMaster" Target="/ppt/notesMasters/notesMaster1.xml" Id="Reeef2e13c2bd4f9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929c8bc20f048b1" /><Relationship Type="http://schemas.openxmlformats.org/officeDocument/2006/relationships/notesMaster" Target="/ppt/notesMasters/notesMaster1.xml" Id="Rf8f3ff933a9d404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880fa9e570046d2" /><Relationship Type="http://schemas.openxmlformats.org/officeDocument/2006/relationships/notesMaster" Target="/ppt/notesMasters/notesMaster1.xml" Id="R3add872165fc45b0"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97c22a81674ed0" /><Relationship Type="http://schemas.openxmlformats.org/officeDocument/2006/relationships/notesMaster" Target="/ppt/notesMasters/notesMaster1.xml" Id="R6cd127de2f8248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4288a0d111d94d3b" /><Relationship Type="http://schemas.openxmlformats.org/officeDocument/2006/relationships/notesMaster" Target="/ppt/notesMasters/notesMaster1.xml" Id="R6c4a4de752f741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a5a4b55f81940ab" /><Relationship Type="http://schemas.openxmlformats.org/officeDocument/2006/relationships/notesMaster" Target="/ppt/notesMasters/notesMaster1.xml" Id="Re4f1feb71f944d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12f219eb534b71" /><Relationship Type="http://schemas.openxmlformats.org/officeDocument/2006/relationships/notesMaster" Target="/ppt/notesMasters/notesMaster1.xml" Id="R1045e547b93a48b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05c952a3cc2436c" /><Relationship Type="http://schemas.openxmlformats.org/officeDocument/2006/relationships/notesMaster" Target="/ppt/notesMasters/notesMaster1.xml" Id="Rd04881448cea4ca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704bd3e46634841" /><Relationship Type="http://schemas.openxmlformats.org/officeDocument/2006/relationships/notesMaster" Target="/ppt/notesMasters/notesMaster1.xml" Id="Rb54bd2c58f644f7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5faa5f9578046f2" /><Relationship Type="http://schemas.openxmlformats.org/officeDocument/2006/relationships/notesMaster" Target="/ppt/notesMasters/notesMaster1.xml" Id="R6a3b6c18312e463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1a875ae5d7c4197" /><Relationship Type="http://schemas.openxmlformats.org/officeDocument/2006/relationships/notesMaster" Target="/ppt/notesMasters/notesMaster1.xml" Id="Rd77f54e195d8403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0a18279eb3b4fae" /><Relationship Type="http://schemas.openxmlformats.org/officeDocument/2006/relationships/notesMaster" Target="/ppt/notesMasters/notesMaster1.xml" Id="R5211c839bfaf4a7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79c4998221d4999" /><Relationship Type="http://schemas.openxmlformats.org/officeDocument/2006/relationships/notesMaster" Target="/ppt/notesMasters/notesMaster1.xml" Id="R8ae34bb778eb4ac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65c472d8c3a494c" /><Relationship Type="http://schemas.openxmlformats.org/officeDocument/2006/relationships/notesMaster" Target="/ppt/notesMasters/notesMaster1.xml" Id="R5986defe41fe4c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seconds. RNA measures gene activity. Surface proteins help researchers characterize immune cells and their activation state. CITE-seq measures RNA and antibody-derived protein tags in the same cells, but many datasets lack the protein measurements. Our question is whether estimates of those missing markers support reliable high or low calls for a participant relative to a reference cohort. We evaluate selected surface markers, not the complete proteome or drug efficacy. Anel Umirbaeva and Nazira Dunbayeva contributed equally overall. The illustration is conceptual. Sources: Gayoso et al. 2021, https://pmc.ncbi.nlm.nih.gov/articles/PMC7954949/ ; supplied ProteoGuard report, 8 October 2026.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This is the broader research landscape, not only the challenges our method addresses. RNA is an imperfect proxy for proteins, and RNA and antibody counts have different noise processes. Missing panels and rare cell states limit the information available for training. Batch adjustment must avoid erasing biological differences. Cost and computational requirements also matter. Our focus is the last two rows: reliability across participants and how a small measured panel helps. We do not solve every type of biological shift, missingness, or measurement error. Sources: totalVI https://pmc.ncbi.nlm.nih.gov/articles/PMC7954949/ ; dsb https://www.nature.com/articles/s41467-022-29356-8 ; sciPENN https://www.nature.com/articles/s42256-022-00545-w ; scVAEIT https://pubmed.ncbi.nlm.nih.gov/36459654/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seconds. totalVI uses an encoder to compress each cell into a shared representation and a decoder to learn RNA and protein distributions. It can infer hidden proteins from available RNA. Other models already support missing features and uncertainty. dsb tackles measured-protein noise. Hierarchical conformal addresses dependence within groups. The contribution here is a controlled evaluation of measured panels, participant calibration and selective immune-marker decisions together. We do not claim that prior work ignored uncertainty or that we invented grouped conformal prediction. References: Gayoso et al., https://pmc.ncbi.nlm.nih.gov/articles/PMC7954949/ ; Lakkis et al., https://www.nature.com/articles/s42256-022-00545-w ; Du et al., https://pubmed.ncbi.nlm.nih.gov/36459654/ ; Mule et al., https://www.nature.com/articles/s41467-022-29356-8 ; Lee, Barber and Willett, https://arxiv.org/abs/2306.06342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Figure is a conceptual illustration of the reported design, not measured heatmap or plot values. Stephenson has 118 participants: 59 training, 20 design, 15 calibration and 20 test in each repeated allocation, plus 4 Sanger participants evaluated separately. COMBAT has 122: 61/20/15/26. Each cohort has 192 ADT channels before target exclusions. Roles refer to protein-label access: held-out RNA remains in fitting, while target protein labels stay masked until evaluation. Training learns the predictor, design chooses anchors and thresholds, calibration sets uncertainty ranges, test estimates generalization in the represented cohort. Calibration people provide known target measurements. Post-hoc correction and measured anchor inputs are alternative routes, not identical model architectures. totalVI latent space applies to totalVI; ridge is a simpler predictor. The scVAEIT comparator has the same allowed anchors. Clinical use and transfer to entirely new sites remain unvalidated. This figure replaces the original study table without changing the study. Generated with the built-in image tool and checked against the supplied report.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totalVI supplies distributions of protein counts, including background; the study uses likelihood-consistent predictive draws including learned efficiency. Ridge gives a simpler point predictor with residual ranges. We evaluate two uses of anchors: direct inputs to ridge and corrections fitted on design-participant errors. Separate calibration participants determine interval adjustment. For marker decisions, we evaluate uncertainty in the marker-positive fraction and call high or low relative to a design-cohort threshold, otherwise abstaining. Cell-level coverage alone does not mathematically guarantee selective marker-call error; that is a separate empirical endpoint. All thresholds and panel choices must precede calibration/test outcome inspection. This is a framework around base predictors, not a new totalVI encoder. Source: supplied ProteoGuard report.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The PCA uses design-participant error offsets, not raw protein profiles. PC1 explains 75.6 percent versus a 9.8 percent permutation reference. The association with ADT depth is rho .83 in the larger held-out set. This motivates low-dimensional corrections but does not prove causality or rule out biology. The calibration rationale is separate: cells from one person share error sources, so thousands of cells do not provide thousands of independent participant examples. We use participant scores for a per-protein marginal coverage statement under exchangeability. The framework and evaluation are our contribution; the underlying conformal rank principle is established prior work. Source: supplied original figure and Lee et al., https://arxiv.org/abs/2306.06342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seconds. These panels answer different questions. The left compares RNA-only ridge with ridge using the measured proteins: RMSE .72 to .54 in Stephenson, .64 to .55 in COMBAT. The right holds the measured-input predictions fixed and changes calibration, from cell-wise 58/55 percent to participant 82/82 percent. Reliability means the share of tested participants attaining at least 90 percent cell coverage, evaluated separately per target protein and summarized. It is not the proportion of correct clinical decisions. The displayed averages do not establish a confidence interval or a universal improvement. The repeated splits reuse people. Source: supplied ProteoGuard final project report, 8 October 2026.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The curve is the original totalVI panel; table ranges span totalVI and ridge from the matched 27 percent analysis. They are not confidence intervals or the updated measured-input comparison in the scVAEIT backup. At a fixed call rate, full ProteoGuard has about 2 percent observed error; correction alone provides much of the benefit. The target is high or low fraction of marker-positive cells relative to the design cohort. These are not clinical cutoffs. The full three-panel source figure with named-marker results is in backup. Some named-marker errors are zero, but finite call counts and uncertainty are needed to interpret them. COMBAT’s low call yield is a major limit.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Our original ambitions included a learned correction and panel-selection advantage, but simple controls explain much of that result. The refined hypothesis is supported for measured inputs and participant reliability. Post-hoc correction is cohort-dependent and does not consistently improve totalVI in COMBAT. Completed 200-epoch scVAEIT runs had RMSE .80–.92 versus ridge .54 under the reported configuration, despite similar calibrated coverage. This does not prove intrinsic superiority of ridge across all tuning budgets. We have no treatment-response or prospective clinical validation. The same participants recur across splits, and calibration/test cells share processing environments. Source: supplied final-project report.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The scientific insight is the separation of information, correction and uncertainty. Measurements supply context, but calibration cannot create missing biological signal. That explains why COMBAT can have acceptable calibration while most calls remain inconclusive. The role of simple controls is substantive: the learned map itself is not the strongest finding. Next, test whether adjustment preserves measured participant differences within cell types, and evaluate an untouched processing pool. Those analyses are proposed, not completed results. Our supported contribution is useful immune-marker inference with explicit limits in these datasets, not a universal five-protein substitute for direct measurement.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seconds. The team requested equal overall contribution credit. This detailed allocation is a proposed division, not an independently verified authorship record; both authors should confirm it reflects their work before submission. Responsibilities span all six rubric components. The two authors jointly own the final conclusions. End the talk here and take questions. Planned main-talk total: approximately seven minutes.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Below 85% is the fraction of participant–protein pairs with cell coverage below 85 percent, a different metric from slide 7. Interval score penalizes width and misses. The learned correction map adds little over simpler corrections; avoid overstating it as the key novelty. Ridge measured inputs had interval score 2.33 and width 1.90, versus shared map 2.77 and 2.19. COMBAT score/width were 2.41/1.83 with measured inputs versus 2.79/2.12 with shared map. HCP, another grouped calibration method, achieved about 95/98 percent participant success with wider intervals and a different guarantee; it is not a failed baseline.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This is a marginal conformal rank statement under participant-block exchangeability. The within-participant quantile uses NumPy method higher, index ceil(gamma*(m-1))+1 with gamma=.9 in the latest implementation. Across n=15 calibration people, k=ceil((n+1)*.8)=13. Use infinity if k exceeds n. The guarantee concerns empirical coverage of the evaluated cell block for each protein separately. Data-dependent design must be frozen without calibration/test outcomes, or the full transductive fitting procedure must treat their roles symmetrically. Pooled held-out RNA in totalVI and RNA SVD means an independent frozen-predictor proof alone does not establish a guarantee for a participant arriving later. Shared processing pools can also limit exchangeability. This statement does not imply a selective-error guarantee for high/low biomarker calls.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scVAEIT is another multimodal imputation model, evaluated with the same observed sentinel panel. The updated report states 200 epochs per split near a loss plateau; no raw training log was attached. Its reported held-out RMSE is 0.80–0.92 versus 0.54 for measured-input ridge. Participant calibration reaches 0.82–0.83, similar to ridge at 0.82, supporting transfer of the calibration approach to another predictor. The 23 percent calls at 3.0 percent error and 35 percent calls at 1.6 percent error are distinct operating points, not a fixed-rate statistical comparison. These updated measured-input figures are separate from the older matched 27 percent comparison on the next slide. Neither seed significance nor intrinsic architecture superiority is established. Reference: Du et al., scVAEIT, PNAS 2022, doi:10.1073/pnas.2214414119.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Left and middle panels show how often evaluated participant–protein pairs achieve at least 90 percent cell coverage, averaged across targets. Orange is cell-wise, purple HCP, blue participant-block. In the matched measured-input ridge comparison the orange to blue values are 58 to 82 percent in Stephenson and 55 to 82 percent in COMBAT. The third panel plots interval score against width. This is not an accuracy percentage. The 13/16 line is an assumption-dependent lower bound, not a per-person promise. HCP targets a different marginal quantity. The figure is retained unchanged; no data points have been reconstructed.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The right panel labels call rates for HLA-DR, CD38, CD69, CD25 and TIGIT. Zero observed errors do not establish zero population risk. Curves and marker bars report different selections and must not be read as a matched-rate architecture comparison.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COMBAT is an independent cohort with 122 participants and ten processing pools, but its two random participant splits reuse people. ADT-depth correlation is 0.63–0.69. Processing-pool association is consistent with a technical component. A nonsignificant disease association does not establish a purely technical mechanism. The reported calibrated biomarker call rate is only 5–9 percent.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References: totalVI https://pmc.ncbi.nlm.nih.gov/articles/PMC7954949/ ; sciPENN https://www.nature.com/articles/s42256-022-00545-w ; scVAEIT https://pubmed.ncbi.nlm.nih.gov/36459654/ ; dsb https://www.nature.com/articles/s41467-022-29356-8 ; hierarchical conformal https://arxiv.org/abs/2306.06342 ; Stephenson https://www.nature.com/articles/s41591-021-01329-2 ; COMBAT data https://doi.org/10.5281/zenodo.6120249 . Source deck: ProteoGuard — Final Project (1).pptx, and report: ProteoGuard final project report.docx, supplied by the user. Figures and result values are not newly recomputed for the presentation. Public project repository: https://github.com/nazirad19/proteoguard . The scVAEIT completion and metrics follow the updated report summary; outdated in-progress wording is superseded.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9566fc5bb854ef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6a8007aa63f4b48"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Title and body">
    <p:bg>
      <p:bgPr>
        <a:solidFill xmlns:a="http://schemas.openxmlformats.org/drawingml/2006/main">
          <a:srgbClr val="FBFBF8"/>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DF53747D-FA47-4E13-A3DE-710D90D912FD}"/>
              </a:ext>
            </a:extLst>
          </p:cNvPr>
          <p:cNvSpPr>
            <a:spLocks xmlns:a="http://schemas.openxmlformats.org/drawingml/2006/main" noGrp="1"/>
          </p:cNvSpPr>
          <p:nvPr>
            <p:ph type="title" idx="0"/>
          </p:nvPr>
        </p:nvSpPr>
        <p:spPr>
          <a:xfrm xmlns:a="http://schemas.openxmlformats.org/drawingml/2006/main">
            <a:off x="812800" y="812800"/>
            <a:ext cx="10566400" cy="50290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600">
                <a:solidFill>
                  <a:srgbClr val="1A1F2E"/>
                </a:solidFill>
                <a:latin typeface="Source Serif 4"/>
                <a:ea typeface="Source Serif 4"/>
                <a:cs typeface="Source Serif 4"/>
              </a:defRPr>
            </a:lvl1pPr>
          </a:lstStyle>
          <a:p xmlns:a="http://schemas.openxmlformats.org/drawingml/2006/main">
            <a:pPr marL="0" indent="0" algn="l">
              <a:lnSpc>
                <a:spcPct val="115000"/>
              </a:lnSpc>
              <a:buNone/>
            </a:pPr>
            <a:endParaRPr sz="3600"/>
          </a:p>
        </p:txBody>
      </p:sp>
      <p:sp>
        <p:nvSpPr>
          <p:cNvPr id="3" name="Text Placeholder 2">
            <a:extLst xmlns:a="http://schemas.openxmlformats.org/drawingml/2006/main">
              <a:ext uri="{FF2B5EF4-FFF2-40B4-BE49-F238E27FC236}">
                <a16:creationId xmlns:a16="http://schemas.microsoft.com/office/drawing/2014/main" id="{F47C4602-E79B-4093-9277-D1C751804E81}"/>
              </a:ext>
            </a:extLst>
          </p:cNvPr>
          <p:cNvSpPr>
            <a:spLocks xmlns:a="http://schemas.openxmlformats.org/drawingml/2006/main" noGrp="1"/>
          </p:cNvSpPr>
          <p:nvPr>
            <p:ph type="body" idx="101"/>
          </p:nvPr>
        </p:nvSpPr>
        <p:spPr>
          <a:xfrm xmlns:a="http://schemas.openxmlformats.org/drawingml/2006/main">
            <a:off x="812800" y="1620507"/>
            <a:ext cx="10566400" cy="442469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1A1F2E"/>
                </a:solidFill>
                <a:latin typeface="IBM Plex Sans"/>
                <a:ea typeface="IBM Plex Sans"/>
                <a:cs typeface="IBM Plex Sans"/>
              </a:defRPr>
            </a:lvl1pPr>
          </a:lstStyle>
          <a:p xmlns:a="http://schemas.openxmlformats.org/drawingml/2006/main">
            <a:pPr marL="0" indent="0" algn="l">
              <a:lnSpc>
                <a:spcPct val="140000"/>
              </a:lnSpc>
              <a:buNone/>
            </a:pPr>
            <a:endParaRPr sz="1600"/>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f151c3573e4140" /><Relationship Type="http://schemas.openxmlformats.org/officeDocument/2006/relationships/slideLayout" Target="/ppt/slideLayouts/slideLayout1.xml" Id="R2e66681730c84644" /><Relationship Type="http://schemas.openxmlformats.org/officeDocument/2006/relationships/slideLayout" Target="/ppt/slideLayouts/slideLayout2.xml" Id="Re913319fc8bd4ee1" /></Relationships>
</file>

<file path=ppt/slideMasters/slideMaster1.xml><?xml version="1.0" encoding="utf-8"?>
<p:sldMaster xmlns:p="http://schemas.openxmlformats.org/presentationml/2006/main">
  <p:cSld>
    <p:bg>
      <p:bgPr>
        <a:solidFill xmlns:a="http://schemas.openxmlformats.org/drawingml/2006/main">
          <a:srgbClr val="FBFBF8"/>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32AB64-3511-4692-BBEC-BA1279BE4FE2}"/>
              </a:ext>
            </a:extLst>
          </p:cNvPr>
          <p:cNvSpPr>
            <a:spLocks xmlns:a="http://schemas.openxmlformats.org/drawingml/2006/main" noGrp="1"/>
          </p:cNvSpPr>
          <p:nvPr>
            <p:ph type="title" idx="0"/>
          </p:nvPr>
        </p:nvSpPr>
        <p:spPr>
          <a:xfrm xmlns:a="http://schemas.openxmlformats.org/drawingml/2006/main">
            <a:off x="812800" y="812800"/>
            <a:ext cx="10566400" cy="50290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600">
                <a:solidFill>
                  <a:srgbClr val="1A1F2E"/>
                </a:solidFill>
                <a:latin typeface="Source Serif 4"/>
                <a:ea typeface="Source Serif 4"/>
                <a:cs typeface="Source Serif 4"/>
              </a:defRPr>
            </a:lvl1pPr>
          </a:lstStyle>
          <a:p xmlns:a="http://schemas.openxmlformats.org/drawingml/2006/main">
            <a:pPr marL="0" indent="0" algn="l">
              <a:lnSpc>
                <a:spcPct val="115000"/>
              </a:lnSpc>
              <a:buNone/>
            </a:pPr>
            <a:endParaRPr sz="3600"/>
          </a:p>
        </p:txBody>
      </p:sp>
      <p:sp>
        <p:nvSpPr>
          <p:cNvPr id="3" name="Text Placeholder 2">
            <a:extLst xmlns:a="http://schemas.openxmlformats.org/drawingml/2006/main">
              <a:ext uri="{FF2B5EF4-FFF2-40B4-BE49-F238E27FC236}">
                <a16:creationId xmlns:a16="http://schemas.microsoft.com/office/drawing/2014/main" id="{F54EA497-3709-4CAB-A92E-97B16F597C5B}"/>
              </a:ext>
            </a:extLst>
          </p:cNvPr>
          <p:cNvSpPr>
            <a:spLocks xmlns:a="http://schemas.openxmlformats.org/drawingml/2006/main" noGrp="1"/>
          </p:cNvSpPr>
          <p:nvPr>
            <p:ph type="body" idx="101"/>
          </p:nvPr>
        </p:nvSpPr>
        <p:spPr>
          <a:xfrm xmlns:a="http://schemas.openxmlformats.org/drawingml/2006/main">
            <a:off x="812800" y="1620507"/>
            <a:ext cx="10566400" cy="4424693"/>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1A1F2E"/>
                </a:solidFill>
                <a:latin typeface="IBM Plex Sans"/>
                <a:ea typeface="IBM Plex Sans"/>
                <a:cs typeface="IBM Plex Sans"/>
              </a:defRPr>
            </a:lvl1pPr>
          </a:lstStyle>
          <a:p xmlns:a="http://schemas.openxmlformats.org/drawingml/2006/main">
            <a:pPr marL="0" indent="0" algn="l">
              <a:lnSpc>
                <a:spcPct val="140000"/>
              </a:lnSpc>
              <a:buNone/>
            </a:pPr>
            <a:endParaRPr sz="16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66681730c84644"/>
    <p:sldLayoutId xmlns:r="http://schemas.openxmlformats.org/officeDocument/2006/relationships" id="2147483650" r:id="Re913319fc8bd4ee1"/>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ProteoGuard — Final Project">
  <a:themeElements>
    <a:clrScheme name="ProteoGuard — Final Project">
      <a:dk1>
        <a:srgbClr val="1A1F2E"/>
      </a:dk1>
      <a:lt1>
        <a:srgbClr val="FBFBF8"/>
      </a:lt1>
      <a:dk2>
        <a:srgbClr val="525661"/>
      </a:dk2>
      <a:lt2>
        <a:srgbClr val="E5E5E4"/>
      </a:lt2>
      <a:accent1>
        <a:srgbClr val="C2410C"/>
      </a:accent1>
      <a:accent2>
        <a:srgbClr val="BFD0F0"/>
      </a:accent2>
      <a:accent3>
        <a:srgbClr val="8FB3FF"/>
      </a:accent3>
      <a:accent4>
        <a:srgbClr val="1F5FE0"/>
      </a:accent4>
      <a:accent5>
        <a:srgbClr val="1D2D52"/>
      </a:accent5>
      <a:accent6>
        <a:srgbClr val="157347"/>
      </a:accent6>
      <a:hlink>
        <a:srgbClr val="0563C1"/>
      </a:hlink>
      <a:folHlink>
        <a:srgbClr val="954F72"/>
      </a:folHlink>
    </a:clrScheme>
    <a:fontScheme name="ProteoGuard — Final Project">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roteoGuard — Final Project">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4a5eecd8f1fa4738" /><Relationship Type="http://schemas.openxmlformats.org/officeDocument/2006/relationships/image" Target="/ppt/media/image.png" Id="Rbbadaacfb8654d93" /><Relationship Type="http://schemas.openxmlformats.org/officeDocument/2006/relationships/notesSlide" Target="/ppt/notesSlides/notesSlide1.xml" Id="R557a670a058648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7ccdd39c7abd4c43" /><Relationship Type="http://schemas.openxmlformats.org/officeDocument/2006/relationships/notesSlide" Target="/ppt/notesSlides/notesSlide2.xml" Id="R9b0cf597cfab41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1b2e144ac5064fc9" /><Relationship Type="http://schemas.openxmlformats.org/officeDocument/2006/relationships/notesSlide" Target="/ppt/notesSlides/notesSlide3.xml" Id="R72f9b935614546a2"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e1c38a4efc3d41ef" /><Relationship Type="http://schemas.openxmlformats.org/officeDocument/2006/relationships/image" Target="/ppt/media/image2.png" Id="R31c601b1a53e474a" /><Relationship Type="http://schemas.openxmlformats.org/officeDocument/2006/relationships/notesSlide" Target="/ppt/notesSlides/notesSlide4.xml" Id="Rf4796486562640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5e8b36a8dba64767" /><Relationship Type="http://schemas.openxmlformats.org/officeDocument/2006/relationships/notesSlide" Target="/ppt/notesSlides/notesSlide5.xml" Id="R8e9d09f19e6341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a262b876fd314185" /><Relationship Type="http://schemas.openxmlformats.org/officeDocument/2006/relationships/image" Target="/ppt/media/image3.png" Id="R7819b628ee0345cc" /><Relationship Type="http://schemas.openxmlformats.org/officeDocument/2006/relationships/notesSlide" Target="/ppt/notesSlides/notesSlide6.xml" Id="R8f45eccc78454740"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0b334ba43238444d" /><Relationship Type="http://schemas.openxmlformats.org/officeDocument/2006/relationships/chart" Target="/ppt/slides/charts/chart1.xml" Id="Rb9e9af4f5686414c" /><Relationship Type="http://schemas.openxmlformats.org/officeDocument/2006/relationships/chart" Target="/ppt/slides/charts/chart2.xml" Id="R5838bfe628f340ef" /><Relationship Type="http://schemas.openxmlformats.org/officeDocument/2006/relationships/notesSlide" Target="/ppt/notesSlides/notesSlide7.xml" Id="Rd182e102b93d47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e89a4d017747420c" /><Relationship Type="http://schemas.openxmlformats.org/officeDocument/2006/relationships/image" Target="/ppt/media/image4.png" Id="R89467dc87a824f26" /><Relationship Type="http://schemas.openxmlformats.org/officeDocument/2006/relationships/notesSlide" Target="/ppt/notesSlides/notesSlide8.xml" Id="R8e10a67257c34b7a"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d9744e7fab4648cf" /><Relationship Type="http://schemas.openxmlformats.org/officeDocument/2006/relationships/notesSlide" Target="/ppt/notesSlides/notesSlide9.xml" Id="Ra219249c644f44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b0e125df387d43d1" /><Relationship Type="http://schemas.openxmlformats.org/officeDocument/2006/relationships/notesSlide" Target="/ppt/notesSlides/notesSlide10.xml" Id="R2abad957f00042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9812a6a48e324c55" /><Relationship Type="http://schemas.openxmlformats.org/officeDocument/2006/relationships/notesSlide" Target="/ppt/notesSlides/notesSlide11.xml" Id="R8278a9f947c046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55aaa4aa6dbc46ff" /><Relationship Type="http://schemas.openxmlformats.org/officeDocument/2006/relationships/notesSlide" Target="/ppt/notesSlides/notesSlide12.xml" Id="R016b8df8b5644e7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0ecf053dae66412e" /><Relationship Type="http://schemas.openxmlformats.org/officeDocument/2006/relationships/notesSlide" Target="/ppt/notesSlides/notesSlide13.xml" Id="R7178bff4422a4d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24646fd8f3da4c41" /><Relationship Type="http://schemas.openxmlformats.org/officeDocument/2006/relationships/notesSlide" Target="/ppt/notesSlides/notesSlide14.xml" Id="R2af53de5ac824d0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383faca821164048" /><Relationship Type="http://schemas.openxmlformats.org/officeDocument/2006/relationships/image" Target="/ppt/media/image5.png" Id="Rb3831bb0fc7d441b" /><Relationship Type="http://schemas.openxmlformats.org/officeDocument/2006/relationships/notesSlide" Target="/ppt/notesSlides/notesSlide15.xml" Id="Rca5516473cf843c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c5f1e150c19a4d1a" /><Relationship Type="http://schemas.openxmlformats.org/officeDocument/2006/relationships/image" Target="/ppt/media/image6.png" Id="Ra9688ed9e55c4bf3" /><Relationship Type="http://schemas.openxmlformats.org/officeDocument/2006/relationships/notesSlide" Target="/ppt/notesSlides/notesSlide16.xml" Id="Re0d394090b2c459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6f7b3520c6054a95" /><Relationship Type="http://schemas.openxmlformats.org/officeDocument/2006/relationships/image" Target="/ppt/media/image7.png" Id="R815bfd39e90e4d6f" /><Relationship Type="http://schemas.openxmlformats.org/officeDocument/2006/relationships/notesSlide" Target="/ppt/notesSlides/notesSlide17.xml" Id="R32ce757a5c5c400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48f2ae4270054675" /><Relationship Type="http://schemas.openxmlformats.org/officeDocument/2006/relationships/notesSlide" Target="/ppt/notesSlides/notesSlide18.xml" Id="Rab59d55fc7134727" /></Relationships>
</file>

<file path=ppt/slides/charts/chart1.xml><?xml version="1.0" encoding="utf-8"?>
<c:chartSpace xmlns:c="http://schemas.openxmlformats.org/drawingml/2006/chart">
  <c:lang val="en-US"/>
  <c:chart>
    <c:plotArea>
      <c:barChart>
        <c:barDir val="col"/>
        <c:grouping val="clustered"/>
        <c:varyColors val="0"/>
        <c:ser>
          <c:idx val="0"/>
          <c:order val="0"/>
          <c:tx>
            <c:v>RNA only</c:v>
          </c:tx>
          <c:spPr>
            <a:solidFill xmlns:a="http://schemas.openxmlformats.org/drawingml/2006/main">
              <a:srgbClr val="D64B00"/>
            </a:solidFill>
          </c:spPr>
          <c:invertIfNegative val="0"/>
          <c:cat>
            <c:strLit>
              <c:ptCount val="2"/>
              <c:pt idx="0">
                <c:v>Stephenson</c:v>
              </c:pt>
              <c:pt idx="1">
                <c:v>COMBAT</c:v>
              </c:pt>
            </c:strLit>
          </c:cat>
          <c:val>
            <c:numLit>
              <c:formatCode>0.00</c:formatCode>
              <c:ptCount val="2"/>
              <c:pt idx="0">
                <c:v>0.72</c:v>
              </c:pt>
              <c:pt idx="1">
                <c:v>0.64</c:v>
              </c:pt>
            </c:numLit>
          </c:val>
        </c:ser>
        <c:ser>
          <c:idx val="1"/>
          <c:order val="1"/>
          <c:tx>
            <c:v>RNA + 5 proteins</c:v>
          </c:tx>
          <c:spPr>
            <a:solidFill xmlns:a="http://schemas.openxmlformats.org/drawingml/2006/main">
              <a:srgbClr val="245EFF"/>
            </a:solidFill>
          </c:spPr>
          <c:invertIfNegative val="0"/>
          <c:cat>
            <c:strLit>
              <c:ptCount val="2"/>
              <c:pt idx="0">
                <c:v>Stephenson</c:v>
              </c:pt>
              <c:pt idx="1">
                <c:v>COMBAT</c:v>
              </c:pt>
            </c:strLit>
          </c:cat>
          <c:val>
            <c:numLit>
              <c:formatCode>0.00</c:formatCode>
              <c:ptCount val="2"/>
              <c:pt idx="0">
                <c:v>0.54</c:v>
              </c:pt>
              <c:pt idx="1">
                <c:v>0.55</c:v>
              </c:pt>
            </c:numLit>
          </c:val>
        </c:ser>
        <c:dLbls>
          <c:txPr>
            <a:bodyPr xmlns:a="http://schemas.openxmlformats.org/drawingml/2006/main" anchorCtr="1"/>
            <a:lstStyle xmlns:a="http://schemas.openxmlformats.org/drawingml/2006/main"/>
            <a:p xmlns:a="http://schemas.openxmlformats.org/drawingml/2006/main">
              <a:pPr>
                <a:defRPr sz="1725">
                  <a:latin typeface="IBM Plex Sans"/>
                  <a:ea typeface="IBM Plex Sans"/>
                  <a:cs typeface="IBM Plex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IBM Plex Sans"/>
                <a:ea typeface="IBM Plex Sans"/>
                <a:cs typeface="IBM Plex Sans"/>
              </a:defRPr>
            </a:pPr>
          </a:p>
        </c:txPr>
        <c:crossAx val="48672768"/>
      </c:catAx>
      <c:valAx>
        <c:axId val="48672768"/>
        <c:scaling>
          <c:orientation val="minMax"/>
          <c:max val="1"/>
          <c:min val="0"/>
        </c:scaling>
        <c:delete val="0"/>
        <c:axPos val="l"/>
        <c:majorGridlines>
          <c:spPr>
            <a:ln xmlns:a="http://schemas.openxmlformats.org/drawingml/2006/main" w="9525">
              <a:solidFill>
                <a:srgbClr val="D8DFEA"/>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IBM Plex Sans"/>
                <a:ea typeface="IBM Plex Sans"/>
                <a:cs typeface="IBM Plex Sans"/>
              </a:defRPr>
            </a:pPr>
          </a:p>
        </c:txPr>
        <c:crossAx val="48650112"/>
        <c:crossBetween val="between"/>
        <c:majorUnit val="0.2"/>
      </c:valAx>
      <c:spPr>
        <a:solidFill xmlns:a="http://schemas.openxmlformats.org/drawingml/2006/main">
          <a:srgbClr val="FAFAF8"/>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latin typeface="IBM Plex Sans"/>
              <a:ea typeface="IBM Plex Sans"/>
              <a:cs typeface="IBM Plex Sans"/>
            </a:defRPr>
          </a:pPr>
        </a:p>
      </c:txPr>
    </c:legend>
    <c:plotVisOnly val="1"/>
  </c:chart>
  <c:spPr>
    <a:solidFill xmlns:a="http://schemas.openxmlformats.org/drawingml/2006/main">
      <a:srgbClr val="FAFAF8"/>
    </a:solidFill>
  </c:spPr>
</c:chartSpace>
</file>

<file path=ppt/slides/charts/chart2.xml><?xml version="1.0" encoding="utf-8"?>
<c:chartSpace xmlns:c="http://schemas.openxmlformats.org/drawingml/2006/chart">
  <c:lang val="en-US"/>
  <c:chart>
    <c:plotArea>
      <c:barChart>
        <c:barDir val="col"/>
        <c:grouping val="clustered"/>
        <c:varyColors val="0"/>
        <c:ser>
          <c:idx val="0"/>
          <c:order val="0"/>
          <c:tx>
            <c:v>Cell-wise</c:v>
          </c:tx>
          <c:spPr>
            <a:solidFill xmlns:a="http://schemas.openxmlformats.org/drawingml/2006/main">
              <a:srgbClr val="D64B00"/>
            </a:solidFill>
          </c:spPr>
          <c:invertIfNegative val="0"/>
          <c:dLbls>
            <c:dLbl>
              <c:idx val="0"/>
              <c:tx>
                <c:rich>
                  <a:bodyPr xmlns:a="http://schemas.openxmlformats.org/drawingml/2006/main"/>
                  <a:lstStyle xmlns:a="http://schemas.openxmlformats.org/drawingml/2006/main"/>
                  <a:p xmlns:a="http://schemas.openxmlformats.org/drawingml/2006/main">
                    <a:r>
                      <a:rPr/>
                      <a:t>58%</a:t>
                    </a:r>
                  </a:p>
                </c:rich>
              </c:tx>
            </c:dLbl>
            <c:dLbl>
              <c:idx val="1"/>
              <c:tx>
                <c:rich>
                  <a:bodyPr xmlns:a="http://schemas.openxmlformats.org/drawingml/2006/main"/>
                  <a:lstStyle xmlns:a="http://schemas.openxmlformats.org/drawingml/2006/main"/>
                  <a:p xmlns:a="http://schemas.openxmlformats.org/drawingml/2006/main">
                    <a:r>
                      <a:rPr/>
                      <a:t>55%</a:t>
                    </a:r>
                  </a:p>
                </c:rich>
              </c:tx>
            </c:dLbl>
          </c:dLbls>
          <c:cat>
            <c:strLit>
              <c:ptCount val="2"/>
              <c:pt idx="0">
                <c:v>Stephenson</c:v>
              </c:pt>
              <c:pt idx="1">
                <c:v>COMBAT</c:v>
              </c:pt>
            </c:strLit>
          </c:cat>
          <c:val>
            <c:numLit>
              <c:formatCode>0%</c:formatCode>
              <c:ptCount val="2"/>
              <c:pt idx="0">
                <c:v>0.58</c:v>
              </c:pt>
              <c:pt idx="1">
                <c:v>0.55</c:v>
              </c:pt>
            </c:numLit>
          </c:val>
        </c:ser>
        <c:ser>
          <c:idx val="1"/>
          <c:order val="1"/>
          <c:tx>
            <c:v>Participant</c:v>
          </c:tx>
          <c:spPr>
            <a:solidFill xmlns:a="http://schemas.openxmlformats.org/drawingml/2006/main">
              <a:srgbClr val="245EFF"/>
            </a:solidFill>
          </c:spPr>
          <c:invertIfNegative val="0"/>
          <c:dLbls>
            <c:dLbl>
              <c:idx val="0"/>
              <c:tx>
                <c:rich>
                  <a:bodyPr xmlns:a="http://schemas.openxmlformats.org/drawingml/2006/main"/>
                  <a:lstStyle xmlns:a="http://schemas.openxmlformats.org/drawingml/2006/main"/>
                  <a:p xmlns:a="http://schemas.openxmlformats.org/drawingml/2006/main">
                    <a:r>
                      <a:rPr/>
                      <a:t>82%</a:t>
                    </a:r>
                  </a:p>
                </c:rich>
              </c:tx>
            </c:dLbl>
            <c:dLbl>
              <c:idx val="1"/>
              <c:tx>
                <c:rich>
                  <a:bodyPr xmlns:a="http://schemas.openxmlformats.org/drawingml/2006/main"/>
                  <a:lstStyle xmlns:a="http://schemas.openxmlformats.org/drawingml/2006/main"/>
                  <a:p xmlns:a="http://schemas.openxmlformats.org/drawingml/2006/main">
                    <a:r>
                      <a:rPr/>
                      <a:t>82%</a:t>
                    </a:r>
                  </a:p>
                </c:rich>
              </c:tx>
            </c:dLbl>
          </c:dLbls>
          <c:cat>
            <c:strLit>
              <c:ptCount val="2"/>
              <c:pt idx="0">
                <c:v>Stephenson</c:v>
              </c:pt>
              <c:pt idx="1">
                <c:v>COMBAT</c:v>
              </c:pt>
            </c:strLit>
          </c:cat>
          <c:val>
            <c:numLit>
              <c:formatCode>0%</c:formatCode>
              <c:ptCount val="2"/>
              <c:pt idx="0">
                <c:v>0.82</c:v>
              </c:pt>
              <c:pt idx="1">
                <c:v>0.82</c:v>
              </c:pt>
            </c:numLit>
          </c:val>
        </c:ser>
        <c:dLbls>
          <c:txPr>
            <a:bodyPr xmlns:a="http://schemas.openxmlformats.org/drawingml/2006/main" anchorCtr="1"/>
            <a:lstStyle xmlns:a="http://schemas.openxmlformats.org/drawingml/2006/main"/>
            <a:p xmlns:a="http://schemas.openxmlformats.org/drawingml/2006/main">
              <a:pPr>
                <a:defRPr sz="1725">
                  <a:latin typeface="IBM Plex Sans"/>
                  <a:ea typeface="IBM Plex Sans"/>
                  <a:cs typeface="IBM Plex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IBM Plex Sans"/>
                <a:ea typeface="IBM Plex Sans"/>
                <a:cs typeface="IBM Plex Sans"/>
              </a:defRPr>
            </a:pPr>
          </a:p>
        </c:txPr>
        <c:crossAx val="48672768"/>
      </c:catAx>
      <c:valAx>
        <c:axId val="48672768"/>
        <c:scaling>
          <c:orientation val="minMax"/>
          <c:max val="1"/>
          <c:min val="0"/>
        </c:scaling>
        <c:delete val="0"/>
        <c:axPos val="l"/>
        <c:majorGridlines>
          <c:spPr>
            <a:ln xmlns:a="http://schemas.openxmlformats.org/drawingml/2006/main" w="9525">
              <a:solidFill>
                <a:srgbClr val="D8DFEA"/>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IBM Plex Sans"/>
                <a:ea typeface="IBM Plex Sans"/>
                <a:cs typeface="IBM Plex Sans"/>
              </a:defRPr>
            </a:pPr>
          </a:p>
        </c:txPr>
        <c:crossAx val="48650112"/>
        <c:crossBetween val="between"/>
        <c:majorUnit val="0.2"/>
      </c:valAx>
      <c:spPr>
        <a:solidFill xmlns:a="http://schemas.openxmlformats.org/drawingml/2006/main">
          <a:srgbClr val="FAFAF8"/>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latin typeface="IBM Plex Sans"/>
              <a:ea typeface="IBM Plex Sans"/>
              <a:cs typeface="IBM Plex Sans"/>
            </a:defRPr>
          </a:pPr>
        </a:p>
      </c:txPr>
    </c:legend>
    <c:plotVisOnly val="1"/>
  </c:chart>
  <c:spPr>
    <a:solidFill xmlns:a="http://schemas.openxmlformats.org/drawingml/2006/main">
      <a:srgbClr val="FAFAF8"/>
    </a:solidFill>
  </c:spPr>
</c:chartSpace>
</file>

<file path=ppt/slides/slide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ProteoGuard">
            <a:extLst xmlns:a="http://schemas.openxmlformats.org/drawingml/2006/main">
              <a:ext uri="{FF2B5EF4-FFF2-40B4-BE49-F238E27FC236}">
                <a16:creationId xmlns:a16="http://schemas.microsoft.com/office/drawing/2014/main" id="{23264BBC-D296-45DA-9AD2-E837D2CCC8B6}"/>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ProteoGuard</a:t>
            </a:r>
          </a:p>
        </p:txBody>
      </p:sp>
      <p:sp>
        <p:nvSpPr>
          <p:cNvPr id="2" name="">
            <a:extLst xmlns:a="http://schemas.openxmlformats.org/drawingml/2006/main">
              <a:ext uri="{FF2B5EF4-FFF2-40B4-BE49-F238E27FC236}">
                <a16:creationId xmlns:a16="http://schemas.microsoft.com/office/drawing/2014/main" id="{DCF64E2A-25EE-42AB-BC3C-952A1EF6B483}"/>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Reliable immune-marker inference&#10;with a small measured protein p">
            <a:extLst xmlns:a="http://schemas.openxmlformats.org/drawingml/2006/main">
              <a:ext uri="{FF2B5EF4-FFF2-40B4-BE49-F238E27FC236}">
                <a16:creationId xmlns:a16="http://schemas.microsoft.com/office/drawing/2014/main" id="{05A651C4-49A7-4170-9DC5-0AC12B1DB857}"/>
              </a:ext>
            </a:extLst>
          </p:cNvPr>
          <p:cNvSpPr>
            <a:spLocks xmlns:a="http://schemas.openxmlformats.org/drawingml/2006/main" noGrp="1"/>
          </p:cNvSpPr>
          <p:nvPr/>
        </p:nvSpPr>
        <p:spPr>
          <a:xfrm xmlns:a="http://schemas.openxmlformats.org/drawingml/2006/main">
            <a:off x="685800" y="1543050"/>
            <a:ext cx="723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225" b="1">
                <a:solidFill>
                  <a:srgbClr val="14213D"/>
                </a:solidFill>
                <a:latin typeface="IBM Plex Sans"/>
                <a:ea typeface="IBM Plex Sans"/>
                <a:cs typeface="IBM Plex Sans"/>
              </a:defRPr>
            </a:defPPr>
          </a:lstStyle>
          <a:p xmlns:a="http://schemas.openxmlformats.org/drawingml/2006/main">
            <a:pPr algn="l">
              <a:defRPr sz="3225" b="1">
                <a:solidFill>
                  <a:srgbClr val="14213D"/>
                </a:solidFill>
                <a:latin typeface="IBM Plex Sans"/>
                <a:ea typeface="IBM Plex Sans"/>
                <a:cs typeface="IBM Plex Sans"/>
              </a:defRPr>
            </a:pPr>
            <a:r>
              <a:rPr sz="3225" b="1">
                <a:solidFill>
                  <a:srgbClr val="14213D"/>
                </a:solidFill>
                <a:latin typeface="IBM Plex Sans"/>
                <a:ea typeface="IBM Plex Sans"/>
                <a:cs typeface="IBM Plex Sans"/>
              </a:rPr>
              <a:t>Reliable immune-marker inference</a:t>
            </a:r>
          </a:p>
          <a:p xmlns:a="http://schemas.openxmlformats.org/drawingml/2006/main">
            <a:pPr algn="l">
              <a:defRPr sz="3225" b="1">
                <a:solidFill>
                  <a:srgbClr val="14213D"/>
                </a:solidFill>
                <a:latin typeface="IBM Plex Sans"/>
                <a:ea typeface="IBM Plex Sans"/>
                <a:cs typeface="IBM Plex Sans"/>
              </a:defRPr>
            </a:pPr>
            <a:r>
              <a:rPr sz="3225" b="1">
                <a:solidFill>
                  <a:srgbClr val="14213D"/>
                </a:solidFill>
                <a:latin typeface="IBM Plex Sans"/>
                <a:ea typeface="IBM Plex Sans"/>
                <a:cs typeface="IBM Plex Sans"/>
              </a:rPr>
              <a:t>with a small measured protein panel</a:t>
            </a:r>
          </a:p>
        </p:txBody>
      </p:sp>
      <p:sp>
        <p:nvSpPr>
          <p:cNvPr id="4" name="Anel Umirbaeva and Nazira Dunbayeva">
            <a:extLst xmlns:a="http://schemas.openxmlformats.org/drawingml/2006/main">
              <a:ext uri="{FF2B5EF4-FFF2-40B4-BE49-F238E27FC236}">
                <a16:creationId xmlns:a16="http://schemas.microsoft.com/office/drawing/2014/main" id="{E14D25BA-8A9C-4C36-BA0B-F166561B9823}"/>
              </a:ext>
            </a:extLst>
          </p:cNvPr>
          <p:cNvSpPr>
            <a:spLocks xmlns:a="http://schemas.openxmlformats.org/drawingml/2006/main" noGrp="1"/>
          </p:cNvSpPr>
          <p:nvPr/>
        </p:nvSpPr>
        <p:spPr>
          <a:xfrm xmlns:a="http://schemas.openxmlformats.org/drawingml/2006/main">
            <a:off x="723900" y="30670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245EFF"/>
                </a:solidFill>
                <a:latin typeface="IBM Plex Sans"/>
                <a:ea typeface="IBM Plex Sans"/>
                <a:cs typeface="IBM Plex Sans"/>
              </a:defRPr>
            </a:defPPr>
          </a:lstStyle>
          <a:p xmlns:a="http://schemas.openxmlformats.org/drawingml/2006/main">
            <a:pPr algn="l">
              <a:defRPr sz="2025" b="1">
                <a:solidFill>
                  <a:srgbClr val="245EFF"/>
                </a:solidFill>
                <a:latin typeface="IBM Plex Sans"/>
                <a:ea typeface="IBM Plex Sans"/>
                <a:cs typeface="IBM Plex Sans"/>
              </a:defRPr>
            </a:pPr>
            <a:r>
              <a:rPr sz="2025" b="1">
                <a:solidFill>
                  <a:srgbClr val="245EFF"/>
                </a:solidFill>
                <a:latin typeface="IBM Plex Sans"/>
                <a:ea typeface="IBM Plex Sans"/>
                <a:cs typeface="IBM Plex Sans"/>
              </a:rPr>
              <a:t>Anel Umirbaeva and Nazira Dunbayeva</a:t>
            </a:r>
          </a:p>
        </p:txBody>
      </p:sp>
      <p:sp>
        <p:nvSpPr>
          <p:cNvPr id="5" name="BIOLOGICAL QUESTION">
            <a:extLst xmlns:a="http://schemas.openxmlformats.org/drawingml/2006/main">
              <a:ext uri="{FF2B5EF4-FFF2-40B4-BE49-F238E27FC236}">
                <a16:creationId xmlns:a16="http://schemas.microsoft.com/office/drawing/2014/main" id="{6710F863-E1B9-4093-8975-DE57E2218E01}"/>
              </a:ext>
            </a:extLst>
          </p:cNvPr>
          <p:cNvSpPr>
            <a:spLocks xmlns:a="http://schemas.openxmlformats.org/drawingml/2006/main" noGrp="1"/>
          </p:cNvSpPr>
          <p:nvPr/>
        </p:nvSpPr>
        <p:spPr>
          <a:xfrm xmlns:a="http://schemas.openxmlformats.org/drawingml/2006/main">
            <a:off x="723900" y="3867150"/>
            <a:ext cx="600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425" b="1">
                <a:solidFill>
                  <a:srgbClr val="245EFF"/>
                </a:solidFill>
                <a:latin typeface="IBM Plex Sans"/>
                <a:ea typeface="IBM Plex Sans"/>
                <a:cs typeface="IBM Plex Sans"/>
              </a:defRPr>
            </a:defPPr>
          </a:lstStyle>
          <a:p xmlns:a="http://schemas.openxmlformats.org/drawingml/2006/main">
            <a:pPr algn="l">
              <a:defRPr sz="1425" b="1">
                <a:solidFill>
                  <a:srgbClr val="245EFF"/>
                </a:solidFill>
                <a:latin typeface="IBM Plex Sans"/>
                <a:ea typeface="IBM Plex Sans"/>
                <a:cs typeface="IBM Plex Sans"/>
              </a:defRPr>
            </a:pPr>
            <a:r>
              <a:rPr sz="1425" b="1">
                <a:solidFill>
                  <a:srgbClr val="245EFF"/>
                </a:solidFill>
                <a:latin typeface="IBM Plex Sans"/>
                <a:ea typeface="IBM Plex Sans"/>
                <a:cs typeface="IBM Plex Sans"/>
              </a:rPr>
              <a:t>BIOLOGICAL QUESTION</a:t>
            </a:r>
          </a:p>
        </p:txBody>
      </p:sp>
      <p:sp>
        <p:nvSpPr>
          <p:cNvPr id="6" name="Can we identify participants with a high or low share of marker-">
            <a:extLst xmlns:a="http://schemas.openxmlformats.org/drawingml/2006/main">
              <a:ext uri="{FF2B5EF4-FFF2-40B4-BE49-F238E27FC236}">
                <a16:creationId xmlns:a16="http://schemas.microsoft.com/office/drawing/2014/main" id="{52C964A1-3549-4A22-A9B3-517DBE289F52}"/>
              </a:ext>
            </a:extLst>
          </p:cNvPr>
          <p:cNvSpPr>
            <a:spLocks xmlns:a="http://schemas.openxmlformats.org/drawingml/2006/main" noGrp="1"/>
          </p:cNvSpPr>
          <p:nvPr/>
        </p:nvSpPr>
        <p:spPr>
          <a:xfrm xmlns:a="http://schemas.openxmlformats.org/drawingml/2006/main">
            <a:off x="723900" y="4333875"/>
            <a:ext cx="66103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0">
                <a:solidFill>
                  <a:srgbClr val="1D2433"/>
                </a:solidFill>
                <a:latin typeface="IBM Plex Sans"/>
                <a:ea typeface="IBM Plex Sans"/>
                <a:cs typeface="IBM Plex Sans"/>
              </a:defRPr>
            </a:defPPr>
          </a:lstStyle>
          <a:p xmlns:a="http://schemas.openxmlformats.org/drawingml/2006/main">
            <a:pPr algn="l">
              <a:defRPr sz="2250" b="0">
                <a:solidFill>
                  <a:srgbClr val="1D2433"/>
                </a:solidFill>
                <a:latin typeface="IBM Plex Sans"/>
                <a:ea typeface="IBM Plex Sans"/>
                <a:cs typeface="IBM Plex Sans"/>
              </a:defRPr>
            </a:pPr>
            <a:r>
              <a:rPr sz="2250" b="0">
                <a:solidFill>
                  <a:srgbClr val="1D2433"/>
                </a:solidFill>
                <a:latin typeface="IBM Plex Sans"/>
                <a:ea typeface="IBM Plex Sans"/>
                <a:cs typeface="IBM Plex Sans"/>
              </a:rPr>
              <a:t>Can we identify participants with a high or low share of marker-positive immune cells when most proteins are missing?</a:t>
            </a:r>
          </a:p>
        </p:txBody>
      </p:sp>
      <p:pic>
        <p:nvPicPr>
          <p:cNvPr id="7" name="">
            <a:extLst xmlns:a="http://schemas.openxmlformats.org/drawingml/2006/main">
              <a:ext uri="{FF2B5EF4-FFF2-40B4-BE49-F238E27FC236}">
                <a16:creationId xmlns:a16="http://schemas.microsoft.com/office/drawing/2014/main" id="{C240C19A-A866-4B71-A282-5FC14E7074F3}"/>
              </a:ext>
            </a:extLst>
          </p:cNvPr>
          <p:cNvPicPr>
            <a:picLocks xmlns:a="http://schemas.openxmlformats.org/drawingml/2006/main" noChangeAspect="1"/>
          </p:cNvPicPr>
          <p:nvPr/>
        </p:nvPicPr>
        <p:blipFill>
          <a:blip xmlns:r="http://schemas.openxmlformats.org/officeDocument/2006/relationships" xmlns:a="http://schemas.openxmlformats.org/drawingml/2006/main" r:embed="Rbbadaacfb8654d93"/>
          <a:stretch xmlns:a="http://schemas.openxmlformats.org/drawingml/2006/main"/>
        </p:blipFill>
        <p:spPr>
          <a:xfrm xmlns:a="http://schemas.openxmlformats.org/drawingml/2006/main">
            <a:off x="7972425" y="3667125"/>
            <a:ext cx="3257550" cy="2171700"/>
          </a:xfrm>
          <a:prstGeom xmlns:a="http://schemas.openxmlformats.org/drawingml/2006/main" prst="rect">
            <a:avLst/>
          </a:prstGeom>
        </p:spPr>
      </p:pic>
      <p:sp>
        <p:nvSpPr>
          <p:cNvPr id="8" name="1  Problem definition     Immunophenotyping supports biomarker r">
            <a:extLst xmlns:a="http://schemas.openxmlformats.org/drawingml/2006/main">
              <a:ext uri="{FF2B5EF4-FFF2-40B4-BE49-F238E27FC236}">
                <a16:creationId xmlns:a16="http://schemas.microsoft.com/office/drawing/2014/main" id="{DCBD5C72-F319-4A26-982A-5B87AC8DBF59}"/>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1  Problem definition     Immunophenotyping supports biomarker research. Clinical decisions require separate validation.</a:t>
            </a:r>
          </a:p>
        </p:txBody>
      </p:sp>
      <p:sp>
        <p:nvSpPr>
          <p:cNvPr id="9" name="1 / 11">
            <a:extLst xmlns:a="http://schemas.openxmlformats.org/drawingml/2006/main">
              <a:ext uri="{FF2B5EF4-FFF2-40B4-BE49-F238E27FC236}">
                <a16:creationId xmlns:a16="http://schemas.microsoft.com/office/drawing/2014/main" id="{29F17738-6061-4695-BE82-3DD0CFA4E266}"/>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1 / 11</a:t>
            </a:r>
          </a:p>
        </p:txBody>
      </p:sp>
    </p:spTree>
    <p:extLst>
      <p:ext uri="{BB962C8B-B14F-4D97-AF65-F5344CB8AC3E}">
        <p14:creationId xmlns:p14="http://schemas.microsoft.com/office/powerpoint/2010/main" val="18725737"/>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Challenges in RNA-based protein inference">
            <a:extLst xmlns:a="http://schemas.openxmlformats.org/drawingml/2006/main">
              <a:ext uri="{FF2B5EF4-FFF2-40B4-BE49-F238E27FC236}">
                <a16:creationId xmlns:a16="http://schemas.microsoft.com/office/drawing/2014/main" id="{FEE9D83A-18B4-4895-AD8E-BD520A996A87}"/>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Challenges in RNA-based protein inference</a:t>
            </a:r>
          </a:p>
        </p:txBody>
      </p:sp>
      <p:sp>
        <p:nvSpPr>
          <p:cNvPr id="2" name="">
            <a:extLst xmlns:a="http://schemas.openxmlformats.org/drawingml/2006/main">
              <a:ext uri="{FF2B5EF4-FFF2-40B4-BE49-F238E27FC236}">
                <a16:creationId xmlns:a16="http://schemas.microsoft.com/office/drawing/2014/main" id="{F48D0105-34AE-44A9-B52D-5310419AB568}"/>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Biological mismatch">
            <a:extLst xmlns:a="http://schemas.openxmlformats.org/drawingml/2006/main">
              <a:ext uri="{FF2B5EF4-FFF2-40B4-BE49-F238E27FC236}">
                <a16:creationId xmlns:a16="http://schemas.microsoft.com/office/drawing/2014/main" id="{F7AC8B22-9F0C-44C7-AC1B-CF7BA9141521}"/>
              </a:ext>
            </a:extLst>
          </p:cNvPr>
          <p:cNvSpPr>
            <a:spLocks xmlns:a="http://schemas.openxmlformats.org/drawingml/2006/main" noGrp="1"/>
          </p:cNvSpPr>
          <p:nvPr/>
        </p:nvSpPr>
        <p:spPr>
          <a:xfrm xmlns:a="http://schemas.openxmlformats.org/drawingml/2006/main">
            <a:off x="723900" y="1619250"/>
            <a:ext cx="3000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1D2433"/>
                </a:solidFill>
                <a:latin typeface="IBM Plex Sans"/>
                <a:ea typeface="IBM Plex Sans"/>
                <a:cs typeface="IBM Plex Sans"/>
              </a:defRPr>
            </a:defPPr>
          </a:lstStyle>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Biological mismatch</a:t>
            </a:r>
          </a:p>
        </p:txBody>
      </p:sp>
      <p:sp>
        <p:nvSpPr>
          <p:cNvPr id="4" name="RNA and surface protein levels can disagree across cell states.">
            <a:extLst xmlns:a="http://schemas.openxmlformats.org/drawingml/2006/main">
              <a:ext uri="{FF2B5EF4-FFF2-40B4-BE49-F238E27FC236}">
                <a16:creationId xmlns:a16="http://schemas.microsoft.com/office/drawing/2014/main" id="{7A7B10E3-ECCD-4F63-BB38-2B39B8D6DE9A}"/>
              </a:ext>
            </a:extLst>
          </p:cNvPr>
          <p:cNvSpPr>
            <a:spLocks xmlns:a="http://schemas.openxmlformats.org/drawingml/2006/main" noGrp="1"/>
          </p:cNvSpPr>
          <p:nvPr/>
        </p:nvSpPr>
        <p:spPr>
          <a:xfrm xmlns:a="http://schemas.openxmlformats.org/drawingml/2006/main">
            <a:off x="3876675" y="1619250"/>
            <a:ext cx="7524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D2433"/>
                </a:solidFill>
                <a:latin typeface="IBM Plex Sans"/>
                <a:ea typeface="IBM Plex Sans"/>
                <a:cs typeface="IBM Plex Sans"/>
              </a:defRPr>
            </a:defPPr>
          </a:lstStyle>
          <a:p xmlns:a="http://schemas.openxmlformats.org/drawingml/2006/main">
            <a:pPr algn="l">
              <a:defRPr sz="1950" b="0">
                <a:solidFill>
                  <a:srgbClr val="1D2433"/>
                </a:solidFill>
                <a:latin typeface="IBM Plex Sans"/>
                <a:ea typeface="IBM Plex Sans"/>
                <a:cs typeface="IBM Plex Sans"/>
              </a:defRPr>
            </a:pPr>
            <a:r>
              <a:rPr sz="1950" b="0">
                <a:solidFill>
                  <a:srgbClr val="1D2433"/>
                </a:solidFill>
                <a:latin typeface="IBM Plex Sans"/>
                <a:ea typeface="IBM Plex Sans"/>
                <a:cs typeface="IBM Plex Sans"/>
              </a:rPr>
              <a:t>RNA and surface protein levels can disagree across cell states.</a:t>
            </a:r>
          </a:p>
        </p:txBody>
      </p:sp>
      <p:sp>
        <p:nvSpPr>
          <p:cNvPr id="5" name="">
            <a:extLst xmlns:a="http://schemas.openxmlformats.org/drawingml/2006/main">
              <a:ext uri="{FF2B5EF4-FFF2-40B4-BE49-F238E27FC236}">
                <a16:creationId xmlns:a16="http://schemas.microsoft.com/office/drawing/2014/main" id="{AF9FBA33-748B-422C-A029-13D4DDBAD04A}"/>
              </a:ext>
            </a:extLst>
          </p:cNvPr>
          <p:cNvSpPr>
            <a:spLocks xmlns:a="http://schemas.openxmlformats.org/drawingml/2006/main" noGrp="1"/>
          </p:cNvSpPr>
          <p:nvPr/>
        </p:nvSpPr>
        <p:spPr>
          <a:xfrm xmlns:a="http://schemas.openxmlformats.org/drawingml/2006/main">
            <a:off x="723900" y="2305050"/>
            <a:ext cx="10725150" cy="9525"/>
          </a:xfrm>
          <a:prstGeom xmlns:a="http://schemas.openxmlformats.org/drawingml/2006/main" prst="rect">
            <a:avLst/>
          </a:prstGeom>
          <a:solidFill xmlns:a="http://schemas.openxmlformats.org/drawingml/2006/main">
            <a:srgbClr val="D8DFEA"/>
          </a:solidFill>
          <a:ln xmlns:a="http://schemas.openxmlformats.org/drawingml/2006/main" w="0">
            <a:noFill/>
          </a:ln>
        </p:spPr>
      </p:sp>
      <p:sp>
        <p:nvSpPr>
          <p:cNvPr id="6" name="Measurement noise">
            <a:extLst xmlns:a="http://schemas.openxmlformats.org/drawingml/2006/main">
              <a:ext uri="{FF2B5EF4-FFF2-40B4-BE49-F238E27FC236}">
                <a16:creationId xmlns:a16="http://schemas.microsoft.com/office/drawing/2014/main" id="{363AC3DE-0D41-4889-A8D3-C7095B348C2B}"/>
              </a:ext>
            </a:extLst>
          </p:cNvPr>
          <p:cNvSpPr>
            <a:spLocks xmlns:a="http://schemas.openxmlformats.org/drawingml/2006/main" noGrp="1"/>
          </p:cNvSpPr>
          <p:nvPr/>
        </p:nvSpPr>
        <p:spPr>
          <a:xfrm xmlns:a="http://schemas.openxmlformats.org/drawingml/2006/main">
            <a:off x="723900" y="2438400"/>
            <a:ext cx="3000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1D2433"/>
                </a:solidFill>
                <a:latin typeface="IBM Plex Sans"/>
                <a:ea typeface="IBM Plex Sans"/>
                <a:cs typeface="IBM Plex Sans"/>
              </a:defRPr>
            </a:defPPr>
          </a:lstStyle>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Measurement noise</a:t>
            </a:r>
          </a:p>
        </p:txBody>
      </p:sp>
      <p:sp>
        <p:nvSpPr>
          <p:cNvPr id="7" name="Sparse RNA, antibody background and staining depth affect signal">
            <a:extLst xmlns:a="http://schemas.openxmlformats.org/drawingml/2006/main">
              <a:ext uri="{FF2B5EF4-FFF2-40B4-BE49-F238E27FC236}">
                <a16:creationId xmlns:a16="http://schemas.microsoft.com/office/drawing/2014/main" id="{8367522B-F1A6-483D-B07B-630BAAAFEB66}"/>
              </a:ext>
            </a:extLst>
          </p:cNvPr>
          <p:cNvSpPr>
            <a:spLocks xmlns:a="http://schemas.openxmlformats.org/drawingml/2006/main" noGrp="1"/>
          </p:cNvSpPr>
          <p:nvPr/>
        </p:nvSpPr>
        <p:spPr>
          <a:xfrm xmlns:a="http://schemas.openxmlformats.org/drawingml/2006/main">
            <a:off x="3876675" y="2438400"/>
            <a:ext cx="7524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D2433"/>
                </a:solidFill>
                <a:latin typeface="IBM Plex Sans"/>
                <a:ea typeface="IBM Plex Sans"/>
                <a:cs typeface="IBM Plex Sans"/>
              </a:defRPr>
            </a:defPPr>
          </a:lstStyle>
          <a:p xmlns:a="http://schemas.openxmlformats.org/drawingml/2006/main">
            <a:pPr algn="l">
              <a:defRPr sz="1950" b="0">
                <a:solidFill>
                  <a:srgbClr val="1D2433"/>
                </a:solidFill>
                <a:latin typeface="IBM Plex Sans"/>
                <a:ea typeface="IBM Plex Sans"/>
                <a:cs typeface="IBM Plex Sans"/>
              </a:defRPr>
            </a:pPr>
            <a:r>
              <a:rPr sz="1950" b="0">
                <a:solidFill>
                  <a:srgbClr val="1D2433"/>
                </a:solidFill>
                <a:latin typeface="IBM Plex Sans"/>
                <a:ea typeface="IBM Plex Sans"/>
                <a:cs typeface="IBM Plex Sans"/>
              </a:rPr>
              <a:t>Sparse RNA, antibody background and staining depth affect signals.</a:t>
            </a:r>
          </a:p>
        </p:txBody>
      </p:sp>
      <p:sp>
        <p:nvSpPr>
          <p:cNvPr id="8" name="">
            <a:extLst xmlns:a="http://schemas.openxmlformats.org/drawingml/2006/main">
              <a:ext uri="{FF2B5EF4-FFF2-40B4-BE49-F238E27FC236}">
                <a16:creationId xmlns:a16="http://schemas.microsoft.com/office/drawing/2014/main" id="{A313A12B-E7D3-4FBE-B827-E93D96B6BF99}"/>
              </a:ext>
            </a:extLst>
          </p:cNvPr>
          <p:cNvSpPr>
            <a:spLocks xmlns:a="http://schemas.openxmlformats.org/drawingml/2006/main" noGrp="1"/>
          </p:cNvSpPr>
          <p:nvPr/>
        </p:nvSpPr>
        <p:spPr>
          <a:xfrm xmlns:a="http://schemas.openxmlformats.org/drawingml/2006/main">
            <a:off x="723900" y="3124200"/>
            <a:ext cx="10725150" cy="9525"/>
          </a:xfrm>
          <a:prstGeom xmlns:a="http://schemas.openxmlformats.org/drawingml/2006/main" prst="rect">
            <a:avLst/>
          </a:prstGeom>
          <a:solidFill xmlns:a="http://schemas.openxmlformats.org/drawingml/2006/main">
            <a:srgbClr val="D8DFEA"/>
          </a:solidFill>
          <a:ln xmlns:a="http://schemas.openxmlformats.org/drawingml/2006/main" w="0">
            <a:noFill/>
          </a:ln>
        </p:spPr>
      </p:sp>
      <p:sp>
        <p:nvSpPr>
          <p:cNvPr id="9" name="Missing information">
            <a:extLst xmlns:a="http://schemas.openxmlformats.org/drawingml/2006/main">
              <a:ext uri="{FF2B5EF4-FFF2-40B4-BE49-F238E27FC236}">
                <a16:creationId xmlns:a16="http://schemas.microsoft.com/office/drawing/2014/main" id="{944DCCA4-2F06-495B-992D-154C513818BC}"/>
              </a:ext>
            </a:extLst>
          </p:cNvPr>
          <p:cNvSpPr>
            <a:spLocks xmlns:a="http://schemas.openxmlformats.org/drawingml/2006/main" noGrp="1"/>
          </p:cNvSpPr>
          <p:nvPr/>
        </p:nvSpPr>
        <p:spPr>
          <a:xfrm xmlns:a="http://schemas.openxmlformats.org/drawingml/2006/main">
            <a:off x="723900" y="3257550"/>
            <a:ext cx="3000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1D2433"/>
                </a:solidFill>
                <a:latin typeface="IBM Plex Sans"/>
                <a:ea typeface="IBM Plex Sans"/>
                <a:cs typeface="IBM Plex Sans"/>
              </a:defRPr>
            </a:defPPr>
          </a:lstStyle>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Missing information</a:t>
            </a:r>
          </a:p>
        </p:txBody>
      </p:sp>
      <p:sp>
        <p:nvSpPr>
          <p:cNvPr id="10" name="Protein panels overlap only partly. Rare states have few example">
            <a:extLst xmlns:a="http://schemas.openxmlformats.org/drawingml/2006/main">
              <a:ext uri="{FF2B5EF4-FFF2-40B4-BE49-F238E27FC236}">
                <a16:creationId xmlns:a16="http://schemas.microsoft.com/office/drawing/2014/main" id="{B11E146B-CA98-44C0-8469-18BEF4954D83}"/>
              </a:ext>
            </a:extLst>
          </p:cNvPr>
          <p:cNvSpPr>
            <a:spLocks xmlns:a="http://schemas.openxmlformats.org/drawingml/2006/main" noGrp="1"/>
          </p:cNvSpPr>
          <p:nvPr/>
        </p:nvSpPr>
        <p:spPr>
          <a:xfrm xmlns:a="http://schemas.openxmlformats.org/drawingml/2006/main">
            <a:off x="3876675" y="3257550"/>
            <a:ext cx="7524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D2433"/>
                </a:solidFill>
                <a:latin typeface="IBM Plex Sans"/>
                <a:ea typeface="IBM Plex Sans"/>
                <a:cs typeface="IBM Plex Sans"/>
              </a:defRPr>
            </a:defPPr>
          </a:lstStyle>
          <a:p xmlns:a="http://schemas.openxmlformats.org/drawingml/2006/main">
            <a:pPr algn="l">
              <a:defRPr sz="1950" b="0">
                <a:solidFill>
                  <a:srgbClr val="1D2433"/>
                </a:solidFill>
                <a:latin typeface="IBM Plex Sans"/>
                <a:ea typeface="IBM Plex Sans"/>
                <a:cs typeface="IBM Plex Sans"/>
              </a:defRPr>
            </a:pPr>
            <a:r>
              <a:rPr sz="1950" b="0">
                <a:solidFill>
                  <a:srgbClr val="1D2433"/>
                </a:solidFill>
                <a:latin typeface="IBM Plex Sans"/>
                <a:ea typeface="IBM Plex Sans"/>
                <a:cs typeface="IBM Plex Sans"/>
              </a:rPr>
              <a:t>Protein panels overlap only partly. Rare states have few examples.</a:t>
            </a:r>
          </a:p>
        </p:txBody>
      </p:sp>
      <p:sp>
        <p:nvSpPr>
          <p:cNvPr id="11" name="">
            <a:extLst xmlns:a="http://schemas.openxmlformats.org/drawingml/2006/main">
              <a:ext uri="{FF2B5EF4-FFF2-40B4-BE49-F238E27FC236}">
                <a16:creationId xmlns:a16="http://schemas.microsoft.com/office/drawing/2014/main" id="{D90A92B5-6C34-4BA1-8050-5178ED21CEA4}"/>
              </a:ext>
            </a:extLst>
          </p:cNvPr>
          <p:cNvSpPr>
            <a:spLocks xmlns:a="http://schemas.openxmlformats.org/drawingml/2006/main" noGrp="1"/>
          </p:cNvSpPr>
          <p:nvPr/>
        </p:nvSpPr>
        <p:spPr>
          <a:xfrm xmlns:a="http://schemas.openxmlformats.org/drawingml/2006/main">
            <a:off x="723900" y="3943350"/>
            <a:ext cx="10725150" cy="9525"/>
          </a:xfrm>
          <a:prstGeom xmlns:a="http://schemas.openxmlformats.org/drawingml/2006/main" prst="rect">
            <a:avLst/>
          </a:prstGeom>
          <a:solidFill xmlns:a="http://schemas.openxmlformats.org/drawingml/2006/main">
            <a:srgbClr val="D8DFEA"/>
          </a:solidFill>
          <a:ln xmlns:a="http://schemas.openxmlformats.org/drawingml/2006/main" w="0">
            <a:noFill/>
          </a:ln>
        </p:spPr>
      </p:sp>
      <p:sp>
        <p:nvSpPr>
          <p:cNvPr id="12" name="Transfer across studies">
            <a:extLst xmlns:a="http://schemas.openxmlformats.org/drawingml/2006/main">
              <a:ext uri="{FF2B5EF4-FFF2-40B4-BE49-F238E27FC236}">
                <a16:creationId xmlns:a16="http://schemas.microsoft.com/office/drawing/2014/main" id="{0E6FC058-2C52-4009-BE72-D42B0EEF1AE1}"/>
              </a:ext>
            </a:extLst>
          </p:cNvPr>
          <p:cNvSpPr>
            <a:spLocks xmlns:a="http://schemas.openxmlformats.org/drawingml/2006/main" noGrp="1"/>
          </p:cNvSpPr>
          <p:nvPr/>
        </p:nvSpPr>
        <p:spPr>
          <a:xfrm xmlns:a="http://schemas.openxmlformats.org/drawingml/2006/main">
            <a:off x="723900" y="4076700"/>
            <a:ext cx="3000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245EFF"/>
                </a:solidFill>
                <a:latin typeface="IBM Plex Sans"/>
                <a:ea typeface="IBM Plex Sans"/>
                <a:cs typeface="IBM Plex Sans"/>
              </a:defRPr>
            </a:defPPr>
          </a:lstStyle>
          <a:p xmlns:a="http://schemas.openxmlformats.org/drawingml/2006/main">
            <a:pPr algn="l">
              <a:defRPr sz="2025" b="1">
                <a:solidFill>
                  <a:srgbClr val="245EFF"/>
                </a:solidFill>
                <a:latin typeface="IBM Plex Sans"/>
                <a:ea typeface="IBM Plex Sans"/>
                <a:cs typeface="IBM Plex Sans"/>
              </a:defRPr>
            </a:pPr>
            <a:r>
              <a:rPr sz="2025" b="1">
                <a:solidFill>
                  <a:srgbClr val="245EFF"/>
                </a:solidFill>
                <a:latin typeface="IBM Plex Sans"/>
                <a:ea typeface="IBM Plex Sans"/>
                <a:cs typeface="IBM Plex Sans"/>
              </a:rPr>
              <a:t>Transfer across studies</a:t>
            </a:r>
          </a:p>
        </p:txBody>
      </p:sp>
      <p:sp>
        <p:nvSpPr>
          <p:cNvPr id="13" name="Donors, processing sites and disease contexts can differ.">
            <a:extLst xmlns:a="http://schemas.openxmlformats.org/drawingml/2006/main">
              <a:ext uri="{FF2B5EF4-FFF2-40B4-BE49-F238E27FC236}">
                <a16:creationId xmlns:a16="http://schemas.microsoft.com/office/drawing/2014/main" id="{E378F121-6BB2-4BF7-9DED-BF0B25805E05}"/>
              </a:ext>
            </a:extLst>
          </p:cNvPr>
          <p:cNvSpPr>
            <a:spLocks xmlns:a="http://schemas.openxmlformats.org/drawingml/2006/main" noGrp="1"/>
          </p:cNvSpPr>
          <p:nvPr/>
        </p:nvSpPr>
        <p:spPr>
          <a:xfrm xmlns:a="http://schemas.openxmlformats.org/drawingml/2006/main">
            <a:off x="3876675" y="4076700"/>
            <a:ext cx="7524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D2433"/>
                </a:solidFill>
                <a:latin typeface="IBM Plex Sans"/>
                <a:ea typeface="IBM Plex Sans"/>
                <a:cs typeface="IBM Plex Sans"/>
              </a:defRPr>
            </a:defPPr>
          </a:lstStyle>
          <a:p xmlns:a="http://schemas.openxmlformats.org/drawingml/2006/main">
            <a:pPr algn="l">
              <a:defRPr sz="1950" b="0">
                <a:solidFill>
                  <a:srgbClr val="1D2433"/>
                </a:solidFill>
                <a:latin typeface="IBM Plex Sans"/>
                <a:ea typeface="IBM Plex Sans"/>
                <a:cs typeface="IBM Plex Sans"/>
              </a:defRPr>
            </a:pPr>
            <a:r>
              <a:rPr sz="1950" b="0">
                <a:solidFill>
                  <a:srgbClr val="1D2433"/>
                </a:solidFill>
                <a:latin typeface="IBM Plex Sans"/>
                <a:ea typeface="IBM Plex Sans"/>
                <a:cs typeface="IBM Plex Sans"/>
              </a:rPr>
              <a:t>Donors, processing sites and disease contexts can differ.</a:t>
            </a:r>
          </a:p>
        </p:txBody>
      </p:sp>
      <p:sp>
        <p:nvSpPr>
          <p:cNvPr id="14" name="">
            <a:extLst xmlns:a="http://schemas.openxmlformats.org/drawingml/2006/main">
              <a:ext uri="{FF2B5EF4-FFF2-40B4-BE49-F238E27FC236}">
                <a16:creationId xmlns:a16="http://schemas.microsoft.com/office/drawing/2014/main" id="{221DFEDE-D917-42CF-B855-8EEDEF57A14E}"/>
              </a:ext>
            </a:extLst>
          </p:cNvPr>
          <p:cNvSpPr>
            <a:spLocks xmlns:a="http://schemas.openxmlformats.org/drawingml/2006/main" noGrp="1"/>
          </p:cNvSpPr>
          <p:nvPr/>
        </p:nvSpPr>
        <p:spPr>
          <a:xfrm xmlns:a="http://schemas.openxmlformats.org/drawingml/2006/main">
            <a:off x="723900" y="4762500"/>
            <a:ext cx="10725150" cy="9525"/>
          </a:xfrm>
          <a:prstGeom xmlns:a="http://schemas.openxmlformats.org/drawingml/2006/main" prst="rect">
            <a:avLst/>
          </a:prstGeom>
          <a:solidFill xmlns:a="http://schemas.openxmlformats.org/drawingml/2006/main">
            <a:srgbClr val="D8DFEA"/>
          </a:solidFill>
          <a:ln xmlns:a="http://schemas.openxmlformats.org/drawingml/2006/main" w="0">
            <a:noFill/>
          </a:ln>
        </p:spPr>
      </p:sp>
      <p:sp>
        <p:nvSpPr>
          <p:cNvPr id="15" name="Reliable evaluation">
            <a:extLst xmlns:a="http://schemas.openxmlformats.org/drawingml/2006/main">
              <a:ext uri="{FF2B5EF4-FFF2-40B4-BE49-F238E27FC236}">
                <a16:creationId xmlns:a16="http://schemas.microsoft.com/office/drawing/2014/main" id="{1FABF8EE-CACF-497D-BE7D-BF8D06B5FE4A}"/>
              </a:ext>
            </a:extLst>
          </p:cNvPr>
          <p:cNvSpPr>
            <a:spLocks xmlns:a="http://schemas.openxmlformats.org/drawingml/2006/main" noGrp="1"/>
          </p:cNvSpPr>
          <p:nvPr/>
        </p:nvSpPr>
        <p:spPr>
          <a:xfrm xmlns:a="http://schemas.openxmlformats.org/drawingml/2006/main">
            <a:off x="723900" y="4895850"/>
            <a:ext cx="3000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245EFF"/>
                </a:solidFill>
                <a:latin typeface="IBM Plex Sans"/>
                <a:ea typeface="IBM Plex Sans"/>
                <a:cs typeface="IBM Plex Sans"/>
              </a:defRPr>
            </a:defPPr>
          </a:lstStyle>
          <a:p xmlns:a="http://schemas.openxmlformats.org/drawingml/2006/main">
            <a:pPr algn="l">
              <a:defRPr sz="2025" b="1">
                <a:solidFill>
                  <a:srgbClr val="245EFF"/>
                </a:solidFill>
                <a:latin typeface="IBM Plex Sans"/>
                <a:ea typeface="IBM Plex Sans"/>
                <a:cs typeface="IBM Plex Sans"/>
              </a:defRPr>
            </a:pPr>
            <a:r>
              <a:rPr sz="2025" b="1">
                <a:solidFill>
                  <a:srgbClr val="245EFF"/>
                </a:solidFill>
                <a:latin typeface="IBM Plex Sans"/>
                <a:ea typeface="IBM Plex Sans"/>
                <a:cs typeface="IBM Plex Sans"/>
              </a:rPr>
              <a:t>Reliable evaluation</a:t>
            </a:r>
          </a:p>
        </p:txBody>
      </p:sp>
      <p:sp>
        <p:nvSpPr>
          <p:cNvPr id="16" name="Cells share participants. Accurate averages can hide unreliable ">
            <a:extLst xmlns:a="http://schemas.openxmlformats.org/drawingml/2006/main">
              <a:ext uri="{FF2B5EF4-FFF2-40B4-BE49-F238E27FC236}">
                <a16:creationId xmlns:a16="http://schemas.microsoft.com/office/drawing/2014/main" id="{2296B3F0-1B86-43EF-8789-8C0BDB4F8F18}"/>
              </a:ext>
            </a:extLst>
          </p:cNvPr>
          <p:cNvSpPr>
            <a:spLocks xmlns:a="http://schemas.openxmlformats.org/drawingml/2006/main" noGrp="1"/>
          </p:cNvSpPr>
          <p:nvPr/>
        </p:nvSpPr>
        <p:spPr>
          <a:xfrm xmlns:a="http://schemas.openxmlformats.org/drawingml/2006/main">
            <a:off x="3876675" y="4895850"/>
            <a:ext cx="7524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D2433"/>
                </a:solidFill>
                <a:latin typeface="IBM Plex Sans"/>
                <a:ea typeface="IBM Plex Sans"/>
                <a:cs typeface="IBM Plex Sans"/>
              </a:defRPr>
            </a:defPPr>
          </a:lstStyle>
          <a:p xmlns:a="http://schemas.openxmlformats.org/drawingml/2006/main">
            <a:pPr algn="l">
              <a:defRPr sz="1950" b="0">
                <a:solidFill>
                  <a:srgbClr val="1D2433"/>
                </a:solidFill>
                <a:latin typeface="IBM Plex Sans"/>
                <a:ea typeface="IBM Plex Sans"/>
                <a:cs typeface="IBM Plex Sans"/>
              </a:defRPr>
            </a:pPr>
            <a:r>
              <a:rPr sz="1950" b="0">
                <a:solidFill>
                  <a:srgbClr val="1D2433"/>
                </a:solidFill>
                <a:latin typeface="IBM Plex Sans"/>
                <a:ea typeface="IBM Plex Sans"/>
                <a:cs typeface="IBM Plex Sans"/>
              </a:rPr>
              <a:t>Cells share participants. Accurate averages can hide unreliable ranges.</a:t>
            </a:r>
          </a:p>
        </p:txBody>
      </p:sp>
      <p:sp>
        <p:nvSpPr>
          <p:cNvPr id="17" name="2  Challenges     Focus: participant reliability and small measu">
            <a:extLst xmlns:a="http://schemas.openxmlformats.org/drawingml/2006/main">
              <a:ext uri="{FF2B5EF4-FFF2-40B4-BE49-F238E27FC236}">
                <a16:creationId xmlns:a16="http://schemas.microsoft.com/office/drawing/2014/main" id="{1180C510-EE33-4EED-8651-07744F013908}"/>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2  Challenges     Focus: participant reliability and small measured panels. Cost and computational scale remain practical limits.</a:t>
            </a:r>
          </a:p>
        </p:txBody>
      </p:sp>
      <p:sp>
        <p:nvSpPr>
          <p:cNvPr id="18" name="2 / 11">
            <a:extLst xmlns:a="http://schemas.openxmlformats.org/drawingml/2006/main">
              <a:ext uri="{FF2B5EF4-FFF2-40B4-BE49-F238E27FC236}">
                <a16:creationId xmlns:a16="http://schemas.microsoft.com/office/drawing/2014/main" id="{DE69E1F5-F303-41E6-9AC2-BC7614521B49}"/>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2 / 11</a:t>
            </a:r>
          </a:p>
        </p:txBody>
      </p:sp>
    </p:spTree>
    <p:extLst>
      <p:ext uri="{BB962C8B-B14F-4D97-AF65-F5344CB8AC3E}">
        <p14:creationId xmlns:p14="http://schemas.microsoft.com/office/powerpoint/2010/main" val="1488339198"/>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Existing methods and our selected question">
            <a:extLst xmlns:a="http://schemas.openxmlformats.org/drawingml/2006/main">
              <a:ext uri="{FF2B5EF4-FFF2-40B4-BE49-F238E27FC236}">
                <a16:creationId xmlns:a16="http://schemas.microsoft.com/office/drawing/2014/main" id="{05771CB2-A837-4379-A75D-538B1B76F30A}"/>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Existing methods and our selected question</a:t>
            </a:r>
          </a:p>
        </p:txBody>
      </p:sp>
      <p:sp>
        <p:nvSpPr>
          <p:cNvPr id="2" name="">
            <a:extLst xmlns:a="http://schemas.openxmlformats.org/drawingml/2006/main">
              <a:ext uri="{FF2B5EF4-FFF2-40B4-BE49-F238E27FC236}">
                <a16:creationId xmlns:a16="http://schemas.microsoft.com/office/drawing/2014/main" id="{15F55F6E-C831-44EF-B7C5-EF1EAB57E27E}"/>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F48DE75F-C615-42D3-AABD-F144B0E5D969}"/>
              </a:ext>
            </a:extLst>
          </p:cNvPr>
          <p:cNvGraphicFramePr/>
          <p:nvPr/>
        </p:nvGraphicFramePr>
        <p:xfrm>
          <a:off xmlns:a="http://schemas.openxmlformats.org/drawingml/2006/main" x="723900" y="1562100"/>
          <a:ext xmlns:a="http://schemas.openxmlformats.org/drawingml/2006/main" cx="10725150" cy="3209925"/>
        </p:xfrm>
        <a:graphic xmlns:a="http://schemas.openxmlformats.org/drawingml/2006/main">
          <a:graphicData uri="http://schemas.openxmlformats.org/drawingml/2006/table">
            <a:tbl>
              <a:tblPr/>
              <a:tblGrid>
                <a:gridCol w="3143250"/>
                <a:gridCol w="7581900"/>
              </a:tblGrid>
              <a:tr h="534988">
                <a:tc>
                  <a:txBody>
                    <a:bodyPr lIns="114300" tIns="85725" rIns="95250" bIns="76200"/>
                    <a:lstStyle/>
                    <a:p>
                      <a:r>
                        <a:rPr sz="1500" b="1">
                          <a:solidFill>
                            <a:srgbClr val="1D2433"/>
                          </a:solidFill>
                          <a:latin typeface="IBM Plex Sans"/>
                          <a:ea typeface="IBM Plex Sans"/>
                          <a:cs typeface="IBM Plex Sans"/>
                        </a:rPr>
                        <a:t>Prior work</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What it already addresses</a:t>
                      </a:r>
                    </a:p>
                  </a:txBody>
                  <a:tcPr marL="91440" marR="91440" marT="45720" marB="45720" anchor="ctr">
                    <a:solidFill>
                      <a:srgbClr val="EDF2FF"/>
                    </a:solidFill>
                  </a:tcPr>
                </a:tc>
              </a:tr>
              <a:tr h="534988">
                <a:tc>
                  <a:txBody>
                    <a:bodyPr lIns="114300" tIns="85725" rIns="95250" bIns="76200"/>
                    <a:lstStyle/>
                    <a:p>
                      <a:r>
                        <a:rPr sz="1800" b="0">
                          <a:solidFill>
                            <a:srgbClr val="1D2433"/>
                          </a:solidFill>
                          <a:latin typeface="IBM Plex Sans"/>
                          <a:ea typeface="IBM Plex Sans"/>
                          <a:cs typeface="IBM Plex Sans"/>
                        </a:rPr>
                        <a:t>totalVI (2021)</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Joint RNA/protein model, background and missing proteins</a:t>
                      </a:r>
                    </a:p>
                  </a:txBody>
                  <a:tcPr marL="91440" marR="91440" marT="45720" marB="45720" anchor="ctr">
                    <a:solidFill>
                      <a:srgbClr val="FFFFFF"/>
                    </a:solidFill>
                  </a:tcPr>
                </a:tc>
              </a:tr>
              <a:tr h="534988">
                <a:tc>
                  <a:txBody>
                    <a:bodyPr lIns="114300" tIns="85725" rIns="95250" bIns="76200"/>
                    <a:lstStyle/>
                    <a:p>
                      <a:r>
                        <a:rPr sz="1800" b="0">
                          <a:solidFill>
                            <a:srgbClr val="1D2433"/>
                          </a:solidFill>
                          <a:latin typeface="IBM Plex Sans"/>
                          <a:ea typeface="IBM Plex Sans"/>
                          <a:cs typeface="IBM Plex Sans"/>
                        </a:rPr>
                        <a:t>sciPENN (2022)</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Protein prediction, integration and uncertainty estimation</a:t>
                      </a:r>
                    </a:p>
                  </a:txBody>
                  <a:tcPr marL="91440" marR="91440" marT="45720" marB="45720" anchor="ctr">
                    <a:solidFill>
                      <a:srgbClr val="FFFFFF"/>
                    </a:solidFill>
                  </a:tcPr>
                </a:tc>
              </a:tr>
              <a:tr h="534988">
                <a:tc>
                  <a:txBody>
                    <a:bodyPr lIns="114300" tIns="85725" rIns="95250" bIns="76200"/>
                    <a:lstStyle/>
                    <a:p>
                      <a:r>
                        <a:rPr sz="1800" b="0">
                          <a:solidFill>
                            <a:srgbClr val="1D2433"/>
                          </a:solidFill>
                          <a:latin typeface="IBM Plex Sans"/>
                          <a:ea typeface="IBM Plex Sans"/>
                          <a:cs typeface="IBM Plex Sans"/>
                        </a:rPr>
                        <a:t>scVAEIT (2022)</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Different observed panels and missing features</a:t>
                      </a:r>
                    </a:p>
                  </a:txBody>
                  <a:tcPr marL="91440" marR="91440" marT="45720" marB="45720" anchor="ctr">
                    <a:solidFill>
                      <a:srgbClr val="FFFFFF"/>
                    </a:solidFill>
                  </a:tcPr>
                </a:tc>
              </a:tr>
              <a:tr h="534988">
                <a:tc>
                  <a:txBody>
                    <a:bodyPr lIns="114300" tIns="85725" rIns="95250" bIns="76200"/>
                    <a:lstStyle/>
                    <a:p>
                      <a:r>
                        <a:rPr sz="1800" b="0">
                          <a:solidFill>
                            <a:srgbClr val="1D2433"/>
                          </a:solidFill>
                          <a:latin typeface="IBM Plex Sans"/>
                          <a:ea typeface="IBM Plex Sans"/>
                          <a:cs typeface="IBM Plex Sans"/>
                        </a:rPr>
                        <a:t>dsb (2022)</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Ambient antibody and cell-specific technical noise</a:t>
                      </a:r>
                    </a:p>
                  </a:txBody>
                  <a:tcPr marL="91440" marR="91440" marT="45720" marB="45720" anchor="ctr">
                    <a:solidFill>
                      <a:srgbClr val="FFFFFF"/>
                    </a:solidFill>
                  </a:tcPr>
                </a:tc>
              </a:tr>
              <a:tr h="534988">
                <a:tc>
                  <a:txBody>
                    <a:bodyPr lIns="114300" tIns="85725" rIns="95250" bIns="76200"/>
                    <a:lstStyle/>
                    <a:p>
                      <a:r>
                        <a:rPr sz="1800" b="0">
                          <a:solidFill>
                            <a:srgbClr val="1D2433"/>
                          </a:solidFill>
                          <a:latin typeface="IBM Plex Sans"/>
                          <a:ea typeface="IBM Plex Sans"/>
                          <a:cs typeface="IBM Plex Sans"/>
                        </a:rPr>
                        <a:t>Hierarchical conformal</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Uncertainty for observations nested within groups</a:t>
                      </a:r>
                    </a:p>
                  </a:txBody>
                  <a:tcPr marL="91440" marR="91440" marT="45720" marB="45720" anchor="ctr">
                    <a:solidFill>
                      <a:srgbClr val="FFFFFF"/>
                    </a:solidFill>
                  </a:tcPr>
                </a:tc>
              </a:tr>
            </a:tbl>
          </a:graphicData>
        </a:graphic>
      </p:graphicFrame>
      <p:sp>
        <p:nvSpPr>
          <p:cNvPr id="4" name="Our focus: do small measured panels and participant calibration&#10;">
            <a:extLst xmlns:a="http://schemas.openxmlformats.org/drawingml/2006/main">
              <a:ext uri="{FF2B5EF4-FFF2-40B4-BE49-F238E27FC236}">
                <a16:creationId xmlns:a16="http://schemas.microsoft.com/office/drawing/2014/main" id="{1FA5D93D-FD69-4810-B6BB-381401D7DDE4}"/>
              </a:ext>
            </a:extLst>
          </p:cNvPr>
          <p:cNvSpPr>
            <a:spLocks xmlns:a="http://schemas.openxmlformats.org/drawingml/2006/main" noGrp="1"/>
          </p:cNvSpPr>
          <p:nvPr/>
        </p:nvSpPr>
        <p:spPr>
          <a:xfrm xmlns:a="http://schemas.openxmlformats.org/drawingml/2006/main">
            <a:off x="723900" y="51816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245EFF"/>
                </a:solidFill>
                <a:latin typeface="IBM Plex Sans"/>
                <a:ea typeface="IBM Plex Sans"/>
                <a:cs typeface="IBM Plex Sans"/>
              </a:defRPr>
            </a:defPPr>
          </a:lstStyle>
          <a:p xmlns:a="http://schemas.openxmlformats.org/drawingml/2006/main">
            <a:pPr algn="l">
              <a:defRPr sz="2325" b="1">
                <a:solidFill>
                  <a:srgbClr val="245EFF"/>
                </a:solidFill>
                <a:latin typeface="IBM Plex Sans"/>
                <a:ea typeface="IBM Plex Sans"/>
                <a:cs typeface="IBM Plex Sans"/>
              </a:defRPr>
            </a:pPr>
            <a:r>
              <a:rPr sz="2325" b="1">
                <a:solidFill>
                  <a:srgbClr val="245EFF"/>
                </a:solidFill>
                <a:latin typeface="IBM Plex Sans"/>
                <a:ea typeface="IBM Plex Sans"/>
                <a:cs typeface="IBM Plex Sans"/>
              </a:rPr>
              <a:t>Our focus: do small measured panels and participant calibration</a:t>
            </a:r>
          </a:p>
          <a:p xmlns:a="http://schemas.openxmlformats.org/drawingml/2006/main">
            <a:pPr algn="l">
              <a:defRPr sz="2325" b="1">
                <a:solidFill>
                  <a:srgbClr val="245EFF"/>
                </a:solidFill>
                <a:latin typeface="IBM Plex Sans"/>
                <a:ea typeface="IBM Plex Sans"/>
                <a:cs typeface="IBM Plex Sans"/>
              </a:defRPr>
            </a:pPr>
            <a:r>
              <a:rPr sz="2325" b="1">
                <a:solidFill>
                  <a:srgbClr val="245EFF"/>
                </a:solidFill>
                <a:latin typeface="IBM Plex Sans"/>
                <a:ea typeface="IBM Plex Sans"/>
                <a:cs typeface="IBM Plex Sans"/>
              </a:rPr>
              <a:t>make inferred immune markers useful for new participants?</a:t>
            </a:r>
          </a:p>
        </p:txBody>
      </p:sp>
      <p:sp>
        <p:nvSpPr>
          <p:cNvPr id="5" name="2  Existing limitations     Protein imputation and grouped uncer">
            <a:extLst xmlns:a="http://schemas.openxmlformats.org/drawingml/2006/main">
              <a:ext uri="{FF2B5EF4-FFF2-40B4-BE49-F238E27FC236}">
                <a16:creationId xmlns:a16="http://schemas.microsoft.com/office/drawing/2014/main" id="{C8404C96-F8AA-4D4D-81A1-81274FC7E678}"/>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2  Existing limitations     Protein imputation and grouped uncertainty already have substantial prior work.</a:t>
            </a:r>
          </a:p>
        </p:txBody>
      </p:sp>
      <p:sp>
        <p:nvSpPr>
          <p:cNvPr id="6" name="3 / 11">
            <a:extLst xmlns:a="http://schemas.openxmlformats.org/drawingml/2006/main">
              <a:ext uri="{FF2B5EF4-FFF2-40B4-BE49-F238E27FC236}">
                <a16:creationId xmlns:a16="http://schemas.microsoft.com/office/drawing/2014/main" id="{463FDA45-8117-4D09-96C1-8E8E9B35B333}"/>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3 / 11</a:t>
            </a:r>
          </a:p>
        </p:txBody>
      </p:sp>
    </p:spTree>
    <p:extLst>
      <p:ext uri="{BB962C8B-B14F-4D97-AF65-F5344CB8AC3E}">
        <p14:creationId xmlns:p14="http://schemas.microsoft.com/office/powerpoint/2010/main" val="3619524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C0C3073-D796-4154-AE45-5CE610A9DB08}"/>
              </a:ext>
            </a:extLst>
          </p:cNvPr>
          <p:cNvPicPr>
            <a:picLocks xmlns:a="http://schemas.openxmlformats.org/drawingml/2006/main" noChangeAspect="1"/>
          </p:cNvPicPr>
          <p:nvPr/>
        </p:nvPicPr>
        <p:blipFill>
          <a:blip xmlns:r="http://schemas.openxmlformats.org/officeDocument/2006/relationships" xmlns:a="http://schemas.openxmlformats.org/drawingml/2006/main" r:embed="R31c601b1a53e474a"/>
          <a:stretch xmlns:a="http://schemas.openxmlformats.org/drawingml/2006/main"/>
        </p:blipFill>
        <p:spPr>
          <a:xfrm xmlns:a="http://schemas.openxmlformats.org/drawingml/2006/main">
            <a:off x="87861" y="47625"/>
            <a:ext cx="12016278" cy="6762750"/>
          </a:xfrm>
          <a:prstGeom xmlns:a="http://schemas.openxmlformats.org/drawingml/2006/main" prst="rect">
            <a:avLst/>
          </a:prstGeom>
        </p:spPr>
      </p:pic>
    </p:spTree>
    <p:extLst>
      <p:ext uri="{BB962C8B-B14F-4D97-AF65-F5344CB8AC3E}">
        <p14:creationId xmlns:p14="http://schemas.microsoft.com/office/powerpoint/2010/main" val="27920025"/>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0" name="ProteoGuard framework">
            <a:extLst xmlns:a="http://schemas.openxmlformats.org/drawingml/2006/main">
              <a:ext uri="{FF2B5EF4-FFF2-40B4-BE49-F238E27FC236}">
                <a16:creationId xmlns:a16="http://schemas.microsoft.com/office/drawing/2014/main" id="{DB7C456D-90CC-443F-9096-CDE14546BC5F}"/>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ProteoGuard framework</a:t>
            </a:r>
          </a:p>
        </p:txBody>
      </p:sp>
      <p:sp>
        <p:nvSpPr>
          <p:cNvPr id="2" name="">
            <a:extLst xmlns:a="http://schemas.openxmlformats.org/drawingml/2006/main">
              <a:ext uri="{FF2B5EF4-FFF2-40B4-BE49-F238E27FC236}">
                <a16:creationId xmlns:a16="http://schemas.microsoft.com/office/drawing/2014/main" id="{54ABA5FD-A42E-4C78-9A9D-B091724CD0FD}"/>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PREDICT">
            <a:extLst xmlns:a="http://schemas.openxmlformats.org/drawingml/2006/main">
              <a:ext uri="{FF2B5EF4-FFF2-40B4-BE49-F238E27FC236}">
                <a16:creationId xmlns:a16="http://schemas.microsoft.com/office/drawing/2014/main" id="{3CB9CD75-C569-46AB-BCD4-AD5BC7CEA179}"/>
              </a:ext>
            </a:extLst>
          </p:cNvPr>
          <p:cNvSpPr>
            <a:spLocks xmlns:a="http://schemas.openxmlformats.org/drawingml/2006/main" noGrp="1"/>
          </p:cNvSpPr>
          <p:nvPr/>
        </p:nvSpPr>
        <p:spPr>
          <a:xfrm xmlns:a="http://schemas.openxmlformats.org/drawingml/2006/main">
            <a:off x="723900" y="1657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1">
                <a:solidFill>
                  <a:srgbClr val="245EFF"/>
                </a:solidFill>
                <a:latin typeface="IBM Plex Sans"/>
                <a:ea typeface="IBM Plex Sans"/>
                <a:cs typeface="IBM Plex Sans"/>
              </a:defRPr>
            </a:defPPr>
          </a:lstStyle>
          <a:p xmlns:a="http://schemas.openxmlformats.org/drawingml/2006/main">
            <a:pPr algn="l">
              <a:defRPr sz="1800" b="1">
                <a:solidFill>
                  <a:srgbClr val="245EFF"/>
                </a:solidFill>
                <a:latin typeface="IBM Plex Sans"/>
                <a:ea typeface="IBM Plex Sans"/>
                <a:cs typeface="IBM Plex Sans"/>
              </a:defRPr>
            </a:pPr>
            <a:r>
              <a:rPr sz="1800" b="1">
                <a:solidFill>
                  <a:srgbClr val="245EFF"/>
                </a:solidFill>
                <a:latin typeface="IBM Plex Sans"/>
                <a:ea typeface="IBM Plex Sans"/>
                <a:cs typeface="IBM Plex Sans"/>
              </a:rPr>
              <a:t>PREDICT</a:t>
            </a:r>
          </a:p>
        </p:txBody>
      </p:sp>
      <p:sp>
        <p:nvSpPr>
          <p:cNvPr id="4" name="RNA estimates missing proteins">
            <a:extLst xmlns:a="http://schemas.openxmlformats.org/drawingml/2006/main">
              <a:ext uri="{FF2B5EF4-FFF2-40B4-BE49-F238E27FC236}">
                <a16:creationId xmlns:a16="http://schemas.microsoft.com/office/drawing/2014/main" id="{8773209C-82A1-49B5-9076-FEBA610A14A7}"/>
              </a:ext>
            </a:extLst>
          </p:cNvPr>
          <p:cNvSpPr>
            <a:spLocks xmlns:a="http://schemas.openxmlformats.org/drawingml/2006/main" noGrp="1"/>
          </p:cNvSpPr>
          <p:nvPr/>
        </p:nvSpPr>
        <p:spPr>
          <a:xfrm xmlns:a="http://schemas.openxmlformats.org/drawingml/2006/main">
            <a:off x="3419475" y="1657350"/>
            <a:ext cx="7934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1D2433"/>
                </a:solidFill>
                <a:latin typeface="IBM Plex Sans"/>
                <a:ea typeface="IBM Plex Sans"/>
                <a:cs typeface="IBM Plex Sans"/>
              </a:defRPr>
            </a:defPPr>
          </a:lstStyle>
          <a:p xmlns:a="http://schemas.openxmlformats.org/drawingml/2006/main">
            <a:pPr algn="l">
              <a:defRPr sz="2175" b="1">
                <a:solidFill>
                  <a:srgbClr val="1D2433"/>
                </a:solidFill>
                <a:latin typeface="IBM Plex Sans"/>
                <a:ea typeface="IBM Plex Sans"/>
                <a:cs typeface="IBM Plex Sans"/>
              </a:defRPr>
            </a:pPr>
            <a:r>
              <a:rPr sz="2175" b="1">
                <a:solidFill>
                  <a:srgbClr val="1D2433"/>
                </a:solidFill>
                <a:latin typeface="IBM Plex Sans"/>
                <a:ea typeface="IBM Plex Sans"/>
                <a:cs typeface="IBM Plex Sans"/>
              </a:rPr>
              <a:t>RNA estimates missing proteins</a:t>
            </a:r>
          </a:p>
        </p:txBody>
      </p:sp>
      <p:sp>
        <p:nvSpPr>
          <p:cNvPr id="5" name="totalVI models a distribution.&#10;Ridge predicts log protein counts">
            <a:extLst xmlns:a="http://schemas.openxmlformats.org/drawingml/2006/main">
              <a:ext uri="{FF2B5EF4-FFF2-40B4-BE49-F238E27FC236}">
                <a16:creationId xmlns:a16="http://schemas.microsoft.com/office/drawing/2014/main" id="{3F482B22-A8CE-4066-BE18-A1928A3C7CEA}"/>
              </a:ext>
            </a:extLst>
          </p:cNvPr>
          <p:cNvSpPr>
            <a:spLocks xmlns:a="http://schemas.openxmlformats.org/drawingml/2006/main" noGrp="1"/>
          </p:cNvSpPr>
          <p:nvPr/>
        </p:nvSpPr>
        <p:spPr>
          <a:xfrm xmlns:a="http://schemas.openxmlformats.org/drawingml/2006/main">
            <a:off x="3419475" y="2066925"/>
            <a:ext cx="79343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totalVI models a distribution.</a:t>
            </a:r>
          </a:p>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Ridge predicts log protein counts.</a:t>
            </a:r>
          </a:p>
        </p:txBody>
      </p:sp>
      <p:sp>
        <p:nvSpPr>
          <p:cNvPr id="6" name="">
            <a:extLst xmlns:a="http://schemas.openxmlformats.org/drawingml/2006/main">
              <a:ext uri="{FF2B5EF4-FFF2-40B4-BE49-F238E27FC236}">
                <a16:creationId xmlns:a16="http://schemas.microsoft.com/office/drawing/2014/main" id="{5AD383A4-ACA7-4421-8888-534154595BAF}"/>
              </a:ext>
            </a:extLst>
          </p:cNvPr>
          <p:cNvSpPr>
            <a:spLocks xmlns:a="http://schemas.openxmlformats.org/drawingml/2006/main" noGrp="1"/>
          </p:cNvSpPr>
          <p:nvPr/>
        </p:nvSpPr>
        <p:spPr>
          <a:xfrm xmlns:a="http://schemas.openxmlformats.org/drawingml/2006/main">
            <a:off x="723900" y="2619375"/>
            <a:ext cx="10725150" cy="9525"/>
          </a:xfrm>
          <a:prstGeom xmlns:a="http://schemas.openxmlformats.org/drawingml/2006/main" prst="rect">
            <a:avLst/>
          </a:prstGeom>
          <a:solidFill xmlns:a="http://schemas.openxmlformats.org/drawingml/2006/main">
            <a:srgbClr val="D8DFEA"/>
          </a:solidFill>
          <a:ln xmlns:a="http://schemas.openxmlformats.org/drawingml/2006/main" w="0">
            <a:noFill/>
          </a:ln>
        </p:spPr>
      </p:sp>
      <p:sp>
        <p:nvSpPr>
          <p:cNvPr id="7" name="ADD MEASUREMENTS">
            <a:extLst xmlns:a="http://schemas.openxmlformats.org/drawingml/2006/main">
              <a:ext uri="{FF2B5EF4-FFF2-40B4-BE49-F238E27FC236}">
                <a16:creationId xmlns:a16="http://schemas.microsoft.com/office/drawing/2014/main" id="{F61CA898-C411-4105-963A-3727084042B3}"/>
              </a:ext>
            </a:extLst>
          </p:cNvPr>
          <p:cNvSpPr>
            <a:spLocks xmlns:a="http://schemas.openxmlformats.org/drawingml/2006/main" noGrp="1"/>
          </p:cNvSpPr>
          <p:nvPr/>
        </p:nvSpPr>
        <p:spPr>
          <a:xfrm xmlns:a="http://schemas.openxmlformats.org/drawingml/2006/main">
            <a:off x="723900" y="2714625"/>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1">
                <a:solidFill>
                  <a:srgbClr val="245EFF"/>
                </a:solidFill>
                <a:latin typeface="IBM Plex Sans"/>
                <a:ea typeface="IBM Plex Sans"/>
                <a:cs typeface="IBM Plex Sans"/>
              </a:defRPr>
            </a:defPPr>
          </a:lstStyle>
          <a:p xmlns:a="http://schemas.openxmlformats.org/drawingml/2006/main">
            <a:pPr algn="l">
              <a:defRPr sz="1800" b="1">
                <a:solidFill>
                  <a:srgbClr val="245EFF"/>
                </a:solidFill>
                <a:latin typeface="IBM Plex Sans"/>
                <a:ea typeface="IBM Plex Sans"/>
                <a:cs typeface="IBM Plex Sans"/>
              </a:defRPr>
            </a:pPr>
            <a:r>
              <a:rPr sz="1800" b="1">
                <a:solidFill>
                  <a:srgbClr val="245EFF"/>
                </a:solidFill>
                <a:latin typeface="IBM Plex Sans"/>
                <a:ea typeface="IBM Plex Sans"/>
                <a:cs typeface="IBM Plex Sans"/>
              </a:rPr>
              <a:t>ADD MEASUREMENTS</a:t>
            </a:r>
          </a:p>
        </p:txBody>
      </p:sp>
      <p:sp>
        <p:nvSpPr>
          <p:cNvPr id="8" name="Five proteins add evidence">
            <a:extLst xmlns:a="http://schemas.openxmlformats.org/drawingml/2006/main">
              <a:ext uri="{FF2B5EF4-FFF2-40B4-BE49-F238E27FC236}">
                <a16:creationId xmlns:a16="http://schemas.microsoft.com/office/drawing/2014/main" id="{C8FFF975-A5AA-474E-97F0-0D120455079C}"/>
              </a:ext>
            </a:extLst>
          </p:cNvPr>
          <p:cNvSpPr>
            <a:spLocks xmlns:a="http://schemas.openxmlformats.org/drawingml/2006/main" noGrp="1"/>
          </p:cNvSpPr>
          <p:nvPr/>
        </p:nvSpPr>
        <p:spPr>
          <a:xfrm xmlns:a="http://schemas.openxmlformats.org/drawingml/2006/main">
            <a:off x="3419475" y="2714625"/>
            <a:ext cx="7934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1D2433"/>
                </a:solidFill>
                <a:latin typeface="IBM Plex Sans"/>
                <a:ea typeface="IBM Plex Sans"/>
                <a:cs typeface="IBM Plex Sans"/>
              </a:defRPr>
            </a:defPPr>
          </a:lstStyle>
          <a:p xmlns:a="http://schemas.openxmlformats.org/drawingml/2006/main">
            <a:pPr algn="l">
              <a:defRPr sz="2175" b="1">
                <a:solidFill>
                  <a:srgbClr val="1D2433"/>
                </a:solidFill>
                <a:latin typeface="IBM Plex Sans"/>
                <a:ea typeface="IBM Plex Sans"/>
                <a:cs typeface="IBM Plex Sans"/>
              </a:defRPr>
            </a:pPr>
            <a:r>
              <a:rPr sz="2175" b="1">
                <a:solidFill>
                  <a:srgbClr val="1D2433"/>
                </a:solidFill>
                <a:latin typeface="IBM Plex Sans"/>
                <a:ea typeface="IBM Plex Sans"/>
                <a:cs typeface="IBM Plex Sans"/>
              </a:rPr>
              <a:t>Five proteins add evidence</a:t>
            </a:r>
          </a:p>
        </p:txBody>
      </p:sp>
      <p:sp>
        <p:nvSpPr>
          <p:cNvPr id="9" name="Use anchors as predictor inputs&#10;or fit a correction to their err">
            <a:extLst xmlns:a="http://schemas.openxmlformats.org/drawingml/2006/main">
              <a:ext uri="{FF2B5EF4-FFF2-40B4-BE49-F238E27FC236}">
                <a16:creationId xmlns:a16="http://schemas.microsoft.com/office/drawing/2014/main" id="{6C3E8383-E03D-4B78-999D-785A1859F862}"/>
              </a:ext>
            </a:extLst>
          </p:cNvPr>
          <p:cNvSpPr>
            <a:spLocks xmlns:a="http://schemas.openxmlformats.org/drawingml/2006/main" noGrp="1"/>
          </p:cNvSpPr>
          <p:nvPr/>
        </p:nvSpPr>
        <p:spPr>
          <a:xfrm xmlns:a="http://schemas.openxmlformats.org/drawingml/2006/main">
            <a:off x="3419475" y="3124200"/>
            <a:ext cx="79343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Use anchors as predictor inputs</a:t>
            </a:r>
          </a:p>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or fit a correction to their errors.</a:t>
            </a:r>
          </a:p>
        </p:txBody>
      </p:sp>
      <p:sp>
        <p:nvSpPr>
          <p:cNvPr id="10" name="">
            <a:extLst xmlns:a="http://schemas.openxmlformats.org/drawingml/2006/main">
              <a:ext uri="{FF2B5EF4-FFF2-40B4-BE49-F238E27FC236}">
                <a16:creationId xmlns:a16="http://schemas.microsoft.com/office/drawing/2014/main" id="{26E9C643-1C1F-4B37-A62D-3B54DC2CF509}"/>
              </a:ext>
            </a:extLst>
          </p:cNvPr>
          <p:cNvSpPr>
            <a:spLocks xmlns:a="http://schemas.openxmlformats.org/drawingml/2006/main" noGrp="1"/>
          </p:cNvSpPr>
          <p:nvPr/>
        </p:nvSpPr>
        <p:spPr>
          <a:xfrm xmlns:a="http://schemas.openxmlformats.org/drawingml/2006/main">
            <a:off x="723900" y="3676650"/>
            <a:ext cx="10725150" cy="9525"/>
          </a:xfrm>
          <a:prstGeom xmlns:a="http://schemas.openxmlformats.org/drawingml/2006/main" prst="rect">
            <a:avLst/>
          </a:prstGeom>
          <a:solidFill xmlns:a="http://schemas.openxmlformats.org/drawingml/2006/main">
            <a:srgbClr val="D8DFEA"/>
          </a:solidFill>
          <a:ln xmlns:a="http://schemas.openxmlformats.org/drawingml/2006/main" w="0">
            <a:noFill/>
          </a:ln>
        </p:spPr>
      </p:sp>
      <p:sp>
        <p:nvSpPr>
          <p:cNvPr id="11" name="CALIBRATE">
            <a:extLst xmlns:a="http://schemas.openxmlformats.org/drawingml/2006/main">
              <a:ext uri="{FF2B5EF4-FFF2-40B4-BE49-F238E27FC236}">
                <a16:creationId xmlns:a16="http://schemas.microsoft.com/office/drawing/2014/main" id="{CB7A0A35-FB29-4240-94E7-2ED505791DBF}"/>
              </a:ext>
            </a:extLst>
          </p:cNvPr>
          <p:cNvSpPr>
            <a:spLocks xmlns:a="http://schemas.openxmlformats.org/drawingml/2006/main" noGrp="1"/>
          </p:cNvSpPr>
          <p:nvPr/>
        </p:nvSpPr>
        <p:spPr>
          <a:xfrm xmlns:a="http://schemas.openxmlformats.org/drawingml/2006/main">
            <a:off x="723900" y="377190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1">
                <a:solidFill>
                  <a:srgbClr val="245EFF"/>
                </a:solidFill>
                <a:latin typeface="IBM Plex Sans"/>
                <a:ea typeface="IBM Plex Sans"/>
                <a:cs typeface="IBM Plex Sans"/>
              </a:defRPr>
            </a:defPPr>
          </a:lstStyle>
          <a:p xmlns:a="http://schemas.openxmlformats.org/drawingml/2006/main">
            <a:pPr algn="l">
              <a:defRPr sz="1800" b="1">
                <a:solidFill>
                  <a:srgbClr val="245EFF"/>
                </a:solidFill>
                <a:latin typeface="IBM Plex Sans"/>
                <a:ea typeface="IBM Plex Sans"/>
                <a:cs typeface="IBM Plex Sans"/>
              </a:defRPr>
            </a:pPr>
            <a:r>
              <a:rPr sz="1800" b="1">
                <a:solidFill>
                  <a:srgbClr val="245EFF"/>
                </a:solidFill>
                <a:latin typeface="IBM Plex Sans"/>
                <a:ea typeface="IBM Plex Sans"/>
                <a:cs typeface="IBM Plex Sans"/>
              </a:rPr>
              <a:t>CALIBRATE</a:t>
            </a:r>
          </a:p>
        </p:txBody>
      </p:sp>
      <p:sp>
        <p:nvSpPr>
          <p:cNvPr id="12" name="Reference participants set ranges">
            <a:extLst xmlns:a="http://schemas.openxmlformats.org/drawingml/2006/main">
              <a:ext uri="{FF2B5EF4-FFF2-40B4-BE49-F238E27FC236}">
                <a16:creationId xmlns:a16="http://schemas.microsoft.com/office/drawing/2014/main" id="{424AAD4C-91BC-4C4E-8FA7-7DF4FE37B45D}"/>
              </a:ext>
            </a:extLst>
          </p:cNvPr>
          <p:cNvSpPr>
            <a:spLocks xmlns:a="http://schemas.openxmlformats.org/drawingml/2006/main" noGrp="1"/>
          </p:cNvSpPr>
          <p:nvPr/>
        </p:nvSpPr>
        <p:spPr>
          <a:xfrm xmlns:a="http://schemas.openxmlformats.org/drawingml/2006/main">
            <a:off x="3419475" y="3771900"/>
            <a:ext cx="7934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1D2433"/>
                </a:solidFill>
                <a:latin typeface="IBM Plex Sans"/>
                <a:ea typeface="IBM Plex Sans"/>
                <a:cs typeface="IBM Plex Sans"/>
              </a:defRPr>
            </a:defPPr>
          </a:lstStyle>
          <a:p xmlns:a="http://schemas.openxmlformats.org/drawingml/2006/main">
            <a:pPr algn="l">
              <a:defRPr sz="2175" b="1">
                <a:solidFill>
                  <a:srgbClr val="1D2433"/>
                </a:solidFill>
                <a:latin typeface="IBM Plex Sans"/>
                <a:ea typeface="IBM Plex Sans"/>
                <a:cs typeface="IBM Plex Sans"/>
              </a:defRPr>
            </a:pPr>
            <a:r>
              <a:rPr sz="2175" b="1">
                <a:solidFill>
                  <a:srgbClr val="1D2433"/>
                </a:solidFill>
                <a:latin typeface="IBM Plex Sans"/>
                <a:ea typeface="IBM Plex Sans"/>
                <a:cs typeface="IBM Plex Sans"/>
              </a:rPr>
              <a:t>Reference participants set ranges</a:t>
            </a:r>
          </a:p>
        </p:txBody>
      </p:sp>
      <p:sp>
        <p:nvSpPr>
          <p:cNvPr id="13" name="Summarize errors by participant&#10;and adjust prediction intervals.">
            <a:extLst xmlns:a="http://schemas.openxmlformats.org/drawingml/2006/main">
              <a:ext uri="{FF2B5EF4-FFF2-40B4-BE49-F238E27FC236}">
                <a16:creationId xmlns:a16="http://schemas.microsoft.com/office/drawing/2014/main" id="{60A4B4D6-B6C4-4807-8C04-12FCDB23DE4E}"/>
              </a:ext>
            </a:extLst>
          </p:cNvPr>
          <p:cNvSpPr>
            <a:spLocks xmlns:a="http://schemas.openxmlformats.org/drawingml/2006/main" noGrp="1"/>
          </p:cNvSpPr>
          <p:nvPr/>
        </p:nvSpPr>
        <p:spPr>
          <a:xfrm xmlns:a="http://schemas.openxmlformats.org/drawingml/2006/main">
            <a:off x="3419475" y="4181475"/>
            <a:ext cx="79343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Summarize errors by participant</a:t>
            </a:r>
          </a:p>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and adjust prediction intervals.</a:t>
            </a:r>
          </a:p>
        </p:txBody>
      </p:sp>
      <p:sp>
        <p:nvSpPr>
          <p:cNvPr id="14" name="">
            <a:extLst xmlns:a="http://schemas.openxmlformats.org/drawingml/2006/main">
              <a:ext uri="{FF2B5EF4-FFF2-40B4-BE49-F238E27FC236}">
                <a16:creationId xmlns:a16="http://schemas.microsoft.com/office/drawing/2014/main" id="{40986E37-A0B1-4E88-ADFE-1B495E0A86EB}"/>
              </a:ext>
            </a:extLst>
          </p:cNvPr>
          <p:cNvSpPr>
            <a:spLocks xmlns:a="http://schemas.openxmlformats.org/drawingml/2006/main" noGrp="1"/>
          </p:cNvSpPr>
          <p:nvPr/>
        </p:nvSpPr>
        <p:spPr>
          <a:xfrm xmlns:a="http://schemas.openxmlformats.org/drawingml/2006/main">
            <a:off x="723900" y="4733925"/>
            <a:ext cx="10725150" cy="9525"/>
          </a:xfrm>
          <a:prstGeom xmlns:a="http://schemas.openxmlformats.org/drawingml/2006/main" prst="rect">
            <a:avLst/>
          </a:prstGeom>
          <a:solidFill xmlns:a="http://schemas.openxmlformats.org/drawingml/2006/main">
            <a:srgbClr val="D8DFEA"/>
          </a:solidFill>
          <a:ln xmlns:a="http://schemas.openxmlformats.org/drawingml/2006/main" w="0">
            <a:noFill/>
          </a:ln>
        </p:spPr>
      </p:sp>
      <p:sp>
        <p:nvSpPr>
          <p:cNvPr id="15" name="INTERPRET">
            <a:extLst xmlns:a="http://schemas.openxmlformats.org/drawingml/2006/main">
              <a:ext uri="{FF2B5EF4-FFF2-40B4-BE49-F238E27FC236}">
                <a16:creationId xmlns:a16="http://schemas.microsoft.com/office/drawing/2014/main" id="{9ED23A4F-2545-401D-8A06-189521B5020C}"/>
              </a:ext>
            </a:extLst>
          </p:cNvPr>
          <p:cNvSpPr>
            <a:spLocks xmlns:a="http://schemas.openxmlformats.org/drawingml/2006/main" noGrp="1"/>
          </p:cNvSpPr>
          <p:nvPr/>
        </p:nvSpPr>
        <p:spPr>
          <a:xfrm xmlns:a="http://schemas.openxmlformats.org/drawingml/2006/main">
            <a:off x="723900" y="4829175"/>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1">
                <a:solidFill>
                  <a:srgbClr val="245EFF"/>
                </a:solidFill>
                <a:latin typeface="IBM Plex Sans"/>
                <a:ea typeface="IBM Plex Sans"/>
                <a:cs typeface="IBM Plex Sans"/>
              </a:defRPr>
            </a:defPPr>
          </a:lstStyle>
          <a:p xmlns:a="http://schemas.openxmlformats.org/drawingml/2006/main">
            <a:pPr algn="l">
              <a:defRPr sz="1800" b="1">
                <a:solidFill>
                  <a:srgbClr val="245EFF"/>
                </a:solidFill>
                <a:latin typeface="IBM Plex Sans"/>
                <a:ea typeface="IBM Plex Sans"/>
                <a:cs typeface="IBM Plex Sans"/>
              </a:defRPr>
            </a:pPr>
            <a:r>
              <a:rPr sz="1800" b="1">
                <a:solidFill>
                  <a:srgbClr val="245EFF"/>
                </a:solidFill>
                <a:latin typeface="IBM Plex Sans"/>
                <a:ea typeface="IBM Plex Sans"/>
                <a:cs typeface="IBM Plex Sans"/>
              </a:rPr>
              <a:t>INTERPRET</a:t>
            </a:r>
          </a:p>
        </p:txBody>
      </p:sp>
      <p:sp>
        <p:nvSpPr>
          <p:cNvPr id="16" name="Make a marker call or abstain">
            <a:extLst xmlns:a="http://schemas.openxmlformats.org/drawingml/2006/main">
              <a:ext uri="{FF2B5EF4-FFF2-40B4-BE49-F238E27FC236}">
                <a16:creationId xmlns:a16="http://schemas.microsoft.com/office/drawing/2014/main" id="{74204C3C-0B8E-4B52-BC0C-72C5B7395D21}"/>
              </a:ext>
            </a:extLst>
          </p:cNvPr>
          <p:cNvSpPr>
            <a:spLocks xmlns:a="http://schemas.openxmlformats.org/drawingml/2006/main" noGrp="1"/>
          </p:cNvSpPr>
          <p:nvPr/>
        </p:nvSpPr>
        <p:spPr>
          <a:xfrm xmlns:a="http://schemas.openxmlformats.org/drawingml/2006/main">
            <a:off x="3419475" y="4829175"/>
            <a:ext cx="7934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1D2433"/>
                </a:solidFill>
                <a:latin typeface="IBM Plex Sans"/>
                <a:ea typeface="IBM Plex Sans"/>
                <a:cs typeface="IBM Plex Sans"/>
              </a:defRPr>
            </a:defPPr>
          </a:lstStyle>
          <a:p xmlns:a="http://schemas.openxmlformats.org/drawingml/2006/main">
            <a:pPr algn="l">
              <a:defRPr sz="2175" b="1">
                <a:solidFill>
                  <a:srgbClr val="1D2433"/>
                </a:solidFill>
                <a:latin typeface="IBM Plex Sans"/>
                <a:ea typeface="IBM Plex Sans"/>
                <a:cs typeface="IBM Plex Sans"/>
              </a:defRPr>
            </a:pPr>
            <a:r>
              <a:rPr sz="2175" b="1">
                <a:solidFill>
                  <a:srgbClr val="1D2433"/>
                </a:solidFill>
                <a:latin typeface="IBM Plex Sans"/>
                <a:ea typeface="IBM Plex Sans"/>
                <a:cs typeface="IBM Plex Sans"/>
              </a:rPr>
              <a:t>Make a marker call or abstain</a:t>
            </a:r>
          </a:p>
        </p:txBody>
      </p:sp>
      <p:sp>
        <p:nvSpPr>
          <p:cNvPr id="17" name="Estimate a marker-positive fraction.&#10;Leave uncertain calls unres">
            <a:extLst xmlns:a="http://schemas.openxmlformats.org/drawingml/2006/main">
              <a:ext uri="{FF2B5EF4-FFF2-40B4-BE49-F238E27FC236}">
                <a16:creationId xmlns:a16="http://schemas.microsoft.com/office/drawing/2014/main" id="{68652429-4ABE-44DB-98DA-65CDF21401CF}"/>
              </a:ext>
            </a:extLst>
          </p:cNvPr>
          <p:cNvSpPr>
            <a:spLocks xmlns:a="http://schemas.openxmlformats.org/drawingml/2006/main" noGrp="1"/>
          </p:cNvSpPr>
          <p:nvPr/>
        </p:nvSpPr>
        <p:spPr>
          <a:xfrm xmlns:a="http://schemas.openxmlformats.org/drawingml/2006/main">
            <a:off x="3419475" y="5238750"/>
            <a:ext cx="79343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Estimate a marker-positive fraction.</a:t>
            </a:r>
          </a:p>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Leave uncertain calls unresolved.</a:t>
            </a:r>
          </a:p>
        </p:txBody>
      </p:sp>
      <p:sp>
        <p:nvSpPr>
          <p:cNvPr id="18" name="3  Proposed method     Anchor = measured protein. Calibration us">
            <a:extLst xmlns:a="http://schemas.openxmlformats.org/drawingml/2006/main">
              <a:ext uri="{FF2B5EF4-FFF2-40B4-BE49-F238E27FC236}">
                <a16:creationId xmlns:a16="http://schemas.microsoft.com/office/drawing/2014/main" id="{741EDAB8-A0B2-43AD-8282-36044F9AE19D}"/>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3  Proposed method     Anchor = measured protein. Calibration uses separate people with known target measurements.</a:t>
            </a:r>
          </a:p>
        </p:txBody>
      </p:sp>
      <p:sp>
        <p:nvSpPr>
          <p:cNvPr id="19" name="5 / 11">
            <a:extLst xmlns:a="http://schemas.openxmlformats.org/drawingml/2006/main">
              <a:ext uri="{FF2B5EF4-FFF2-40B4-BE49-F238E27FC236}">
                <a16:creationId xmlns:a16="http://schemas.microsoft.com/office/drawing/2014/main" id="{A2076C72-368C-47CB-AF04-AE5541252900}"/>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5 / 11</a:t>
            </a:r>
          </a:p>
        </p:txBody>
      </p:sp>
    </p:spTree>
    <p:extLst>
      <p:ext uri="{BB962C8B-B14F-4D97-AF65-F5344CB8AC3E}">
        <p14:creationId xmlns:p14="http://schemas.microsoft.com/office/powerpoint/2010/main" val="243116084"/>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Why measured anchors and participant calibration?">
            <a:extLst xmlns:a="http://schemas.openxmlformats.org/drawingml/2006/main">
              <a:ext uri="{FF2B5EF4-FFF2-40B4-BE49-F238E27FC236}">
                <a16:creationId xmlns:a16="http://schemas.microsoft.com/office/drawing/2014/main" id="{83ED1572-1F64-4502-BCB5-3B84FD533680}"/>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Why measured anchors and participant calibration?</a:t>
            </a:r>
          </a:p>
        </p:txBody>
      </p:sp>
      <p:sp>
        <p:nvSpPr>
          <p:cNvPr id="2" name="">
            <a:extLst xmlns:a="http://schemas.openxmlformats.org/drawingml/2006/main">
              <a:ext uri="{FF2B5EF4-FFF2-40B4-BE49-F238E27FC236}">
                <a16:creationId xmlns:a16="http://schemas.microsoft.com/office/drawing/2014/main" id="{6443F6F2-3E6D-4C1D-AE2A-67704304F0A4}"/>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C718E3B7-E2D9-4895-AAAE-A4207CC97241}"/>
              </a:ext>
            </a:extLst>
          </p:cNvPr>
          <p:cNvPicPr>
            <a:picLocks xmlns:a="http://schemas.openxmlformats.org/drawingml/2006/main" noChangeAspect="1"/>
          </p:cNvPicPr>
          <p:nvPr/>
        </p:nvPicPr>
        <p:blipFill>
          <a:blip xmlns:r="http://schemas.openxmlformats.org/officeDocument/2006/relationships" xmlns:a="http://schemas.openxmlformats.org/drawingml/2006/main" r:embed="R7819b628ee0345cc"/>
          <a:stretch xmlns:a="http://schemas.openxmlformats.org/drawingml/2006/main"/>
        </p:blipFill>
        <p:spPr>
          <a:xfrm xmlns:a="http://schemas.openxmlformats.org/drawingml/2006/main">
            <a:off x="6919764" y="1562100"/>
            <a:ext cx="4419898" cy="4562475"/>
          </a:xfrm>
          <a:prstGeom xmlns:a="http://schemas.openxmlformats.org/drawingml/2006/main" prst="rect">
            <a:avLst/>
          </a:prstGeom>
        </p:spPr>
      </p:pic>
      <p:sp>
        <p:nvSpPr>
          <p:cNvPr id="4" name="A shared participant error">
            <a:extLst xmlns:a="http://schemas.openxmlformats.org/drawingml/2006/main">
              <a:ext uri="{FF2B5EF4-FFF2-40B4-BE49-F238E27FC236}">
                <a16:creationId xmlns:a16="http://schemas.microsoft.com/office/drawing/2014/main" id="{31588F2D-A0B9-4F1B-A410-F5C1470DEDB8}"/>
              </a:ext>
            </a:extLst>
          </p:cNvPr>
          <p:cNvSpPr>
            <a:spLocks xmlns:a="http://schemas.openxmlformats.org/drawingml/2006/main" noGrp="1"/>
          </p:cNvSpPr>
          <p:nvPr/>
        </p:nvSpPr>
        <p:spPr>
          <a:xfrm xmlns:a="http://schemas.openxmlformats.org/drawingml/2006/main">
            <a:off x="723900" y="1676400"/>
            <a:ext cx="5810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245EFF"/>
                </a:solidFill>
                <a:latin typeface="IBM Plex Sans"/>
                <a:ea typeface="IBM Plex Sans"/>
                <a:cs typeface="IBM Plex Sans"/>
              </a:defRPr>
            </a:defPPr>
          </a:lstStyle>
          <a:p xmlns:a="http://schemas.openxmlformats.org/drawingml/2006/main">
            <a:pPr algn="l">
              <a:defRPr sz="2250" b="1">
                <a:solidFill>
                  <a:srgbClr val="245EFF"/>
                </a:solidFill>
                <a:latin typeface="IBM Plex Sans"/>
                <a:ea typeface="IBM Plex Sans"/>
                <a:cs typeface="IBM Plex Sans"/>
              </a:defRPr>
            </a:pPr>
            <a:r>
              <a:rPr sz="2250" b="1">
                <a:solidFill>
                  <a:srgbClr val="245EFF"/>
                </a:solidFill>
                <a:latin typeface="IBM Plex Sans"/>
                <a:ea typeface="IBM Plex Sans"/>
                <a:cs typeface="IBM Plex Sans"/>
              </a:rPr>
              <a:t>A shared participant error</a:t>
            </a:r>
          </a:p>
        </p:txBody>
      </p:sp>
      <p:sp>
        <p:nvSpPr>
          <p:cNvPr id="5" name="One factor explains 75.6% of offset variance in Stephenson. Anch">
            <a:extLst xmlns:a="http://schemas.openxmlformats.org/drawingml/2006/main">
              <a:ext uri="{FF2B5EF4-FFF2-40B4-BE49-F238E27FC236}">
                <a16:creationId xmlns:a16="http://schemas.microsoft.com/office/drawing/2014/main" id="{561599CD-141B-46B2-A84D-EA41ADE85DAD}"/>
              </a:ext>
            </a:extLst>
          </p:cNvPr>
          <p:cNvSpPr>
            <a:spLocks xmlns:a="http://schemas.openxmlformats.org/drawingml/2006/main" noGrp="1"/>
          </p:cNvSpPr>
          <p:nvPr/>
        </p:nvSpPr>
        <p:spPr>
          <a:xfrm xmlns:a="http://schemas.openxmlformats.org/drawingml/2006/main">
            <a:off x="723900" y="2257425"/>
            <a:ext cx="5724525"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D2433"/>
                </a:solidFill>
                <a:latin typeface="IBM Plex Sans"/>
                <a:ea typeface="IBM Plex Sans"/>
                <a:cs typeface="IBM Plex Sans"/>
              </a:defRPr>
            </a:defPPr>
          </a:lstStyle>
          <a:p xmlns:a="http://schemas.openxmlformats.org/drawingml/2006/main">
            <a:pPr algn="l">
              <a:defRPr sz="2100" b="0">
                <a:solidFill>
                  <a:srgbClr val="1D2433"/>
                </a:solidFill>
                <a:latin typeface="IBM Plex Sans"/>
                <a:ea typeface="IBM Plex Sans"/>
                <a:cs typeface="IBM Plex Sans"/>
              </a:defRPr>
            </a:pPr>
            <a:r>
              <a:rPr sz="2100" b="0">
                <a:solidFill>
                  <a:srgbClr val="1D2433"/>
                </a:solidFill>
                <a:latin typeface="IBM Plex Sans"/>
                <a:ea typeface="IBM Plex Sans"/>
                <a:cs typeface="IBM Plex Sans"/>
              </a:rPr>
              <a:t>One factor explains 75.6% of offset variance in Stephenson. Anchors can reveal this shared shift.</a:t>
            </a:r>
          </a:p>
        </p:txBody>
      </p:sp>
      <p:sp>
        <p:nvSpPr>
          <p:cNvPr id="6" name="Cells share their participant">
            <a:extLst xmlns:a="http://schemas.openxmlformats.org/drawingml/2006/main">
              <a:ext uri="{FF2B5EF4-FFF2-40B4-BE49-F238E27FC236}">
                <a16:creationId xmlns:a16="http://schemas.microsoft.com/office/drawing/2014/main" id="{923636E2-5BC5-4F98-A939-0D9A3FE63487}"/>
              </a:ext>
            </a:extLst>
          </p:cNvPr>
          <p:cNvSpPr>
            <a:spLocks xmlns:a="http://schemas.openxmlformats.org/drawingml/2006/main" noGrp="1"/>
          </p:cNvSpPr>
          <p:nvPr/>
        </p:nvSpPr>
        <p:spPr>
          <a:xfrm xmlns:a="http://schemas.openxmlformats.org/drawingml/2006/main">
            <a:off x="723900" y="3752850"/>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245EFF"/>
                </a:solidFill>
                <a:latin typeface="IBM Plex Sans"/>
                <a:ea typeface="IBM Plex Sans"/>
                <a:cs typeface="IBM Plex Sans"/>
              </a:defRPr>
            </a:defPPr>
          </a:lstStyle>
          <a:p xmlns:a="http://schemas.openxmlformats.org/drawingml/2006/main">
            <a:pPr algn="l">
              <a:defRPr sz="2250" b="1">
                <a:solidFill>
                  <a:srgbClr val="245EFF"/>
                </a:solidFill>
                <a:latin typeface="IBM Plex Sans"/>
                <a:ea typeface="IBM Plex Sans"/>
                <a:cs typeface="IBM Plex Sans"/>
              </a:defRPr>
            </a:pPr>
            <a:r>
              <a:rPr sz="2250" b="1">
                <a:solidFill>
                  <a:srgbClr val="245EFF"/>
                </a:solidFill>
                <a:latin typeface="IBM Plex Sans"/>
                <a:ea typeface="IBM Plex Sans"/>
                <a:cs typeface="IBM Plex Sans"/>
              </a:rPr>
              <a:t>Cells share their participant</a:t>
            </a:r>
          </a:p>
        </p:txBody>
      </p:sp>
      <p:sp>
        <p:nvSpPr>
          <p:cNvPr id="7" name="Calibrating whole participants accounts for dependence that pool">
            <a:extLst xmlns:a="http://schemas.openxmlformats.org/drawingml/2006/main">
              <a:ext uri="{FF2B5EF4-FFF2-40B4-BE49-F238E27FC236}">
                <a16:creationId xmlns:a16="http://schemas.microsoft.com/office/drawing/2014/main" id="{D6BE76B4-3432-43D0-8F6D-D35B7AE4B71D}"/>
              </a:ext>
            </a:extLst>
          </p:cNvPr>
          <p:cNvSpPr>
            <a:spLocks xmlns:a="http://schemas.openxmlformats.org/drawingml/2006/main" noGrp="1"/>
          </p:cNvSpPr>
          <p:nvPr/>
        </p:nvSpPr>
        <p:spPr>
          <a:xfrm xmlns:a="http://schemas.openxmlformats.org/drawingml/2006/main">
            <a:off x="723900" y="4314825"/>
            <a:ext cx="57245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D2433"/>
                </a:solidFill>
                <a:latin typeface="IBM Plex Sans"/>
                <a:ea typeface="IBM Plex Sans"/>
                <a:cs typeface="IBM Plex Sans"/>
              </a:defRPr>
            </a:defPPr>
          </a:lstStyle>
          <a:p xmlns:a="http://schemas.openxmlformats.org/drawingml/2006/main">
            <a:pPr algn="l">
              <a:defRPr sz="2100" b="0">
                <a:solidFill>
                  <a:srgbClr val="1D2433"/>
                </a:solidFill>
                <a:latin typeface="IBM Plex Sans"/>
                <a:ea typeface="IBM Plex Sans"/>
                <a:cs typeface="IBM Plex Sans"/>
              </a:defRPr>
            </a:pPr>
            <a:r>
              <a:rPr sz="2100" b="0">
                <a:solidFill>
                  <a:srgbClr val="1D2433"/>
                </a:solidFill>
                <a:latin typeface="IBM Plex Sans"/>
                <a:ea typeface="IBM Plex Sans"/>
                <a:cs typeface="IBM Plex Sans"/>
              </a:rPr>
              <a:t>Calibrating whole participants accounts for dependence that pooled-cell calibration overlooks.</a:t>
            </a:r>
          </a:p>
        </p:txBody>
      </p:sp>
      <p:sp>
        <p:nvSpPr>
          <p:cNvPr id="8" name="4  Rationale     A depth association supports a technical contri">
            <a:extLst xmlns:a="http://schemas.openxmlformats.org/drawingml/2006/main">
              <a:ext uri="{FF2B5EF4-FFF2-40B4-BE49-F238E27FC236}">
                <a16:creationId xmlns:a16="http://schemas.microsoft.com/office/drawing/2014/main" id="{3B5F452A-CDBB-49C6-BB8B-5153A8D1DB44}"/>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4  Rationale     A depth association supports a technical contribution, but does not establish a purely technical cause.</a:t>
            </a:r>
          </a:p>
        </p:txBody>
      </p:sp>
      <p:sp>
        <p:nvSpPr>
          <p:cNvPr id="9" name="6 / 11">
            <a:extLst xmlns:a="http://schemas.openxmlformats.org/drawingml/2006/main">
              <a:ext uri="{FF2B5EF4-FFF2-40B4-BE49-F238E27FC236}">
                <a16:creationId xmlns:a16="http://schemas.microsoft.com/office/drawing/2014/main" id="{098684CA-6974-4467-B69F-6394C92B4B05}"/>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6 / 11</a:t>
            </a:r>
          </a:p>
        </p:txBody>
      </p:sp>
    </p:spTree>
    <p:extLst>
      <p:ext uri="{BB962C8B-B14F-4D97-AF65-F5344CB8AC3E}">
        <p14:creationId xmlns:p14="http://schemas.microsoft.com/office/powerpoint/2010/main" val="900114804"/>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Accuracy and reliability improved in both cohorts">
            <a:extLst xmlns:a="http://schemas.openxmlformats.org/drawingml/2006/main">
              <a:ext uri="{FF2B5EF4-FFF2-40B4-BE49-F238E27FC236}">
                <a16:creationId xmlns:a16="http://schemas.microsoft.com/office/drawing/2014/main" id="{A14A0F35-2C82-4AEB-B1ED-C2EB490ABCCE}"/>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Accuracy and reliability improved in both cohorts</a:t>
            </a:r>
          </a:p>
        </p:txBody>
      </p:sp>
      <p:sp>
        <p:nvSpPr>
          <p:cNvPr id="2" name="">
            <a:extLst xmlns:a="http://schemas.openxmlformats.org/drawingml/2006/main">
              <a:ext uri="{FF2B5EF4-FFF2-40B4-BE49-F238E27FC236}">
                <a16:creationId xmlns:a16="http://schemas.microsoft.com/office/drawing/2014/main" id="{7E565411-7B1D-490A-A4EE-2068D9F6BC98}"/>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Prediction error">
            <a:extLst xmlns:a="http://schemas.openxmlformats.org/drawingml/2006/main">
              <a:ext uri="{FF2B5EF4-FFF2-40B4-BE49-F238E27FC236}">
                <a16:creationId xmlns:a16="http://schemas.microsoft.com/office/drawing/2014/main" id="{BC662578-3816-450E-A6BC-EA86337E18D3}"/>
              </a:ext>
            </a:extLst>
          </p:cNvPr>
          <p:cNvSpPr>
            <a:spLocks xmlns:a="http://schemas.openxmlformats.org/drawingml/2006/main" noGrp="1"/>
          </p:cNvSpPr>
          <p:nvPr/>
        </p:nvSpPr>
        <p:spPr>
          <a:xfrm xmlns:a="http://schemas.openxmlformats.org/drawingml/2006/main">
            <a:off x="723900" y="15335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245EFF"/>
                </a:solidFill>
                <a:latin typeface="IBM Plex Sans"/>
                <a:ea typeface="IBM Plex Sans"/>
                <a:cs typeface="IBM Plex Sans"/>
              </a:defRPr>
            </a:defPPr>
          </a:lstStyle>
          <a:p xmlns:a="http://schemas.openxmlformats.org/drawingml/2006/main">
            <a:pPr algn="l">
              <a:defRPr sz="2100" b="1">
                <a:solidFill>
                  <a:srgbClr val="245EFF"/>
                </a:solidFill>
                <a:latin typeface="IBM Plex Sans"/>
                <a:ea typeface="IBM Plex Sans"/>
                <a:cs typeface="IBM Plex Sans"/>
              </a:defRPr>
            </a:pPr>
            <a:r>
              <a:rPr sz="2100" b="1">
                <a:solidFill>
                  <a:srgbClr val="245EFF"/>
                </a:solidFill>
                <a:latin typeface="IBM Plex Sans"/>
                <a:ea typeface="IBM Plex Sans"/>
                <a:cs typeface="IBM Plex Sans"/>
              </a:rPr>
              <a:t>Prediction error</a:t>
            </a:r>
          </a:p>
        </p:txBody>
      </p:sp>
      <p:sp>
        <p:nvSpPr>
          <p:cNvPr id="4" name="Ridge RMSE on log protein counts; lower is better">
            <a:extLst xmlns:a="http://schemas.openxmlformats.org/drawingml/2006/main">
              <a:ext uri="{FF2B5EF4-FFF2-40B4-BE49-F238E27FC236}">
                <a16:creationId xmlns:a16="http://schemas.microsoft.com/office/drawing/2014/main" id="{FB8F43A5-44EE-44FE-B848-D71CD0C5A1F8}"/>
              </a:ext>
            </a:extLst>
          </p:cNvPr>
          <p:cNvSpPr>
            <a:spLocks xmlns:a="http://schemas.openxmlformats.org/drawingml/2006/main" noGrp="1"/>
          </p:cNvSpPr>
          <p:nvPr/>
        </p:nvSpPr>
        <p:spPr>
          <a:xfrm xmlns:a="http://schemas.openxmlformats.org/drawingml/2006/main">
            <a:off x="723900" y="1952625"/>
            <a:ext cx="52292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650" b="0">
                <a:solidFill>
                  <a:srgbClr val="1D2433"/>
                </a:solidFill>
                <a:latin typeface="IBM Plex Sans"/>
                <a:ea typeface="IBM Plex Sans"/>
                <a:cs typeface="IBM Plex Sans"/>
              </a:defRPr>
            </a:defPPr>
          </a:lstStyle>
          <a:p xmlns:a="http://schemas.openxmlformats.org/drawingml/2006/main">
            <a:pPr algn="l">
              <a:defRPr sz="1650" b="0">
                <a:solidFill>
                  <a:srgbClr val="1D2433"/>
                </a:solidFill>
                <a:latin typeface="IBM Plex Sans"/>
                <a:ea typeface="IBM Plex Sans"/>
                <a:cs typeface="IBM Plex Sans"/>
              </a:defRPr>
            </a:pPr>
            <a:r>
              <a:rPr sz="1650" b="0">
                <a:solidFill>
                  <a:srgbClr val="1D2433"/>
                </a:solidFill>
                <a:latin typeface="IBM Plex Sans"/>
                <a:ea typeface="IBM Plex Sans"/>
                <a:cs typeface="IBM Plex Sans"/>
              </a:rPr>
              <a:t>Ridge RMSE on log protein counts; lower is better</a:t>
            </a:r>
          </a:p>
        </p:txBody>
      </p:sp>
      <p:sp>
        <p:nvSpPr>
          <p:cNvPr id="5" name="Participant reliability">
            <a:extLst xmlns:a="http://schemas.openxmlformats.org/drawingml/2006/main">
              <a:ext uri="{FF2B5EF4-FFF2-40B4-BE49-F238E27FC236}">
                <a16:creationId xmlns:a16="http://schemas.microsoft.com/office/drawing/2014/main" id="{CFA24C44-631E-4194-B7C2-F85A01C84C50}"/>
              </a:ext>
            </a:extLst>
          </p:cNvPr>
          <p:cNvSpPr>
            <a:spLocks xmlns:a="http://schemas.openxmlformats.org/drawingml/2006/main" noGrp="1"/>
          </p:cNvSpPr>
          <p:nvPr/>
        </p:nvSpPr>
        <p:spPr>
          <a:xfrm xmlns:a="http://schemas.openxmlformats.org/drawingml/2006/main">
            <a:off x="6572250" y="1533525"/>
            <a:ext cx="49149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245EFF"/>
                </a:solidFill>
                <a:latin typeface="IBM Plex Sans"/>
                <a:ea typeface="IBM Plex Sans"/>
                <a:cs typeface="IBM Plex Sans"/>
              </a:defRPr>
            </a:defPPr>
          </a:lstStyle>
          <a:p xmlns:a="http://schemas.openxmlformats.org/drawingml/2006/main">
            <a:pPr algn="l">
              <a:defRPr sz="2100" b="1">
                <a:solidFill>
                  <a:srgbClr val="245EFF"/>
                </a:solidFill>
                <a:latin typeface="IBM Plex Sans"/>
                <a:ea typeface="IBM Plex Sans"/>
                <a:cs typeface="IBM Plex Sans"/>
              </a:defRPr>
            </a:pPr>
            <a:r>
              <a:rPr sz="2100" b="1">
                <a:solidFill>
                  <a:srgbClr val="245EFF"/>
                </a:solidFill>
                <a:latin typeface="IBM Plex Sans"/>
                <a:ea typeface="IBM Plex Sans"/>
                <a:cs typeface="IBM Plex Sans"/>
              </a:rPr>
              <a:t>Participant reliability</a:t>
            </a:r>
          </a:p>
        </p:txBody>
      </p:sp>
      <p:sp>
        <p:nvSpPr>
          <p:cNvPr id="6" name="Share reaching 90% cell coverage per protein">
            <a:extLst xmlns:a="http://schemas.openxmlformats.org/drawingml/2006/main">
              <a:ext uri="{FF2B5EF4-FFF2-40B4-BE49-F238E27FC236}">
                <a16:creationId xmlns:a16="http://schemas.microsoft.com/office/drawing/2014/main" id="{E878C1F9-113E-41BC-BCED-63D6E2082500}"/>
              </a:ext>
            </a:extLst>
          </p:cNvPr>
          <p:cNvSpPr>
            <a:spLocks xmlns:a="http://schemas.openxmlformats.org/drawingml/2006/main" noGrp="1"/>
          </p:cNvSpPr>
          <p:nvPr/>
        </p:nvSpPr>
        <p:spPr>
          <a:xfrm xmlns:a="http://schemas.openxmlformats.org/drawingml/2006/main">
            <a:off x="6572250" y="1952625"/>
            <a:ext cx="48958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650" b="0">
                <a:solidFill>
                  <a:srgbClr val="1D2433"/>
                </a:solidFill>
                <a:latin typeface="IBM Plex Sans"/>
                <a:ea typeface="IBM Plex Sans"/>
                <a:cs typeface="IBM Plex Sans"/>
              </a:defRPr>
            </a:defPPr>
          </a:lstStyle>
          <a:p xmlns:a="http://schemas.openxmlformats.org/drawingml/2006/main">
            <a:pPr algn="l">
              <a:defRPr sz="1650" b="0">
                <a:solidFill>
                  <a:srgbClr val="1D2433"/>
                </a:solidFill>
                <a:latin typeface="IBM Plex Sans"/>
                <a:ea typeface="IBM Plex Sans"/>
                <a:cs typeface="IBM Plex Sans"/>
              </a:defRPr>
            </a:pPr>
            <a:r>
              <a:rPr sz="1650" b="0">
                <a:solidFill>
                  <a:srgbClr val="1D2433"/>
                </a:solidFill>
                <a:latin typeface="IBM Plex Sans"/>
                <a:ea typeface="IBM Plex Sans"/>
                <a:cs typeface="IBM Plex Sans"/>
              </a:rPr>
              <a:t>Share reaching 90% cell coverage per protein</a:t>
            </a:r>
          </a:p>
        </p:txBody>
      </p:sp>
      <p:graphicFrame>
        <p:nvGraphicFramePr>
          <p:cNvPr id="7" name="Chart">
            <a:extLst xmlns:a="http://schemas.openxmlformats.org/drawingml/2006/main">
              <a:ext uri="{FF2B5EF4-FFF2-40B4-BE49-F238E27FC236}">
                <a16:creationId xmlns:a16="http://schemas.microsoft.com/office/drawing/2014/main" id="{2FB48C46-2825-4F91-824F-823E79469521}"/>
              </a:ext>
            </a:extLst>
          </p:cNvPr>
          <p:cNvGraphicFramePr/>
          <p:nvPr/>
        </p:nvGraphicFramePr>
        <p:xfrm>
          <a:off xmlns:a="http://schemas.openxmlformats.org/drawingml/2006/main" x="657225" y="2571750"/>
          <a:ext xmlns:a="http://schemas.openxmlformats.org/drawingml/2006/main" cx="5238750" cy="2971800"/>
        </p:xfrm>
        <a:graphic xmlns:a="http://schemas.openxmlformats.org/drawingml/2006/main">
          <a:graphicData uri="http://schemas.openxmlformats.org/drawingml/2006/chart">
            <c:chart xmlns:r="http://schemas.openxmlformats.org/officeDocument/2006/relationships" xmlns:c="http://schemas.openxmlformats.org/drawingml/2006/chart" r:id="Rb9e9af4f5686414c"/>
          </a:graphicData>
        </a:graphic>
      </p:graphicFrame>
      <p:graphicFrame>
        <p:nvGraphicFramePr>
          <p:cNvPr id="8" name="Chart">
            <a:extLst xmlns:a="http://schemas.openxmlformats.org/drawingml/2006/main">
              <a:ext uri="{FF2B5EF4-FFF2-40B4-BE49-F238E27FC236}">
                <a16:creationId xmlns:a16="http://schemas.microsoft.com/office/drawing/2014/main" id="{CCA41BB5-572A-493A-A831-DD916D11465A}"/>
              </a:ext>
            </a:extLst>
          </p:cNvPr>
          <p:cNvGraphicFramePr/>
          <p:nvPr/>
        </p:nvGraphicFramePr>
        <p:xfrm>
          <a:off xmlns:a="http://schemas.openxmlformats.org/drawingml/2006/main" x="6515100" y="2571750"/>
          <a:ext xmlns:a="http://schemas.openxmlformats.org/drawingml/2006/main" cx="4953000" cy="2971800"/>
        </p:xfrm>
        <a:graphic xmlns:a="http://schemas.openxmlformats.org/drawingml/2006/main">
          <a:graphicData uri="http://schemas.openxmlformats.org/drawingml/2006/chart">
            <c:chart xmlns:r="http://schemas.openxmlformats.org/officeDocument/2006/relationships" xmlns:c="http://schemas.openxmlformats.org/drawingml/2006/chart" r:id="R5838bfe628f340ef"/>
          </a:graphicData>
        </a:graphic>
      </p:graphicFrame>
      <p:sp>
        <p:nvSpPr>
          <p:cNvPr id="9" name="Left: add measurements. Right: change calibration on identical m">
            <a:extLst xmlns:a="http://schemas.openxmlformats.org/drawingml/2006/main">
              <a:ext uri="{FF2B5EF4-FFF2-40B4-BE49-F238E27FC236}">
                <a16:creationId xmlns:a16="http://schemas.microsoft.com/office/drawing/2014/main" id="{7CDBABC3-07E6-440B-94D2-265CDFE99394}"/>
              </a:ext>
            </a:extLst>
          </p:cNvPr>
          <p:cNvSpPr>
            <a:spLocks xmlns:a="http://schemas.openxmlformats.org/drawingml/2006/main" noGrp="1"/>
          </p:cNvSpPr>
          <p:nvPr/>
        </p:nvSpPr>
        <p:spPr>
          <a:xfrm xmlns:a="http://schemas.openxmlformats.org/drawingml/2006/main">
            <a:off x="723900" y="578167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1D2433"/>
                </a:solidFill>
                <a:latin typeface="IBM Plex Sans"/>
                <a:ea typeface="IBM Plex Sans"/>
                <a:cs typeface="IBM Plex Sans"/>
              </a:defRPr>
            </a:defPPr>
          </a:lstStyle>
          <a:p xmlns:a="http://schemas.openxmlformats.org/drawingml/2006/main">
            <a:pPr algn="l">
              <a:defRPr sz="1875" b="1">
                <a:solidFill>
                  <a:srgbClr val="1D2433"/>
                </a:solidFill>
                <a:latin typeface="IBM Plex Sans"/>
                <a:ea typeface="IBM Plex Sans"/>
                <a:cs typeface="IBM Plex Sans"/>
              </a:defRPr>
            </a:pPr>
            <a:r>
              <a:rPr sz="1875" b="1">
                <a:solidFill>
                  <a:srgbClr val="1D2433"/>
                </a:solidFill>
                <a:latin typeface="IBM Plex Sans"/>
                <a:ea typeface="IBM Plex Sans"/>
                <a:cs typeface="IBM Plex Sans"/>
              </a:rPr>
              <a:t>Left: add measurements. Right: change calibration on identical measured-input ridge predictions.</a:t>
            </a:r>
          </a:p>
        </p:txBody>
      </p:sp>
      <p:sp>
        <p:nvSpPr>
          <p:cNvPr id="10" name="5  Results     Means from the supplied report. Reliability is a ">
            <a:extLst xmlns:a="http://schemas.openxmlformats.org/drawingml/2006/main">
              <a:ext uri="{FF2B5EF4-FFF2-40B4-BE49-F238E27FC236}">
                <a16:creationId xmlns:a16="http://schemas.microsoft.com/office/drawing/2014/main" id="{CC95CE1F-5DB0-4C3B-BDFF-6E820F492D74}"/>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5  Results     Means from the supplied report. Reliability is a coverage metric, not classification accuracy.</a:t>
            </a:r>
          </a:p>
        </p:txBody>
      </p:sp>
      <p:sp>
        <p:nvSpPr>
          <p:cNvPr id="11" name="7 / 11">
            <a:extLst xmlns:a="http://schemas.openxmlformats.org/drawingml/2006/main">
              <a:ext uri="{FF2B5EF4-FFF2-40B4-BE49-F238E27FC236}">
                <a16:creationId xmlns:a16="http://schemas.microsoft.com/office/drawing/2014/main" id="{B3AD5E6A-0A61-458D-B197-435F06AE1B83}"/>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7 / 11</a:t>
            </a:r>
          </a:p>
        </p:txBody>
      </p:sp>
    </p:spTree>
    <p:extLst>
      <p:ext uri="{BB962C8B-B14F-4D97-AF65-F5344CB8AC3E}">
        <p14:creationId xmlns:p14="http://schemas.microsoft.com/office/powerpoint/2010/main" val="1633636788"/>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Biomarker decisions remain selective">
            <a:extLst xmlns:a="http://schemas.openxmlformats.org/drawingml/2006/main">
              <a:ext uri="{FF2B5EF4-FFF2-40B4-BE49-F238E27FC236}">
                <a16:creationId xmlns:a16="http://schemas.microsoft.com/office/drawing/2014/main" id="{518AD088-1033-4FF8-990A-578ADE19C1B9}"/>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Biomarker decisions remain selective</a:t>
            </a:r>
          </a:p>
        </p:txBody>
      </p:sp>
      <p:sp>
        <p:nvSpPr>
          <p:cNvPr id="2" name="">
            <a:extLst xmlns:a="http://schemas.openxmlformats.org/drawingml/2006/main">
              <a:ext uri="{FF2B5EF4-FFF2-40B4-BE49-F238E27FC236}">
                <a16:creationId xmlns:a16="http://schemas.microsoft.com/office/drawing/2014/main" id="{D48415E4-9E58-4DA5-8739-6593545F6D44}"/>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EDAE6FED-542D-426A-9EC1-A9D4F9D9D95F}"/>
              </a:ext>
            </a:extLst>
          </p:cNvPr>
          <p:cNvPicPr>
            <a:picLocks xmlns:a="http://schemas.openxmlformats.org/drawingml/2006/main" noChangeAspect="1"/>
          </p:cNvPicPr>
          <p:nvPr/>
        </p:nvPicPr>
        <p:blipFill>
          <a:blip xmlns:r="http://schemas.openxmlformats.org/officeDocument/2006/relationships" xmlns:a="http://schemas.openxmlformats.org/drawingml/2006/main" r:embed="R89467dc87a824f26"/>
          <a:stretch xmlns:a="http://schemas.openxmlformats.org/drawingml/2006/main"/>
        </p:blipFill>
        <p:spPr>
          <a:xfrm xmlns:a="http://schemas.openxmlformats.org/drawingml/2006/main">
            <a:off x="1603195" y="1619250"/>
            <a:ext cx="4813660" cy="3943350"/>
          </a:xfrm>
          <a:prstGeom xmlns:a="http://schemas.openxmlformats.org/drawingml/2006/main" prst="rect">
            <a:avLst/>
          </a:prstGeom>
        </p:spPr>
      </p:pic>
      <p:sp>
        <p:nvSpPr>
          <p:cNvPr id="4" name="At the same 27% call rate">
            <a:extLst xmlns:a="http://schemas.openxmlformats.org/drawingml/2006/main">
              <a:ext uri="{FF2B5EF4-FFF2-40B4-BE49-F238E27FC236}">
                <a16:creationId xmlns:a16="http://schemas.microsoft.com/office/drawing/2014/main" id="{441CB8D2-265A-427E-86F2-5C7E68AF4EE1}"/>
              </a:ext>
            </a:extLst>
          </p:cNvPr>
          <p:cNvSpPr>
            <a:spLocks xmlns:a="http://schemas.openxmlformats.org/drawingml/2006/main" noGrp="1"/>
          </p:cNvSpPr>
          <p:nvPr/>
        </p:nvSpPr>
        <p:spPr>
          <a:xfrm xmlns:a="http://schemas.openxmlformats.org/drawingml/2006/main">
            <a:off x="7667625" y="1695450"/>
            <a:ext cx="37433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245EFF"/>
                </a:solidFill>
                <a:latin typeface="IBM Plex Sans"/>
                <a:ea typeface="IBM Plex Sans"/>
                <a:cs typeface="IBM Plex Sans"/>
              </a:defRPr>
            </a:defPPr>
          </a:lstStyle>
          <a:p xmlns:a="http://schemas.openxmlformats.org/drawingml/2006/main">
            <a:pPr algn="l">
              <a:defRPr sz="2175" b="1">
                <a:solidFill>
                  <a:srgbClr val="245EFF"/>
                </a:solidFill>
                <a:latin typeface="IBM Plex Sans"/>
                <a:ea typeface="IBM Plex Sans"/>
                <a:cs typeface="IBM Plex Sans"/>
              </a:defRPr>
            </a:pPr>
            <a:r>
              <a:rPr sz="2175" b="1">
                <a:solidFill>
                  <a:srgbClr val="245EFF"/>
                </a:solidFill>
                <a:latin typeface="IBM Plex Sans"/>
                <a:ea typeface="IBM Plex Sans"/>
                <a:cs typeface="IBM Plex Sans"/>
              </a:rPr>
              <a:t>At the same 27% call rate</a:t>
            </a:r>
          </a:p>
        </p:txBody>
      </p:sp>
      <p:graphicFrame>
        <p:nvGraphicFramePr>
          <p:cNvPr id="5" name="">
            <a:extLst xmlns:a="http://schemas.openxmlformats.org/drawingml/2006/main">
              <a:ext uri="{FF2B5EF4-FFF2-40B4-BE49-F238E27FC236}">
                <a16:creationId xmlns:a16="http://schemas.microsoft.com/office/drawing/2014/main" id="{D92A26F1-6FFA-426B-AAFC-D4D86819035A}"/>
              </a:ext>
            </a:extLst>
          </p:cNvPr>
          <p:cNvGraphicFramePr/>
          <p:nvPr/>
        </p:nvGraphicFramePr>
        <p:xfrm>
          <a:off xmlns:a="http://schemas.openxmlformats.org/drawingml/2006/main" x="7610475" y="2667000"/>
          <a:ext xmlns:a="http://schemas.openxmlformats.org/drawingml/2006/main" cx="3857625" cy="2228850"/>
        </p:xfrm>
        <a:graphic xmlns:a="http://schemas.openxmlformats.org/drawingml/2006/main">
          <a:graphicData uri="http://schemas.openxmlformats.org/drawingml/2006/table">
            <a:tbl>
              <a:tblPr/>
              <a:tblGrid>
                <a:gridCol w="2266950"/>
                <a:gridCol w="1590675"/>
              </a:tblGrid>
              <a:tr h="557213">
                <a:tc>
                  <a:txBody>
                    <a:bodyPr lIns="114300" tIns="85725" rIns="95250" bIns="76200"/>
                    <a:lstStyle/>
                    <a:p>
                      <a:r>
                        <a:rPr sz="1500" b="1">
                          <a:solidFill>
                            <a:srgbClr val="1D2433"/>
                          </a:solidFill>
                          <a:latin typeface="IBM Plex Sans"/>
                          <a:ea typeface="IBM Plex Sans"/>
                          <a:cs typeface="IBM Plex Sans"/>
                        </a:rPr>
                        <a:t>Selection</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Call error</a:t>
                      </a:r>
                    </a:p>
                  </a:txBody>
                  <a:tcPr marL="91440" marR="91440" marT="45720" marB="45720" anchor="ctr">
                    <a:solidFill>
                      <a:srgbClr val="EDF2FF"/>
                    </a:solidFill>
                  </a:tcPr>
                </a:tc>
              </a:tr>
              <a:tr h="557213">
                <a:tc>
                  <a:txBody>
                    <a:bodyPr lIns="114300" tIns="85725" rIns="95250" bIns="76200"/>
                    <a:lstStyle/>
                    <a:p>
                      <a:r>
                        <a:rPr sz="1650" b="0">
                          <a:solidFill>
                            <a:srgbClr val="1D2433"/>
                          </a:solidFill>
                          <a:latin typeface="IBM Plex Sans"/>
                          <a:ea typeface="IBM Plex Sans"/>
                          <a:cs typeface="IBM Plex Sans"/>
                        </a:rPr>
                        <a:t>Random</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31.7–32.9%</a:t>
                      </a:r>
                    </a:p>
                  </a:txBody>
                  <a:tcPr marL="91440" marR="91440" marT="45720" marB="45720" anchor="ctr">
                    <a:solidFill>
                      <a:srgbClr val="FFFFFF"/>
                    </a:solidFill>
                  </a:tcPr>
                </a:tc>
              </a:tr>
              <a:tr h="557213">
                <a:tc>
                  <a:txBody>
                    <a:bodyPr lIns="114300" tIns="85725" rIns="95250" bIns="76200"/>
                    <a:lstStyle/>
                    <a:p>
                      <a:r>
                        <a:rPr sz="1650" b="0">
                          <a:solidFill>
                            <a:srgbClr val="1D2433"/>
                          </a:solidFill>
                          <a:latin typeface="IBM Plex Sans"/>
                          <a:ea typeface="IBM Plex Sans"/>
                          <a:cs typeface="IBM Plex Sans"/>
                        </a:rPr>
                        <a:t>Anchor correction</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4.7–6.6%</a:t>
                      </a:r>
                    </a:p>
                  </a:txBody>
                  <a:tcPr marL="91440" marR="91440" marT="45720" marB="45720" anchor="ctr">
                    <a:solidFill>
                      <a:srgbClr val="FFFFFF"/>
                    </a:solidFill>
                  </a:tcPr>
                </a:tc>
              </a:tr>
              <a:tr h="557213">
                <a:tc>
                  <a:txBody>
                    <a:bodyPr lIns="114300" tIns="85725" rIns="95250" bIns="76200"/>
                    <a:lstStyle/>
                    <a:p>
                      <a:r>
                        <a:rPr sz="1650" b="0">
                          <a:solidFill>
                            <a:srgbClr val="1D2433"/>
                          </a:solidFill>
                          <a:latin typeface="IBM Plex Sans"/>
                          <a:ea typeface="IBM Plex Sans"/>
                          <a:cs typeface="IBM Plex Sans"/>
                        </a:rPr>
                        <a:t>ProteoGuard</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2.1–2.2%</a:t>
                      </a:r>
                    </a:p>
                  </a:txBody>
                  <a:tcPr marL="91440" marR="91440" marT="45720" marB="45720" anchor="ctr">
                    <a:solidFill>
                      <a:srgbClr val="FFFFFF"/>
                    </a:solidFill>
                  </a:tcPr>
                </a:tc>
              </a:tr>
            </a:tbl>
          </a:graphicData>
        </a:graphic>
      </p:graphicFrame>
      <p:sp>
        <p:nvSpPr>
          <p:cNvPr id="6" name="COMBAT: only 5–9% of decisions called, with 5–9% observed error.">
            <a:extLst xmlns:a="http://schemas.openxmlformats.org/drawingml/2006/main">
              <a:ext uri="{FF2B5EF4-FFF2-40B4-BE49-F238E27FC236}">
                <a16:creationId xmlns:a16="http://schemas.microsoft.com/office/drawing/2014/main" id="{2A93877B-56DA-4DD3-8AC5-2334F5E4AA7A}"/>
              </a:ext>
            </a:extLst>
          </p:cNvPr>
          <p:cNvSpPr>
            <a:spLocks xmlns:a="http://schemas.openxmlformats.org/drawingml/2006/main" noGrp="1"/>
          </p:cNvSpPr>
          <p:nvPr/>
        </p:nvSpPr>
        <p:spPr>
          <a:xfrm xmlns:a="http://schemas.openxmlformats.org/drawingml/2006/main">
            <a:off x="723900" y="577215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1D2433"/>
                </a:solidFill>
                <a:latin typeface="IBM Plex Sans"/>
                <a:ea typeface="IBM Plex Sans"/>
                <a:cs typeface="IBM Plex Sans"/>
              </a:defRPr>
            </a:defPPr>
          </a:lstStyle>
          <a:p xmlns:a="http://schemas.openxmlformats.org/drawingml/2006/main">
            <a:pPr algn="l">
              <a:defRPr sz="2100" b="1">
                <a:solidFill>
                  <a:srgbClr val="1D2433"/>
                </a:solidFill>
                <a:latin typeface="IBM Plex Sans"/>
                <a:ea typeface="IBM Plex Sans"/>
                <a:cs typeface="IBM Plex Sans"/>
              </a:defRPr>
            </a:pPr>
            <a:r>
              <a:rPr sz="2100" b="1">
                <a:solidFill>
                  <a:srgbClr val="1D2433"/>
                </a:solidFill>
                <a:latin typeface="IBM Plex Sans"/>
                <a:ea typeface="IBM Plex Sans"/>
                <a:cs typeface="IBM Plex Sans"/>
              </a:rPr>
              <a:t>COMBAT: only 5–9% of decisions called, with 5–9% observed error.</a:t>
            </a:r>
          </a:p>
        </p:txBody>
      </p:sp>
      <p:sp>
        <p:nvSpPr>
          <p:cNvPr id="7" name="Lower curves mean fewer errors at the same call rate. Blue = Pro">
            <a:extLst xmlns:a="http://schemas.openxmlformats.org/drawingml/2006/main">
              <a:ext uri="{FF2B5EF4-FFF2-40B4-BE49-F238E27FC236}">
                <a16:creationId xmlns:a16="http://schemas.microsoft.com/office/drawing/2014/main" id="{3F39CE7F-921F-4C07-8573-F8C675CC4D46}"/>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Lower curves mean fewer errors at the same call rate. Blue = ProteoGuard; cyan = anchor correction.</a:t>
            </a:r>
          </a:p>
        </p:txBody>
      </p:sp>
      <p:sp>
        <p:nvSpPr>
          <p:cNvPr id="8" name="8 / 11">
            <a:extLst xmlns:a="http://schemas.openxmlformats.org/drawingml/2006/main">
              <a:ext uri="{FF2B5EF4-FFF2-40B4-BE49-F238E27FC236}">
                <a16:creationId xmlns:a16="http://schemas.microsoft.com/office/drawing/2014/main" id="{C7E99B0B-51CC-4AB3-B794-235334FAFF78}"/>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8 / 11</a:t>
            </a:r>
          </a:p>
        </p:txBody>
      </p:sp>
    </p:spTree>
    <p:extLst>
      <p:ext uri="{BB962C8B-B14F-4D97-AF65-F5344CB8AC3E}">
        <p14:creationId xmlns:p14="http://schemas.microsoft.com/office/powerpoint/2010/main" val="635182305"/>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Hypotheses and critical evaluation">
            <a:extLst xmlns:a="http://schemas.openxmlformats.org/drawingml/2006/main">
              <a:ext uri="{FF2B5EF4-FFF2-40B4-BE49-F238E27FC236}">
                <a16:creationId xmlns:a16="http://schemas.microsoft.com/office/drawing/2014/main" id="{7E9078AF-57BA-425E-867A-9DE254E7ACFC}"/>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Hypotheses and critical evaluation</a:t>
            </a:r>
          </a:p>
        </p:txBody>
      </p:sp>
      <p:sp>
        <p:nvSpPr>
          <p:cNvPr id="2" name="">
            <a:extLst xmlns:a="http://schemas.openxmlformats.org/drawingml/2006/main">
              <a:ext uri="{FF2B5EF4-FFF2-40B4-BE49-F238E27FC236}">
                <a16:creationId xmlns:a16="http://schemas.microsoft.com/office/drawing/2014/main" id="{9B533FEE-BEE6-40F2-9064-139643F00027}"/>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34A1CF1F-D189-4D3F-94BE-CAD45703D0BE}"/>
              </a:ext>
            </a:extLst>
          </p:cNvPr>
          <p:cNvGraphicFramePr/>
          <p:nvPr/>
        </p:nvGraphicFramePr>
        <p:xfrm>
          <a:off xmlns:a="http://schemas.openxmlformats.org/drawingml/2006/main" x="723900" y="1552575"/>
          <a:ext xmlns:a="http://schemas.openxmlformats.org/drawingml/2006/main" cx="10725150" cy="3114675"/>
        </p:xfrm>
        <a:graphic xmlns:a="http://schemas.openxmlformats.org/drawingml/2006/main">
          <a:graphicData uri="http://schemas.openxmlformats.org/drawingml/2006/table">
            <a:tbl>
              <a:tblPr/>
              <a:tblGrid>
                <a:gridCol w="3333750"/>
                <a:gridCol w="5553075"/>
                <a:gridCol w="1838325"/>
              </a:tblGrid>
              <a:tr h="622935">
                <a:tc>
                  <a:txBody>
                    <a:bodyPr lIns="114300" tIns="85725" rIns="95250" bIns="76200"/>
                    <a:lstStyle/>
                    <a:p>
                      <a:r>
                        <a:rPr sz="1500" b="1">
                          <a:solidFill>
                            <a:srgbClr val="1D2433"/>
                          </a:solidFill>
                          <a:latin typeface="IBM Plex Sans"/>
                          <a:ea typeface="IBM Plex Sans"/>
                          <a:cs typeface="IBM Plex Sans"/>
                        </a:rPr>
                        <a:t>Hypothesis or claim</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What the experiments show</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Assessment</a:t>
                      </a:r>
                    </a:p>
                  </a:txBody>
                  <a:tcPr marL="91440" marR="91440" marT="45720" marB="45720" anchor="ctr">
                    <a:solidFill>
                      <a:srgbClr val="EDF2FF"/>
                    </a:solidFill>
                  </a:tcPr>
                </a:tc>
              </a:tr>
              <a:tr h="622935">
                <a:tc>
                  <a:txBody>
                    <a:bodyPr lIns="114300" tIns="85725" rIns="95250" bIns="76200"/>
                    <a:lstStyle/>
                    <a:p>
                      <a:r>
                        <a:rPr sz="1800" b="0">
                          <a:solidFill>
                            <a:srgbClr val="1D2433"/>
                          </a:solidFill>
                          <a:latin typeface="IBM Plex Sans"/>
                          <a:ea typeface="IBM Plex Sans"/>
                          <a:cs typeface="IBM Plex Sans"/>
                        </a:rPr>
                        <a:t>Measured panels improve prediction</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Ridge RMSE improved in both cohorts</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Supported</a:t>
                      </a:r>
                    </a:p>
                  </a:txBody>
                  <a:tcPr marL="91440" marR="91440" marT="45720" marB="45720" anchor="ctr">
                    <a:solidFill>
                      <a:srgbClr val="FFFFFF"/>
                    </a:solidFill>
                  </a:tcPr>
                </a:tc>
              </a:tr>
              <a:tr h="622935">
                <a:tc>
                  <a:txBody>
                    <a:bodyPr lIns="114300" tIns="85725" rIns="95250" bIns="76200"/>
                    <a:lstStyle/>
                    <a:p>
                      <a:r>
                        <a:rPr sz="1800" b="0">
                          <a:solidFill>
                            <a:srgbClr val="1D2433"/>
                          </a:solidFill>
                          <a:latin typeface="IBM Plex Sans"/>
                          <a:ea typeface="IBM Plex Sans"/>
                          <a:cs typeface="IBM Plex Sans"/>
                        </a:rPr>
                        <a:t>Participant calibration improves reliability</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Coverage improved across predictors and cohorts</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Supported</a:t>
                      </a:r>
                    </a:p>
                  </a:txBody>
                  <a:tcPr marL="91440" marR="91440" marT="45720" marB="45720" anchor="ctr">
                    <a:solidFill>
                      <a:srgbClr val="FFFFFF"/>
                    </a:solidFill>
                  </a:tcPr>
                </a:tc>
              </a:tr>
              <a:tr h="622935">
                <a:tc>
                  <a:txBody>
                    <a:bodyPr lIns="114300" tIns="85725" rIns="95250" bIns="76200"/>
                    <a:lstStyle/>
                    <a:p>
                      <a:r>
                        <a:rPr sz="1800" b="0">
                          <a:solidFill>
                            <a:srgbClr val="1D2433"/>
                          </a:solidFill>
                          <a:latin typeface="IBM Plex Sans"/>
                          <a:ea typeface="IBM Plex Sans"/>
                          <a:cs typeface="IBM Plex Sans"/>
                        </a:rPr>
                        <a:t>Learned correction adds value everywhere</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Simple controls nearly matched it; COMBAT mixed</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Not supported</a:t>
                      </a:r>
                    </a:p>
                  </a:txBody>
                  <a:tcPr marL="91440" marR="91440" marT="45720" marB="45720" anchor="ctr">
                    <a:solidFill>
                      <a:srgbClr val="FFFFFF"/>
                    </a:solidFill>
                  </a:tcPr>
                </a:tc>
              </a:tr>
              <a:tr h="622935">
                <a:tc>
                  <a:txBody>
                    <a:bodyPr lIns="114300" tIns="85725" rIns="95250" bIns="76200"/>
                    <a:lstStyle/>
                    <a:p>
                      <a:r>
                        <a:rPr sz="1800" b="0">
                          <a:solidFill>
                            <a:srgbClr val="1D2433"/>
                          </a:solidFill>
                          <a:latin typeface="IBM Plex Sans"/>
                          <a:ea typeface="IBM Plex Sans"/>
                          <a:cs typeface="IBM Plex Sans"/>
                        </a:rPr>
                        <a:t>Inference enables useful marker calls</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Stephenson useful; COMBAT mostly inconclusive</a:t>
                      </a:r>
                    </a:p>
                  </a:txBody>
                  <a:tcPr marL="91440" marR="91440" marT="45720" marB="45720" anchor="ctr">
                    <a:solidFill>
                      <a:srgbClr val="FFFFFF"/>
                    </a:solidFill>
                  </a:tcPr>
                </a:tc>
                <a:tc>
                  <a:txBody>
                    <a:bodyPr lIns="114300" tIns="85725" rIns="95250" bIns="76200"/>
                    <a:lstStyle/>
                    <a:p>
                      <a:r>
                        <a:rPr sz="1800" b="0">
                          <a:solidFill>
                            <a:srgbClr val="1D2433"/>
                          </a:solidFill>
                          <a:latin typeface="IBM Plex Sans"/>
                          <a:ea typeface="IBM Plex Sans"/>
                          <a:cs typeface="IBM Plex Sans"/>
                        </a:rPr>
                        <a:t>Conditional</a:t>
                      </a:r>
                    </a:p>
                  </a:txBody>
                  <a:tcPr marL="91440" marR="91440" marT="45720" marB="45720" anchor="ctr">
                    <a:solidFill>
                      <a:srgbClr val="FFFFFF"/>
                    </a:solidFill>
                  </a:tcPr>
                </a:tc>
              </a:tr>
            </a:tbl>
          </a:graphicData>
        </a:graphic>
      </p:graphicFrame>
      <p:sp>
        <p:nvSpPr>
          <p:cNvPr id="4" name="Limits: two COVID blood cohorts, shared processing pools and hel">
            <a:extLst xmlns:a="http://schemas.openxmlformats.org/drawingml/2006/main">
              <a:ext uri="{FF2B5EF4-FFF2-40B4-BE49-F238E27FC236}">
                <a16:creationId xmlns:a16="http://schemas.microsoft.com/office/drawing/2014/main" id="{1F4660E1-7334-4964-88BE-A7C4F2736CAE}"/>
              </a:ext>
            </a:extLst>
          </p:cNvPr>
          <p:cNvSpPr>
            <a:spLocks xmlns:a="http://schemas.openxmlformats.org/drawingml/2006/main" noGrp="1"/>
          </p:cNvSpPr>
          <p:nvPr/>
        </p:nvSpPr>
        <p:spPr>
          <a:xfrm xmlns:a="http://schemas.openxmlformats.org/drawingml/2006/main">
            <a:off x="723900" y="507682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D2433"/>
                </a:solidFill>
                <a:latin typeface="IBM Plex Sans"/>
                <a:ea typeface="IBM Plex Sans"/>
                <a:cs typeface="IBM Plex Sans"/>
              </a:defRPr>
            </a:defPPr>
          </a:lstStyle>
          <a:p xmlns:a="http://schemas.openxmlformats.org/drawingml/2006/main">
            <a:pPr algn="l">
              <a:defRPr sz="2025" b="0">
                <a:solidFill>
                  <a:srgbClr val="1D2433"/>
                </a:solidFill>
                <a:latin typeface="IBM Plex Sans"/>
                <a:ea typeface="IBM Plex Sans"/>
                <a:cs typeface="IBM Plex Sans"/>
              </a:defRPr>
            </a:pPr>
            <a:r>
              <a:rPr sz="2025" b="0">
                <a:solidFill>
                  <a:srgbClr val="1D2433"/>
                </a:solidFill>
                <a:latin typeface="IBM Plex Sans"/>
                <a:ea typeface="IBM Plex Sans"/>
                <a:cs typeface="IBM Plex Sans"/>
              </a:rPr>
              <a:t>Limits: two COVID blood cohorts, shared processing pools and held-out RNA in fitting.</a:t>
            </a:r>
          </a:p>
          <a:p xmlns:a="http://schemas.openxmlformats.org/drawingml/2006/main">
            <a:pPr algn="l">
              <a:defRPr sz="2025" b="0">
                <a:solidFill>
                  <a:srgbClr val="1D2433"/>
                </a:solidFill>
                <a:latin typeface="IBM Plex Sans"/>
                <a:ea typeface="IBM Plex Sans"/>
                <a:cs typeface="IBM Plex Sans"/>
              </a:defRPr>
            </a:pPr>
            <a:r>
              <a:rPr sz="2025" b="0">
                <a:solidFill>
                  <a:srgbClr val="1D2433"/>
                </a:solidFill>
                <a:latin typeface="IBM Plex Sans"/>
                <a:ea typeface="IBM Plex Sans"/>
                <a:cs typeface="IBM Plex Sans"/>
              </a:rPr>
              <a:t>New-site transfer and clinical thresholds remain unvalidated.</a:t>
            </a:r>
          </a:p>
        </p:txBody>
      </p:sp>
      <p:sp>
        <p:nvSpPr>
          <p:cNvPr id="5" name="5  Critical evaluation     Results support specific hypotheses. ">
            <a:extLst xmlns:a="http://schemas.openxmlformats.org/drawingml/2006/main">
              <a:ext uri="{FF2B5EF4-FFF2-40B4-BE49-F238E27FC236}">
                <a16:creationId xmlns:a16="http://schemas.microsoft.com/office/drawing/2014/main" id="{19D948B3-1F3B-45EF-91CC-854C0129FD62}"/>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5  Critical evaluation     Results support specific hypotheses. They do not prove universal superiority over totalVI.</a:t>
            </a:r>
          </a:p>
        </p:txBody>
      </p:sp>
      <p:sp>
        <p:nvSpPr>
          <p:cNvPr id="6" name="9 / 11">
            <a:extLst xmlns:a="http://schemas.openxmlformats.org/drawingml/2006/main">
              <a:ext uri="{FF2B5EF4-FFF2-40B4-BE49-F238E27FC236}">
                <a16:creationId xmlns:a16="http://schemas.microsoft.com/office/drawing/2014/main" id="{3D37AF35-FA02-4E80-BFDF-F57A280AC89F}"/>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9 / 11</a:t>
            </a:r>
          </a:p>
        </p:txBody>
      </p:sp>
    </p:spTree>
    <p:extLst>
      <p:ext uri="{BB962C8B-B14F-4D97-AF65-F5344CB8AC3E}">
        <p14:creationId xmlns:p14="http://schemas.microsoft.com/office/powerpoint/2010/main" val="1549527088"/>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Scientific insights and next questions">
            <a:extLst xmlns:a="http://schemas.openxmlformats.org/drawingml/2006/main">
              <a:ext uri="{FF2B5EF4-FFF2-40B4-BE49-F238E27FC236}">
                <a16:creationId xmlns:a16="http://schemas.microsoft.com/office/drawing/2014/main" id="{AAB7A104-D1C2-4DB4-8A1A-0D14230D57DA}"/>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Scientific insights and next questions</a:t>
            </a:r>
          </a:p>
        </p:txBody>
      </p:sp>
      <p:sp>
        <p:nvSpPr>
          <p:cNvPr id="2" name="">
            <a:extLst xmlns:a="http://schemas.openxmlformats.org/drawingml/2006/main">
              <a:ext uri="{FF2B5EF4-FFF2-40B4-BE49-F238E27FC236}">
                <a16:creationId xmlns:a16="http://schemas.microsoft.com/office/drawing/2014/main" id="{F1A91B85-40CB-473B-B3DB-6D4474E64639}"/>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Reliability is a separate outcome">
            <a:extLst xmlns:a="http://schemas.openxmlformats.org/drawingml/2006/main">
              <a:ext uri="{FF2B5EF4-FFF2-40B4-BE49-F238E27FC236}">
                <a16:creationId xmlns:a16="http://schemas.microsoft.com/office/drawing/2014/main" id="{E59D8B3B-71E2-434B-AA14-5C4CDA839256}"/>
              </a:ext>
            </a:extLst>
          </p:cNvPr>
          <p:cNvSpPr>
            <a:spLocks xmlns:a="http://schemas.openxmlformats.org/drawingml/2006/main" noGrp="1"/>
          </p:cNvSpPr>
          <p:nvPr/>
        </p:nvSpPr>
        <p:spPr>
          <a:xfrm xmlns:a="http://schemas.openxmlformats.org/drawingml/2006/main">
            <a:off x="723900" y="16002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245EFF"/>
                </a:solidFill>
                <a:latin typeface="IBM Plex Sans"/>
                <a:ea typeface="IBM Plex Sans"/>
                <a:cs typeface="IBM Plex Sans"/>
              </a:defRPr>
            </a:defPPr>
          </a:lstStyle>
          <a:p xmlns:a="http://schemas.openxmlformats.org/drawingml/2006/main">
            <a:pPr algn="l">
              <a:defRPr sz="2250" b="1">
                <a:solidFill>
                  <a:srgbClr val="245EFF"/>
                </a:solidFill>
                <a:latin typeface="IBM Plex Sans"/>
                <a:ea typeface="IBM Plex Sans"/>
                <a:cs typeface="IBM Plex Sans"/>
              </a:defRPr>
            </a:pPr>
            <a:r>
              <a:rPr sz="2250" b="1">
                <a:solidFill>
                  <a:srgbClr val="245EFF"/>
                </a:solidFill>
                <a:latin typeface="IBM Plex Sans"/>
                <a:ea typeface="IBM Plex Sans"/>
                <a:cs typeface="IBM Plex Sans"/>
              </a:rPr>
              <a:t>Reliability is a separate outcome</a:t>
            </a:r>
          </a:p>
        </p:txBody>
      </p:sp>
      <p:sp>
        <p:nvSpPr>
          <p:cNvPr id="4" name="A model can give calibrated ranges and still make few useful cal">
            <a:extLst xmlns:a="http://schemas.openxmlformats.org/drawingml/2006/main">
              <a:ext uri="{FF2B5EF4-FFF2-40B4-BE49-F238E27FC236}">
                <a16:creationId xmlns:a16="http://schemas.microsoft.com/office/drawing/2014/main" id="{D5853690-6E15-4582-B0C4-06BCDA7965BC}"/>
              </a:ext>
            </a:extLst>
          </p:cNvPr>
          <p:cNvSpPr>
            <a:spLocks xmlns:a="http://schemas.openxmlformats.org/drawingml/2006/main" noGrp="1"/>
          </p:cNvSpPr>
          <p:nvPr/>
        </p:nvSpPr>
        <p:spPr>
          <a:xfrm xmlns:a="http://schemas.openxmlformats.org/drawingml/2006/main">
            <a:off x="723900" y="206692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D2433"/>
                </a:solidFill>
                <a:latin typeface="IBM Plex Sans"/>
                <a:ea typeface="IBM Plex Sans"/>
                <a:cs typeface="IBM Plex Sans"/>
              </a:defRPr>
            </a:defPPr>
          </a:lstStyle>
          <a:p xmlns:a="http://schemas.openxmlformats.org/drawingml/2006/main">
            <a:pPr algn="l">
              <a:defRPr sz="2100" b="0">
                <a:solidFill>
                  <a:srgbClr val="1D2433"/>
                </a:solidFill>
                <a:latin typeface="IBM Plex Sans"/>
                <a:ea typeface="IBM Plex Sans"/>
                <a:cs typeface="IBM Plex Sans"/>
              </a:defRPr>
            </a:pPr>
            <a:r>
              <a:rPr sz="2100" b="0">
                <a:solidFill>
                  <a:srgbClr val="1D2433"/>
                </a:solidFill>
                <a:latin typeface="IBM Plex Sans"/>
                <a:ea typeface="IBM Plex Sans"/>
                <a:cs typeface="IBM Plex Sans"/>
              </a:rPr>
              <a:t>A model can give calibrated ranges and still make few useful calls.</a:t>
            </a:r>
          </a:p>
        </p:txBody>
      </p:sp>
      <p:sp>
        <p:nvSpPr>
          <p:cNvPr id="5" name="Measured context matters">
            <a:extLst xmlns:a="http://schemas.openxmlformats.org/drawingml/2006/main">
              <a:ext uri="{FF2B5EF4-FFF2-40B4-BE49-F238E27FC236}">
                <a16:creationId xmlns:a16="http://schemas.microsoft.com/office/drawing/2014/main" id="{AE806206-9BCB-4872-A6B7-D9B45A065B67}"/>
              </a:ext>
            </a:extLst>
          </p:cNvPr>
          <p:cNvSpPr>
            <a:spLocks xmlns:a="http://schemas.openxmlformats.org/drawingml/2006/main" noGrp="1"/>
          </p:cNvSpPr>
          <p:nvPr/>
        </p:nvSpPr>
        <p:spPr>
          <a:xfrm xmlns:a="http://schemas.openxmlformats.org/drawingml/2006/main">
            <a:off x="723900" y="27336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245EFF"/>
                </a:solidFill>
                <a:latin typeface="IBM Plex Sans"/>
                <a:ea typeface="IBM Plex Sans"/>
                <a:cs typeface="IBM Plex Sans"/>
              </a:defRPr>
            </a:defPPr>
          </a:lstStyle>
          <a:p xmlns:a="http://schemas.openxmlformats.org/drawingml/2006/main">
            <a:pPr algn="l">
              <a:defRPr sz="2250" b="1">
                <a:solidFill>
                  <a:srgbClr val="245EFF"/>
                </a:solidFill>
                <a:latin typeface="IBM Plex Sans"/>
                <a:ea typeface="IBM Plex Sans"/>
                <a:cs typeface="IBM Plex Sans"/>
              </a:defRPr>
            </a:pPr>
            <a:r>
              <a:rPr sz="2250" b="1">
                <a:solidFill>
                  <a:srgbClr val="245EFF"/>
                </a:solidFill>
                <a:latin typeface="IBM Plex Sans"/>
                <a:ea typeface="IBM Plex Sans"/>
                <a:cs typeface="IBM Plex Sans"/>
              </a:rPr>
              <a:t>Measured context matters</a:t>
            </a:r>
          </a:p>
        </p:txBody>
      </p:sp>
      <p:sp>
        <p:nvSpPr>
          <p:cNvPr id="6" name="A small panel helps estimate shared errors and can improve predi">
            <a:extLst xmlns:a="http://schemas.openxmlformats.org/drawingml/2006/main">
              <a:ext uri="{FF2B5EF4-FFF2-40B4-BE49-F238E27FC236}">
                <a16:creationId xmlns:a16="http://schemas.microsoft.com/office/drawing/2014/main" id="{60BB459E-826B-42C8-8A1A-91739CC0F382}"/>
              </a:ext>
            </a:extLst>
          </p:cNvPr>
          <p:cNvSpPr>
            <a:spLocks xmlns:a="http://schemas.openxmlformats.org/drawingml/2006/main" noGrp="1"/>
          </p:cNvSpPr>
          <p:nvPr/>
        </p:nvSpPr>
        <p:spPr>
          <a:xfrm xmlns:a="http://schemas.openxmlformats.org/drawingml/2006/main">
            <a:off x="723900" y="320040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D2433"/>
                </a:solidFill>
                <a:latin typeface="IBM Plex Sans"/>
                <a:ea typeface="IBM Plex Sans"/>
                <a:cs typeface="IBM Plex Sans"/>
              </a:defRPr>
            </a:defPPr>
          </a:lstStyle>
          <a:p xmlns:a="http://schemas.openxmlformats.org/drawingml/2006/main">
            <a:pPr algn="l">
              <a:defRPr sz="2100" b="0">
                <a:solidFill>
                  <a:srgbClr val="1D2433"/>
                </a:solidFill>
                <a:latin typeface="IBM Plex Sans"/>
                <a:ea typeface="IBM Plex Sans"/>
                <a:cs typeface="IBM Plex Sans"/>
              </a:defRPr>
            </a:pPr>
            <a:r>
              <a:rPr sz="2100" b="0">
                <a:solidFill>
                  <a:srgbClr val="1D2433"/>
                </a:solidFill>
                <a:latin typeface="IBM Plex Sans"/>
                <a:ea typeface="IBM Plex Sans"/>
                <a:cs typeface="IBM Plex Sans"/>
              </a:rPr>
              <a:t>A small panel helps estimate shared errors and can improve predictions.</a:t>
            </a:r>
          </a:p>
        </p:txBody>
      </p:sp>
      <p:sp>
        <p:nvSpPr>
          <p:cNvPr id="7" name="Simple controls change the conclusion">
            <a:extLst xmlns:a="http://schemas.openxmlformats.org/drawingml/2006/main">
              <a:ext uri="{FF2B5EF4-FFF2-40B4-BE49-F238E27FC236}">
                <a16:creationId xmlns:a16="http://schemas.microsoft.com/office/drawing/2014/main" id="{81B05760-10B3-4231-A41F-0523CD004418}"/>
              </a:ext>
            </a:extLst>
          </p:cNvPr>
          <p:cNvSpPr>
            <a:spLocks xmlns:a="http://schemas.openxmlformats.org/drawingml/2006/main" noGrp="1"/>
          </p:cNvSpPr>
          <p:nvPr/>
        </p:nvSpPr>
        <p:spPr>
          <a:xfrm xmlns:a="http://schemas.openxmlformats.org/drawingml/2006/main">
            <a:off x="723900" y="38671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245EFF"/>
                </a:solidFill>
                <a:latin typeface="IBM Plex Sans"/>
                <a:ea typeface="IBM Plex Sans"/>
                <a:cs typeface="IBM Plex Sans"/>
              </a:defRPr>
            </a:defPPr>
          </a:lstStyle>
          <a:p xmlns:a="http://schemas.openxmlformats.org/drawingml/2006/main">
            <a:pPr algn="l">
              <a:defRPr sz="2250" b="1">
                <a:solidFill>
                  <a:srgbClr val="245EFF"/>
                </a:solidFill>
                <a:latin typeface="IBM Plex Sans"/>
                <a:ea typeface="IBM Plex Sans"/>
                <a:cs typeface="IBM Plex Sans"/>
              </a:defRPr>
            </a:pPr>
            <a:r>
              <a:rPr sz="2250" b="1">
                <a:solidFill>
                  <a:srgbClr val="245EFF"/>
                </a:solidFill>
                <a:latin typeface="IBM Plex Sans"/>
                <a:ea typeface="IBM Plex Sans"/>
                <a:cs typeface="IBM Plex Sans"/>
              </a:rPr>
              <a:t>Simple controls change the conclusion</a:t>
            </a:r>
          </a:p>
        </p:txBody>
      </p:sp>
      <p:sp>
        <p:nvSpPr>
          <p:cNvPr id="8" name="Complex correction added little. Its benefit depended on the coh">
            <a:extLst xmlns:a="http://schemas.openxmlformats.org/drawingml/2006/main">
              <a:ext uri="{FF2B5EF4-FFF2-40B4-BE49-F238E27FC236}">
                <a16:creationId xmlns:a16="http://schemas.microsoft.com/office/drawing/2014/main" id="{89BFD7AB-A5B9-4954-8899-815A1D2419F0}"/>
              </a:ext>
            </a:extLst>
          </p:cNvPr>
          <p:cNvSpPr>
            <a:spLocks xmlns:a="http://schemas.openxmlformats.org/drawingml/2006/main" noGrp="1"/>
          </p:cNvSpPr>
          <p:nvPr/>
        </p:nvSpPr>
        <p:spPr>
          <a:xfrm xmlns:a="http://schemas.openxmlformats.org/drawingml/2006/main">
            <a:off x="723900" y="433387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D2433"/>
                </a:solidFill>
                <a:latin typeface="IBM Plex Sans"/>
                <a:ea typeface="IBM Plex Sans"/>
                <a:cs typeface="IBM Plex Sans"/>
              </a:defRPr>
            </a:defPPr>
          </a:lstStyle>
          <a:p xmlns:a="http://schemas.openxmlformats.org/drawingml/2006/main">
            <a:pPr algn="l">
              <a:defRPr sz="2100" b="0">
                <a:solidFill>
                  <a:srgbClr val="1D2433"/>
                </a:solidFill>
                <a:latin typeface="IBM Plex Sans"/>
                <a:ea typeface="IBM Plex Sans"/>
                <a:cs typeface="IBM Plex Sans"/>
              </a:defRPr>
            </a:pPr>
            <a:r>
              <a:rPr sz="2100" b="0">
                <a:solidFill>
                  <a:srgbClr val="1D2433"/>
                </a:solidFill>
                <a:latin typeface="IBM Plex Sans"/>
                <a:ea typeface="IBM Plex Sans"/>
                <a:cs typeface="IBM Plex Sans"/>
              </a:rPr>
              <a:t>Complex correction added little. Its benefit depended on the cohort.</a:t>
            </a:r>
          </a:p>
        </p:txBody>
      </p:sp>
      <p:sp>
        <p:nvSpPr>
          <p:cNvPr id="9" name="Next test: preserve measured marker fractions within cell types,">
            <a:extLst xmlns:a="http://schemas.openxmlformats.org/drawingml/2006/main">
              <a:ext uri="{FF2B5EF4-FFF2-40B4-BE49-F238E27FC236}">
                <a16:creationId xmlns:a16="http://schemas.microsoft.com/office/drawing/2014/main" id="{136C525C-F598-45DD-BACB-A42389348DF7}"/>
              </a:ext>
            </a:extLst>
          </p:cNvPr>
          <p:cNvSpPr>
            <a:spLocks xmlns:a="http://schemas.openxmlformats.org/drawingml/2006/main" noGrp="1"/>
          </p:cNvSpPr>
          <p:nvPr/>
        </p:nvSpPr>
        <p:spPr>
          <a:xfrm xmlns:a="http://schemas.openxmlformats.org/drawingml/2006/main">
            <a:off x="723900" y="52673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14213D"/>
                </a:solidFill>
                <a:latin typeface="IBM Plex Sans"/>
                <a:ea typeface="IBM Plex Sans"/>
                <a:cs typeface="IBM Plex Sans"/>
              </a:defRPr>
            </a:defPPr>
          </a:lstStyle>
          <a:p xmlns:a="http://schemas.openxmlformats.org/drawingml/2006/main">
            <a:pPr algn="l">
              <a:defRPr sz="2100" b="1">
                <a:solidFill>
                  <a:srgbClr val="14213D"/>
                </a:solidFill>
                <a:latin typeface="IBM Plex Sans"/>
                <a:ea typeface="IBM Plex Sans"/>
                <a:cs typeface="IBM Plex Sans"/>
              </a:defRPr>
            </a:pPr>
            <a:r>
              <a:rPr sz="2100" b="1">
                <a:solidFill>
                  <a:srgbClr val="14213D"/>
                </a:solidFill>
                <a:latin typeface="IBM Plex Sans"/>
                <a:ea typeface="IBM Plex Sans"/>
                <a:cs typeface="IBM Plex Sans"/>
              </a:rPr>
              <a:t>Next test: preserve measured marker fractions within cell types,</a:t>
            </a:r>
          </a:p>
          <a:p xmlns:a="http://schemas.openxmlformats.org/drawingml/2006/main">
            <a:pPr algn="l">
              <a:defRPr sz="2100" b="1">
                <a:solidFill>
                  <a:srgbClr val="14213D"/>
                </a:solidFill>
                <a:latin typeface="IBM Plex Sans"/>
                <a:ea typeface="IBM Plex Sans"/>
                <a:cs typeface="IBM Plex Sans"/>
              </a:defRPr>
            </a:pPr>
            <a:r>
              <a:rPr sz="2100" b="1">
                <a:solidFill>
                  <a:srgbClr val="14213D"/>
                </a:solidFill>
                <a:latin typeface="IBM Plex Sans"/>
                <a:ea typeface="IBM Plex Sans"/>
                <a:cs typeface="IBM Plex Sans"/>
              </a:rPr>
              <a:t>then assess transfer to a processing pool excluded from development.</a:t>
            </a:r>
          </a:p>
        </p:txBody>
      </p:sp>
      <p:sp>
        <p:nvSpPr>
          <p:cNvPr id="10" name="6  Take-home message     Small panels improved prediction; parti">
            <a:extLst xmlns:a="http://schemas.openxmlformats.org/drawingml/2006/main">
              <a:ext uri="{FF2B5EF4-FFF2-40B4-BE49-F238E27FC236}">
                <a16:creationId xmlns:a16="http://schemas.microsoft.com/office/drawing/2014/main" id="{A1122DDF-136F-4B77-B8E7-C8A04180E88F}"/>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6  Take-home message     Small panels improved prediction; participant calibration clarified which inferences remain uncertain.</a:t>
            </a:r>
          </a:p>
        </p:txBody>
      </p:sp>
      <p:sp>
        <p:nvSpPr>
          <p:cNvPr id="11" name="10 / 11">
            <a:extLst xmlns:a="http://schemas.openxmlformats.org/drawingml/2006/main">
              <a:ext uri="{FF2B5EF4-FFF2-40B4-BE49-F238E27FC236}">
                <a16:creationId xmlns:a16="http://schemas.microsoft.com/office/drawing/2014/main" id="{BB39CE73-AC8C-44C6-BB84-7AC9819F1EC2}"/>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10 / 11</a:t>
            </a:r>
          </a:p>
        </p:txBody>
      </p:sp>
    </p:spTree>
    <p:extLst>
      <p:ext uri="{BB962C8B-B14F-4D97-AF65-F5344CB8AC3E}">
        <p14:creationId xmlns:p14="http://schemas.microsoft.com/office/powerpoint/2010/main" val="746790313"/>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Equal contributions">
            <a:extLst xmlns:a="http://schemas.openxmlformats.org/drawingml/2006/main">
              <a:ext uri="{FF2B5EF4-FFF2-40B4-BE49-F238E27FC236}">
                <a16:creationId xmlns:a16="http://schemas.microsoft.com/office/drawing/2014/main" id="{F7B11E9A-B9AE-4F42-B3DC-721982980824}"/>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Equal contributions</a:t>
            </a:r>
          </a:p>
        </p:txBody>
      </p:sp>
      <p:sp>
        <p:nvSpPr>
          <p:cNvPr id="2" name="">
            <a:extLst xmlns:a="http://schemas.openxmlformats.org/drawingml/2006/main">
              <a:ext uri="{FF2B5EF4-FFF2-40B4-BE49-F238E27FC236}">
                <a16:creationId xmlns:a16="http://schemas.microsoft.com/office/drawing/2014/main" id="{06F4287C-7EFF-41E3-9A76-29BF9A8D985C}"/>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Anel Umirbaeva and Nazira Dunbayeva contributed equally overall ">
            <a:extLst xmlns:a="http://schemas.openxmlformats.org/drawingml/2006/main">
              <a:ext uri="{FF2B5EF4-FFF2-40B4-BE49-F238E27FC236}">
                <a16:creationId xmlns:a16="http://schemas.microsoft.com/office/drawing/2014/main" id="{9BDC1ED1-D26C-4543-8BA7-3C0EC5CBDCF4}"/>
              </a:ext>
            </a:extLst>
          </p:cNvPr>
          <p:cNvSpPr>
            <a:spLocks xmlns:a="http://schemas.openxmlformats.org/drawingml/2006/main" noGrp="1"/>
          </p:cNvSpPr>
          <p:nvPr/>
        </p:nvSpPr>
        <p:spPr>
          <a:xfrm xmlns:a="http://schemas.openxmlformats.org/drawingml/2006/main">
            <a:off x="723900" y="14954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245EFF"/>
                </a:solidFill>
                <a:latin typeface="IBM Plex Sans"/>
                <a:ea typeface="IBM Plex Sans"/>
                <a:cs typeface="IBM Plex Sans"/>
              </a:defRPr>
            </a:defPPr>
          </a:lstStyle>
          <a:p xmlns:a="http://schemas.openxmlformats.org/drawingml/2006/main">
            <a:pPr algn="l">
              <a:defRPr sz="2175" b="1">
                <a:solidFill>
                  <a:srgbClr val="245EFF"/>
                </a:solidFill>
                <a:latin typeface="IBM Plex Sans"/>
                <a:ea typeface="IBM Plex Sans"/>
                <a:cs typeface="IBM Plex Sans"/>
              </a:defRPr>
            </a:pPr>
            <a:r>
              <a:rPr sz="2175" b="1">
                <a:solidFill>
                  <a:srgbClr val="245EFF"/>
                </a:solidFill>
                <a:latin typeface="IBM Plex Sans"/>
                <a:ea typeface="IBM Plex Sans"/>
                <a:cs typeface="IBM Plex Sans"/>
              </a:rPr>
              <a:t>Anel Umirbaeva and Nazira Dunbayeva contributed equally overall (50% each).</a:t>
            </a:r>
          </a:p>
        </p:txBody>
      </p:sp>
      <p:graphicFrame>
        <p:nvGraphicFramePr>
          <p:cNvPr id="4" name="">
            <a:extLst xmlns:a="http://schemas.openxmlformats.org/drawingml/2006/main">
              <a:ext uri="{FF2B5EF4-FFF2-40B4-BE49-F238E27FC236}">
                <a16:creationId xmlns:a16="http://schemas.microsoft.com/office/drawing/2014/main" id="{82D68117-296E-4B35-BF1B-A297AF93F0A8}"/>
              </a:ext>
            </a:extLst>
          </p:cNvPr>
          <p:cNvGraphicFramePr/>
          <p:nvPr/>
        </p:nvGraphicFramePr>
        <p:xfrm>
          <a:off xmlns:a="http://schemas.openxmlformats.org/drawingml/2006/main" x="723900" y="2333625"/>
          <a:ext xmlns:a="http://schemas.openxmlformats.org/drawingml/2006/main" cx="10725150" cy="3381375"/>
        </p:xfrm>
        <a:graphic xmlns:a="http://schemas.openxmlformats.org/drawingml/2006/main">
          <a:graphicData uri="http://schemas.openxmlformats.org/drawingml/2006/table">
            <a:tbl>
              <a:tblPr/>
              <a:tblGrid>
                <a:gridCol w="2114550"/>
                <a:gridCol w="4305300"/>
                <a:gridCol w="4305300"/>
              </a:tblGrid>
              <a:tr h="483054">
                <a:tc>
                  <a:txBody>
                    <a:bodyPr lIns="114300" tIns="85725" rIns="95250" bIns="76200"/>
                    <a:lstStyle/>
                    <a:p>
                      <a:r>
                        <a:rPr sz="1500" b="1">
                          <a:solidFill>
                            <a:srgbClr val="1D2433"/>
                          </a:solidFill>
                          <a:latin typeface="IBM Plex Sans"/>
                          <a:ea typeface="IBM Plex Sans"/>
                          <a:cs typeface="IBM Plex Sans"/>
                        </a:rPr>
                        <a:t>Component</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Anel Umirbaeva</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Nazira Dunbayeva</a:t>
                      </a:r>
                    </a:p>
                  </a:txBody>
                  <a:tcPr marL="91440" marR="91440" marT="45720" marB="45720" anchor="ctr">
                    <a:solidFill>
                      <a:srgbClr val="EDF2FF"/>
                    </a:solidFill>
                  </a:tcPr>
                </a:tc>
              </a:tr>
              <a:tr h="483054">
                <a:tc>
                  <a:txBody>
                    <a:bodyPr lIns="114300" tIns="85725" rIns="95250" bIns="76200"/>
                    <a:lstStyle/>
                    <a:p>
                      <a:r>
                        <a:rPr sz="1650" b="0">
                          <a:solidFill>
                            <a:srgbClr val="1D2433"/>
                          </a:solidFill>
                          <a:latin typeface="IBM Plex Sans"/>
                          <a:ea typeface="IBM Plex Sans"/>
                          <a:cs typeface="IBM Plex Sans"/>
                        </a:rPr>
                        <a:t>Problem</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Biological motivation and marker question</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Reliability question and hypotheses</a:t>
                      </a:r>
                    </a:p>
                  </a:txBody>
                  <a:tcPr marL="91440" marR="91440" marT="45720" marB="45720" anchor="ctr">
                    <a:solidFill>
                      <a:srgbClr val="FFFFFF"/>
                    </a:solidFill>
                  </a:tcPr>
                </a:tc>
              </a:tr>
              <a:tr h="483054">
                <a:tc>
                  <a:txBody>
                    <a:bodyPr lIns="114300" tIns="85725" rIns="95250" bIns="76200"/>
                    <a:lstStyle/>
                    <a:p>
                      <a:r>
                        <a:rPr sz="1650" b="0">
                          <a:solidFill>
                            <a:srgbClr val="1D2433"/>
                          </a:solidFill>
                          <a:latin typeface="IBM Plex Sans"/>
                          <a:ea typeface="IBM Plex Sans"/>
                          <a:cs typeface="IBM Plex Sans"/>
                        </a:rPr>
                        <a:t>Literature</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Measurement noise and cohort biology</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Imputation and uncertainty methods</a:t>
                      </a:r>
                    </a:p>
                  </a:txBody>
                  <a:tcPr marL="91440" marR="91440" marT="45720" marB="45720" anchor="ctr">
                    <a:solidFill>
                      <a:srgbClr val="FFFFFF"/>
                    </a:solidFill>
                  </a:tcPr>
                </a:tc>
              </a:tr>
              <a:tr h="483054">
                <a:tc>
                  <a:txBody>
                    <a:bodyPr lIns="114300" tIns="85725" rIns="95250" bIns="76200"/>
                    <a:lstStyle/>
                    <a:p>
                      <a:r>
                        <a:rPr sz="1650" b="0">
                          <a:solidFill>
                            <a:srgbClr val="1D2433"/>
                          </a:solidFill>
                          <a:latin typeface="IBM Plex Sans"/>
                          <a:ea typeface="IBM Plex Sans"/>
                          <a:cs typeface="IBM Plex Sans"/>
                        </a:rPr>
                        <a:t>Code and methods</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Data preparation and baseline experiments</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Anchor, calibration and evaluation code</a:t>
                      </a:r>
                    </a:p>
                  </a:txBody>
                  <a:tcPr marL="91440" marR="91440" marT="45720" marB="45720" anchor="ctr">
                    <a:solidFill>
                      <a:srgbClr val="FFFFFF"/>
                    </a:solidFill>
                  </a:tcPr>
                </a:tc>
              </a:tr>
              <a:tr h="483054">
                <a:tc>
                  <a:txBody>
                    <a:bodyPr lIns="114300" tIns="85725" rIns="95250" bIns="76200"/>
                    <a:lstStyle/>
                    <a:p>
                      <a:r>
                        <a:rPr sz="1650" b="0">
                          <a:solidFill>
                            <a:srgbClr val="1D2433"/>
                          </a:solidFill>
                          <a:latin typeface="IBM Plex Sans"/>
                          <a:ea typeface="IBM Plex Sans"/>
                          <a:cs typeface="IBM Plex Sans"/>
                        </a:rPr>
                        <a:t>Rationale</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Shared-error analysis and correction controls</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Participant scores and assumptions</a:t>
                      </a:r>
                    </a:p>
                  </a:txBody>
                  <a:tcPr marL="91440" marR="91440" marT="45720" marB="45720" anchor="ctr">
                    <a:solidFill>
                      <a:srgbClr val="FFFFFF"/>
                    </a:solidFill>
                  </a:tcPr>
                </a:tc>
              </a:tr>
              <a:tr h="483054">
                <a:tc>
                  <a:txBody>
                    <a:bodyPr lIns="114300" tIns="85725" rIns="95250" bIns="76200"/>
                    <a:lstStyle/>
                    <a:p>
                      <a:r>
                        <a:rPr sz="1650" b="0">
                          <a:solidFill>
                            <a:srgbClr val="1D2433"/>
                          </a:solidFill>
                          <a:latin typeface="IBM Plex Sans"/>
                          <a:ea typeface="IBM Plex Sans"/>
                          <a:cs typeface="IBM Plex Sans"/>
                        </a:rPr>
                        <a:t>Evaluation</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Prediction accuracy and cohort comparisons</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Coverage and selective marker calls</a:t>
                      </a:r>
                    </a:p>
                  </a:txBody>
                  <a:tcPr marL="91440" marR="91440" marT="45720" marB="45720" anchor="ctr">
                    <a:solidFill>
                      <a:srgbClr val="FFFFFF"/>
                    </a:solidFill>
                  </a:tcPr>
                </a:tc>
              </a:tr>
              <a:tr h="483054">
                <a:tc>
                  <a:txBody>
                    <a:bodyPr lIns="114300" tIns="85725" rIns="95250" bIns="76200"/>
                    <a:lstStyle/>
                    <a:p>
                      <a:r>
                        <a:rPr sz="1650" b="0">
                          <a:solidFill>
                            <a:srgbClr val="1D2433"/>
                          </a:solidFill>
                          <a:latin typeface="IBM Plex Sans"/>
                          <a:ea typeface="IBM Plex Sans"/>
                          <a:cs typeface="IBM Plex Sans"/>
                        </a:rPr>
                        <a:t>Insights</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Biological interpretation and figures</a:t>
                      </a:r>
                    </a:p>
                  </a:txBody>
                  <a:tcPr marL="91440" marR="91440" marT="45720" marB="45720" anchor="ctr">
                    <a:solidFill>
                      <a:srgbClr val="FFFFFF"/>
                    </a:solidFill>
                  </a:tcPr>
                </a:tc>
                <a:tc>
                  <a:txBody>
                    <a:bodyPr lIns="114300" tIns="85725" rIns="95250" bIns="76200"/>
                    <a:lstStyle/>
                    <a:p>
                      <a:r>
                        <a:rPr sz="1650" b="0">
                          <a:solidFill>
                            <a:srgbClr val="1D2433"/>
                          </a:solidFill>
                          <a:latin typeface="IBM Plex Sans"/>
                          <a:ea typeface="IBM Plex Sans"/>
                          <a:cs typeface="IBM Plex Sans"/>
                        </a:rPr>
                        <a:t>Limitations and reproducible reporting</a:t>
                      </a:r>
                    </a:p>
                  </a:txBody>
                  <a:tcPr marL="91440" marR="91440" marT="45720" marB="45720" anchor="ctr">
                    <a:solidFill>
                      <a:srgbClr val="FFFFFF"/>
                    </a:solidFill>
                  </a:tcPr>
                </a:tc>
              </a:tr>
            </a:tbl>
          </a:graphicData>
        </a:graphic>
      </p:graphicFrame>
      <p:sp>
        <p:nvSpPr>
          <p:cNvPr id="5" name="Detailed role allocation is proposed for author confirmation. Bo">
            <a:extLst xmlns:a="http://schemas.openxmlformats.org/drawingml/2006/main">
              <a:ext uri="{FF2B5EF4-FFF2-40B4-BE49-F238E27FC236}">
                <a16:creationId xmlns:a16="http://schemas.microsoft.com/office/drawing/2014/main" id="{DCBE5373-2517-464F-BF04-6EFE95DFFBFD}"/>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Detailed role allocation is proposed for author confirmation. Both share responsibility for the final interpretation.</a:t>
            </a:r>
          </a:p>
        </p:txBody>
      </p:sp>
      <p:sp>
        <p:nvSpPr>
          <p:cNvPr id="6" name="11 / 11">
            <a:extLst xmlns:a="http://schemas.openxmlformats.org/drawingml/2006/main">
              <a:ext uri="{FF2B5EF4-FFF2-40B4-BE49-F238E27FC236}">
                <a16:creationId xmlns:a16="http://schemas.microsoft.com/office/drawing/2014/main" id="{261F4753-E445-4DC4-9CB2-7CB4F3BBBFC4}"/>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11 / 11</a:t>
            </a:r>
          </a:p>
        </p:txBody>
      </p:sp>
    </p:spTree>
    <p:extLst>
      <p:ext uri="{BB962C8B-B14F-4D97-AF65-F5344CB8AC3E}">
        <p14:creationId xmlns:p14="http://schemas.microsoft.com/office/powerpoint/2010/main" val="172827637"/>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Backup: simple controls and measured inputs">
            <a:extLst xmlns:a="http://schemas.openxmlformats.org/drawingml/2006/main">
              <a:ext uri="{FF2B5EF4-FFF2-40B4-BE49-F238E27FC236}">
                <a16:creationId xmlns:a16="http://schemas.microsoft.com/office/drawing/2014/main" id="{DEF970EE-528B-4A30-9846-F345D2FED7C5}"/>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Backup: simple controls and measured inputs</a:t>
            </a:r>
          </a:p>
        </p:txBody>
      </p:sp>
      <p:sp>
        <p:nvSpPr>
          <p:cNvPr id="2" name="">
            <a:extLst xmlns:a="http://schemas.openxmlformats.org/drawingml/2006/main">
              <a:ext uri="{FF2B5EF4-FFF2-40B4-BE49-F238E27FC236}">
                <a16:creationId xmlns:a16="http://schemas.microsoft.com/office/drawing/2014/main" id="{36584BC3-06F0-40A7-B088-4876D8218D06}"/>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CC64DFB9-D03B-4826-AEC9-AFE7DAE8597B}"/>
              </a:ext>
            </a:extLst>
          </p:cNvPr>
          <p:cNvGraphicFramePr/>
          <p:nvPr/>
        </p:nvGraphicFramePr>
        <p:xfrm>
          <a:off xmlns:a="http://schemas.openxmlformats.org/drawingml/2006/main" x="723900" y="1666875"/>
          <a:ext xmlns:a="http://schemas.openxmlformats.org/drawingml/2006/main" cx="10725150" cy="3286125"/>
        </p:xfrm>
        <a:graphic xmlns:a="http://schemas.openxmlformats.org/drawingml/2006/main">
          <a:graphicData uri="http://schemas.openxmlformats.org/drawingml/2006/table">
            <a:tbl>
              <a:tblPr/>
              <a:tblGrid>
                <a:gridCol w="4591050"/>
                <a:gridCol w="1809750"/>
                <a:gridCol w="2276475"/>
                <a:gridCol w="2047875"/>
              </a:tblGrid>
              <a:tr h="547688">
                <a:tc>
                  <a:txBody>
                    <a:bodyPr lIns="114300" tIns="85725" rIns="95250" bIns="76200"/>
                    <a:lstStyle/>
                    <a:p>
                      <a:r>
                        <a:rPr sz="1500" b="1">
                          <a:solidFill>
                            <a:srgbClr val="1D2433"/>
                          </a:solidFill>
                          <a:latin typeface="IBM Plex Sans"/>
                          <a:ea typeface="IBM Plex Sans"/>
                          <a:cs typeface="IBM Plex Sans"/>
                        </a:rPr>
                        <a:t>Stephenson ridge variant</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Below 85%</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Interval score</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Width</a:t>
                      </a:r>
                    </a:p>
                  </a:txBody>
                  <a:tcPr marL="91440" marR="91440" marT="45720" marB="45720" anchor="ctr">
                    <a:solidFill>
                      <a:srgbClr val="EDF2FF"/>
                    </a:solidFill>
                  </a:tcPr>
                </a:tc>
              </a:tr>
              <a:tr h="547688">
                <a:tc>
                  <a:txBody>
                    <a:bodyPr lIns="114300" tIns="85725" rIns="95250" bIns="76200"/>
                    <a:lstStyle/>
                    <a:p>
                      <a:r>
                        <a:rPr sz="1725" b="0">
                          <a:solidFill>
                            <a:srgbClr val="1D2433"/>
                          </a:solidFill>
                          <a:latin typeface="IBM Plex Sans"/>
                          <a:ea typeface="IBM Plex Sans"/>
                          <a:cs typeface="IBM Plex Sans"/>
                        </a:rPr>
                        <a:t>Design-mean correction only</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8.3%</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3.26</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2.65</a:t>
                      </a:r>
                    </a:p>
                  </a:txBody>
                  <a:tcPr marL="91440" marR="91440" marT="45720" marB="45720" anchor="ctr">
                    <a:solidFill>
                      <a:srgbClr val="FFFFFF"/>
                    </a:solidFill>
                  </a:tcPr>
                </a:tc>
              </a:tr>
              <a:tr h="547688">
                <a:tc>
                  <a:txBody>
                    <a:bodyPr lIns="114300" tIns="85725" rIns="95250" bIns="76200"/>
                    <a:lstStyle/>
                    <a:p>
                      <a:r>
                        <a:rPr sz="1725" b="0">
                          <a:solidFill>
                            <a:srgbClr val="1D2433"/>
                          </a:solidFill>
                          <a:latin typeface="IBM Plex Sans"/>
                          <a:ea typeface="IBM Plex Sans"/>
                          <a:cs typeface="IBM Plex Sans"/>
                        </a:rPr>
                        <a:t>Common anchor offset</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4.4%</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2.79</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2.20</a:t>
                      </a:r>
                    </a:p>
                  </a:txBody>
                  <a:tcPr marL="91440" marR="91440" marT="45720" marB="45720" anchor="ctr">
                    <a:solidFill>
                      <a:srgbClr val="FFFFFF"/>
                    </a:solidFill>
                  </a:tcPr>
                </a:tc>
              </a:tr>
              <a:tr h="547688">
                <a:tc>
                  <a:txBody>
                    <a:bodyPr lIns="114300" tIns="85725" rIns="95250" bIns="76200"/>
                    <a:lstStyle/>
                    <a:p>
                      <a:r>
                        <a:rPr sz="1725" b="0">
                          <a:solidFill>
                            <a:srgbClr val="1D2433"/>
                          </a:solidFill>
                          <a:latin typeface="IBM Plex Sans"/>
                          <a:ea typeface="IBM Plex Sans"/>
                          <a:cs typeface="IBM Plex Sans"/>
                        </a:rPr>
                        <a:t>Isotype-driven map</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4.5%</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2.81</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2.22</a:t>
                      </a:r>
                    </a:p>
                  </a:txBody>
                  <a:tcPr marL="91440" marR="91440" marT="45720" marB="45720" anchor="ctr">
                    <a:solidFill>
                      <a:srgbClr val="FFFFFF"/>
                    </a:solidFill>
                  </a:tcPr>
                </a:tc>
              </a:tr>
              <a:tr h="547688">
                <a:tc>
                  <a:txBody>
                    <a:bodyPr lIns="114300" tIns="85725" rIns="95250" bIns="76200"/>
                    <a:lstStyle/>
                    <a:p>
                      <a:r>
                        <a:rPr sz="1725" b="0">
                          <a:solidFill>
                            <a:srgbClr val="1D2433"/>
                          </a:solidFill>
                          <a:latin typeface="IBM Plex Sans"/>
                          <a:ea typeface="IBM Plex Sans"/>
                          <a:cs typeface="IBM Plex Sans"/>
                        </a:rPr>
                        <a:t>Learned shared map</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4.2%</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2.77</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2.19</a:t>
                      </a:r>
                    </a:p>
                  </a:txBody>
                  <a:tcPr marL="91440" marR="91440" marT="45720" marB="45720" anchor="ctr">
                    <a:solidFill>
                      <a:srgbClr val="FFFFFF"/>
                    </a:solidFill>
                  </a:tcPr>
                </a:tc>
              </a:tr>
              <a:tr h="547688">
                <a:tc>
                  <a:txBody>
                    <a:bodyPr lIns="114300" tIns="85725" rIns="95250" bIns="76200"/>
                    <a:lstStyle/>
                    <a:p>
                      <a:r>
                        <a:rPr sz="1725" b="0">
                          <a:solidFill>
                            <a:srgbClr val="1D2433"/>
                          </a:solidFill>
                          <a:latin typeface="IBM Plex Sans"/>
                          <a:ea typeface="IBM Plex Sans"/>
                          <a:cs typeface="IBM Plex Sans"/>
                        </a:rPr>
                        <a:t>Measured anchors as model inputs</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4.5%</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2.33</a:t>
                      </a:r>
                    </a:p>
                  </a:txBody>
                  <a:tcPr marL="91440" marR="91440" marT="45720" marB="45720" anchor="ctr">
                    <a:solidFill>
                      <a:srgbClr val="FFFFFF"/>
                    </a:solidFill>
                  </a:tcPr>
                </a:tc>
                <a:tc>
                  <a:txBody>
                    <a:bodyPr lIns="114300" tIns="85725" rIns="95250" bIns="76200"/>
                    <a:lstStyle/>
                    <a:p>
                      <a:r>
                        <a:rPr sz="1725" b="0">
                          <a:solidFill>
                            <a:srgbClr val="1D2433"/>
                          </a:solidFill>
                          <a:latin typeface="IBM Plex Sans"/>
                          <a:ea typeface="IBM Plex Sans"/>
                          <a:cs typeface="IBM Plex Sans"/>
                        </a:rPr>
                        <a:t>1.90</a:t>
                      </a:r>
                    </a:p>
                  </a:txBody>
                  <a:tcPr marL="91440" marR="91440" marT="45720" marB="45720" anchor="ctr">
                    <a:solidFill>
                      <a:srgbClr val="FFFFFF"/>
                    </a:solidFill>
                  </a:tcPr>
                </a:tc>
              </a:tr>
            </a:tbl>
          </a:graphicData>
        </a:graphic>
      </p:graphicFrame>
      <p:sp>
        <p:nvSpPr>
          <p:cNvPr id="4" name="Lower interval score rewards both accuracy and useful width.&#10;Sim">
            <a:extLst xmlns:a="http://schemas.openxmlformats.org/drawingml/2006/main">
              <a:ext uri="{FF2B5EF4-FFF2-40B4-BE49-F238E27FC236}">
                <a16:creationId xmlns:a16="http://schemas.microsoft.com/office/drawing/2014/main" id="{0E715C24-FE87-45D4-9C30-7762D9C5B048}"/>
              </a:ext>
            </a:extLst>
          </p:cNvPr>
          <p:cNvSpPr>
            <a:spLocks xmlns:a="http://schemas.openxmlformats.org/drawingml/2006/main" noGrp="1"/>
          </p:cNvSpPr>
          <p:nvPr/>
        </p:nvSpPr>
        <p:spPr>
          <a:xfrm xmlns:a="http://schemas.openxmlformats.org/drawingml/2006/main">
            <a:off x="723900" y="537210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1D2433"/>
                </a:solidFill>
                <a:latin typeface="IBM Plex Sans"/>
                <a:ea typeface="IBM Plex Sans"/>
                <a:cs typeface="IBM Plex Sans"/>
              </a:defRPr>
            </a:defPPr>
          </a:lstStyle>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Lower interval score rewards both accuracy and useful width.</a:t>
            </a:r>
          </a:p>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Simple offsets nearly matched the map; direct inputs gave narrower ranges.</a:t>
            </a:r>
          </a:p>
        </p:txBody>
      </p:sp>
      <p:sp>
        <p:nvSpPr>
          <p:cNvPr id="5" name="All rows use participant-block calibration. No row is fully unco">
            <a:extLst xmlns:a="http://schemas.openxmlformats.org/drawingml/2006/main">
              <a:ext uri="{FF2B5EF4-FFF2-40B4-BE49-F238E27FC236}">
                <a16:creationId xmlns:a16="http://schemas.microsoft.com/office/drawing/2014/main" id="{45A88290-44D7-4C00-8BBE-F21C0C85D840}"/>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All rows use participant-block calibration. No row is fully uncorrected. Lower score and width are preferable at similar coverage.</a:t>
            </a:r>
          </a:p>
        </p:txBody>
      </p:sp>
      <p:sp>
        <p:nvSpPr>
          <p:cNvPr id="6" name="Backup 1">
            <a:extLst xmlns:a="http://schemas.openxmlformats.org/drawingml/2006/main">
              <a:ext uri="{FF2B5EF4-FFF2-40B4-BE49-F238E27FC236}">
                <a16:creationId xmlns:a16="http://schemas.microsoft.com/office/drawing/2014/main" id="{8EF2E494-8B1B-4763-BE98-DECFF67FC66D}"/>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Backup 1</a:t>
            </a:r>
          </a:p>
        </p:txBody>
      </p:sp>
    </p:spTree>
    <p:extLst>
      <p:ext uri="{BB962C8B-B14F-4D97-AF65-F5344CB8AC3E}">
        <p14:creationId xmlns:p14="http://schemas.microsoft.com/office/powerpoint/2010/main" val="38886473"/>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Backup: what the coverage statement actually means">
            <a:extLst xmlns:a="http://schemas.openxmlformats.org/drawingml/2006/main">
              <a:ext uri="{FF2B5EF4-FFF2-40B4-BE49-F238E27FC236}">
                <a16:creationId xmlns:a16="http://schemas.microsoft.com/office/drawing/2014/main" id="{15F85138-366C-48EA-8B2C-34C501704408}"/>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Backup: what the coverage statement actually means</a:t>
            </a:r>
          </a:p>
        </p:txBody>
      </p:sp>
      <p:sp>
        <p:nvSpPr>
          <p:cNvPr id="2" name="">
            <a:extLst xmlns:a="http://schemas.openxmlformats.org/drawingml/2006/main">
              <a:ext uri="{FF2B5EF4-FFF2-40B4-BE49-F238E27FC236}">
                <a16:creationId xmlns:a16="http://schemas.microsoft.com/office/drawing/2014/main" id="{DEC24CE1-8D14-47A7-8FB7-2BCA3BE78C4B}"/>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For each protein separately">
            <a:extLst xmlns:a="http://schemas.openxmlformats.org/drawingml/2006/main">
              <a:ext uri="{FF2B5EF4-FFF2-40B4-BE49-F238E27FC236}">
                <a16:creationId xmlns:a16="http://schemas.microsoft.com/office/drawing/2014/main" id="{D9BB168D-1746-48DB-AC31-279B18D6D4FB}"/>
              </a:ext>
            </a:extLst>
          </p:cNvPr>
          <p:cNvSpPr>
            <a:spLocks xmlns:a="http://schemas.openxmlformats.org/drawingml/2006/main" noGrp="1"/>
          </p:cNvSpPr>
          <p:nvPr/>
        </p:nvSpPr>
        <p:spPr>
          <a:xfrm xmlns:a="http://schemas.openxmlformats.org/drawingml/2006/main">
            <a:off x="723900" y="16097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245EFF"/>
                </a:solidFill>
                <a:latin typeface="IBM Plex Sans"/>
                <a:ea typeface="IBM Plex Sans"/>
                <a:cs typeface="IBM Plex Sans"/>
              </a:defRPr>
            </a:defPPr>
          </a:lstStyle>
          <a:p xmlns:a="http://schemas.openxmlformats.org/drawingml/2006/main">
            <a:pPr algn="l">
              <a:defRPr sz="2400" b="1">
                <a:solidFill>
                  <a:srgbClr val="245EFF"/>
                </a:solidFill>
                <a:latin typeface="IBM Plex Sans"/>
                <a:ea typeface="IBM Plex Sans"/>
                <a:cs typeface="IBM Plex Sans"/>
              </a:defRPr>
            </a:pPr>
            <a:r>
              <a:rPr sz="2400" b="1">
                <a:solidFill>
                  <a:srgbClr val="245EFF"/>
                </a:solidFill>
                <a:latin typeface="IBM Plex Sans"/>
                <a:ea typeface="IBM Plex Sans"/>
                <a:cs typeface="IBM Plex Sans"/>
              </a:rPr>
              <a:t>For each protein separately</a:t>
            </a:r>
          </a:p>
        </p:txBody>
      </p:sp>
      <p:sp>
        <p:nvSpPr>
          <p:cNvPr id="4" name="With 15 calibration participants, use the 13th ordered participa">
            <a:extLst xmlns:a="http://schemas.openxmlformats.org/drawingml/2006/main">
              <a:ext uri="{FF2B5EF4-FFF2-40B4-BE49-F238E27FC236}">
                <a16:creationId xmlns:a16="http://schemas.microsoft.com/office/drawing/2014/main" id="{931D5F6E-4A11-42F9-90C4-523D0E18413E}"/>
              </a:ext>
            </a:extLst>
          </p:cNvPr>
          <p:cNvSpPr>
            <a:spLocks xmlns:a="http://schemas.openxmlformats.org/drawingml/2006/main" noGrp="1"/>
          </p:cNvSpPr>
          <p:nvPr/>
        </p:nvSpPr>
        <p:spPr>
          <a:xfrm xmlns:a="http://schemas.openxmlformats.org/drawingml/2006/main">
            <a:off x="723900" y="22955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D2433"/>
                </a:solidFill>
                <a:latin typeface="IBM Plex Sans"/>
                <a:ea typeface="IBM Plex Sans"/>
                <a:cs typeface="IBM Plex Sans"/>
              </a:defRPr>
            </a:defPPr>
          </a:lstStyle>
          <a:p xmlns:a="http://schemas.openxmlformats.org/drawingml/2006/main">
            <a:pPr algn="l">
              <a:defRPr sz="2175" b="0">
                <a:solidFill>
                  <a:srgbClr val="1D2433"/>
                </a:solidFill>
                <a:latin typeface="IBM Plex Sans"/>
                <a:ea typeface="IBM Plex Sans"/>
                <a:cs typeface="IBM Plex Sans"/>
              </a:defRPr>
            </a:pPr>
            <a:r>
              <a:rPr sz="2175" b="0">
                <a:solidFill>
                  <a:srgbClr val="1D2433"/>
                </a:solidFill>
                <a:latin typeface="IBM Plex Sans"/>
                <a:ea typeface="IBM Plex Sans"/>
                <a:cs typeface="IBM Plex Sans"/>
              </a:rPr>
              <a:t>With 15 calibration participants, use the 13th ordered participant score. Each score summarizes the range needed for 90% cell coverage.</a:t>
            </a:r>
          </a:p>
        </p:txBody>
      </p:sp>
      <p:sp>
        <p:nvSpPr>
          <p:cNvPr id="5" name="">
            <a:extLst xmlns:a="http://schemas.openxmlformats.org/drawingml/2006/main">
              <a:ext uri="{FF2B5EF4-FFF2-40B4-BE49-F238E27FC236}">
                <a16:creationId xmlns:a16="http://schemas.microsoft.com/office/drawing/2014/main" id="{CD33DD5B-B61E-441F-BBEE-A4076C2D598A}"/>
              </a:ext>
            </a:extLst>
          </p:cNvPr>
          <p:cNvSpPr>
            <a:spLocks xmlns:a="http://schemas.openxmlformats.org/drawingml/2006/main" noGrp="1"/>
          </p:cNvSpPr>
          <p:nvPr/>
        </p:nvSpPr>
        <p:spPr>
          <a:xfrm xmlns:a="http://schemas.openxmlformats.org/drawingml/2006/main">
            <a:off x="723900" y="3724275"/>
            <a:ext cx="10725150" cy="1000125"/>
          </a:xfrm>
          <a:prstGeom xmlns:a="http://schemas.openxmlformats.org/drawingml/2006/main" prst="rect">
            <a:avLst/>
          </a:prstGeom>
          <a:solidFill xmlns:a="http://schemas.openxmlformats.org/drawingml/2006/main">
            <a:srgbClr val="EDF2FF"/>
          </a:solidFill>
          <a:ln xmlns:a="http://schemas.openxmlformats.org/drawingml/2006/main" w="0">
            <a:noFill/>
          </a:ln>
        </p:spPr>
      </p:sp>
      <p:sp>
        <p:nvSpPr>
          <p:cNvPr id="6" name="P(new participant reaches 90% cell coverage) ≥ 13/16">
            <a:extLst xmlns:a="http://schemas.openxmlformats.org/drawingml/2006/main">
              <a:ext uri="{FF2B5EF4-FFF2-40B4-BE49-F238E27FC236}">
                <a16:creationId xmlns:a16="http://schemas.microsoft.com/office/drawing/2014/main" id="{FADF5ACC-C465-4DFF-A354-75B078573443}"/>
              </a:ext>
            </a:extLst>
          </p:cNvPr>
          <p:cNvSpPr>
            <a:spLocks xmlns:a="http://schemas.openxmlformats.org/drawingml/2006/main" noGrp="1"/>
          </p:cNvSpPr>
          <p:nvPr/>
        </p:nvSpPr>
        <p:spPr>
          <a:xfrm xmlns:a="http://schemas.openxmlformats.org/drawingml/2006/main">
            <a:off x="914400" y="4010025"/>
            <a:ext cx="1038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245EFF"/>
                </a:solidFill>
                <a:latin typeface="IBM Plex Sans"/>
                <a:ea typeface="IBM Plex Sans"/>
                <a:cs typeface="IBM Plex Sans"/>
              </a:defRPr>
            </a:defPPr>
          </a:lstStyle>
          <a:p xmlns:a="http://schemas.openxmlformats.org/drawingml/2006/main">
            <a:pPr algn="l">
              <a:defRPr sz="2400" b="1">
                <a:solidFill>
                  <a:srgbClr val="245EFF"/>
                </a:solidFill>
                <a:latin typeface="IBM Plex Sans"/>
                <a:ea typeface="IBM Plex Sans"/>
                <a:cs typeface="IBM Plex Sans"/>
              </a:defRPr>
            </a:pPr>
            <a:r>
              <a:rPr sz="2400" b="1">
                <a:solidFill>
                  <a:srgbClr val="245EFF"/>
                </a:solidFill>
                <a:latin typeface="IBM Plex Sans"/>
                <a:ea typeface="IBM Plex Sans"/>
                <a:cs typeface="IBM Plex Sans"/>
              </a:rPr>
              <a:t>P(new participant reaches 90% cell coverage) ≥ 13/16</a:t>
            </a:r>
          </a:p>
        </p:txBody>
      </p:sp>
      <p:sp>
        <p:nvSpPr>
          <p:cNvPr id="7" name="Requires exchangeable participants and a frozen or symmetric pip">
            <a:extLst xmlns:a="http://schemas.openxmlformats.org/drawingml/2006/main">
              <a:ext uri="{FF2B5EF4-FFF2-40B4-BE49-F238E27FC236}">
                <a16:creationId xmlns:a16="http://schemas.microsoft.com/office/drawing/2014/main" id="{06B5D4AF-383D-4FB8-B63B-5C513A76B0AA}"/>
              </a:ext>
            </a:extLst>
          </p:cNvPr>
          <p:cNvSpPr>
            <a:spLocks xmlns:a="http://schemas.openxmlformats.org/drawingml/2006/main" noGrp="1"/>
          </p:cNvSpPr>
          <p:nvPr/>
        </p:nvSpPr>
        <p:spPr>
          <a:xfrm xmlns:a="http://schemas.openxmlformats.org/drawingml/2006/main">
            <a:off x="723900" y="51625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D2433"/>
                </a:solidFill>
                <a:latin typeface="IBM Plex Sans"/>
                <a:ea typeface="IBM Plex Sans"/>
                <a:cs typeface="IBM Plex Sans"/>
              </a:defRPr>
            </a:defPPr>
          </a:lstStyle>
          <a:p xmlns:a="http://schemas.openxmlformats.org/drawingml/2006/main">
            <a:pPr algn="l">
              <a:defRPr sz="2025" b="0">
                <a:solidFill>
                  <a:srgbClr val="1D2433"/>
                </a:solidFill>
                <a:latin typeface="IBM Plex Sans"/>
                <a:ea typeface="IBM Plex Sans"/>
                <a:cs typeface="IBM Plex Sans"/>
              </a:defRPr>
            </a:pPr>
            <a:r>
              <a:rPr sz="2025" b="0">
                <a:solidFill>
                  <a:srgbClr val="1D2433"/>
                </a:solidFill>
                <a:latin typeface="IBM Plex Sans"/>
                <a:ea typeface="IBM Plex Sans"/>
                <a:cs typeface="IBM Plex Sans"/>
              </a:rPr>
              <a:t>Requires exchangeable participants and a frozen or symmetric pipeline.</a:t>
            </a:r>
          </a:p>
          <a:p xmlns:a="http://schemas.openxmlformats.org/drawingml/2006/main">
            <a:pPr algn="l">
              <a:defRPr sz="2025" b="0">
                <a:solidFill>
                  <a:srgbClr val="1D2433"/>
                </a:solidFill>
                <a:latin typeface="IBM Plex Sans"/>
                <a:ea typeface="IBM Plex Sans"/>
                <a:cs typeface="IBM Plex Sans"/>
              </a:defRPr>
            </a:pPr>
            <a:r>
              <a:rPr sz="2025" b="0">
                <a:solidFill>
                  <a:srgbClr val="1D2433"/>
                </a:solidFill>
                <a:latin typeface="IBM Plex Sans"/>
                <a:ea typeface="IBM Plex Sans"/>
                <a:cs typeface="IBM Plex Sans"/>
              </a:rPr>
              <a:t>It is not a guarantee for every person or all proteins at once.</a:t>
            </a:r>
          </a:p>
        </p:txBody>
      </p:sp>
      <p:sp>
        <p:nvSpPr>
          <p:cNvPr id="8" name="The study pools held-out RNA before imputation. Fully unseen-don">
            <a:extLst xmlns:a="http://schemas.openxmlformats.org/drawingml/2006/main">
              <a:ext uri="{FF2B5EF4-FFF2-40B4-BE49-F238E27FC236}">
                <a16:creationId xmlns:a16="http://schemas.microsoft.com/office/drawing/2014/main" id="{EE7772B4-3076-42C4-8F0E-5DA2B6730AFA}"/>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The study pools held-out RNA before imputation. Fully unseen-donor deployment needs separate validation.</a:t>
            </a:r>
          </a:p>
        </p:txBody>
      </p:sp>
      <p:sp>
        <p:nvSpPr>
          <p:cNvPr id="9" name="Backup 2">
            <a:extLst xmlns:a="http://schemas.openxmlformats.org/drawingml/2006/main">
              <a:ext uri="{FF2B5EF4-FFF2-40B4-BE49-F238E27FC236}">
                <a16:creationId xmlns:a16="http://schemas.microsoft.com/office/drawing/2014/main" id="{AD7031AA-BF25-404A-A37E-56B30E7EF6C1}"/>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Backup 2</a:t>
            </a:r>
          </a:p>
        </p:txBody>
      </p:sp>
    </p:spTree>
    <p:extLst>
      <p:ext uri="{BB962C8B-B14F-4D97-AF65-F5344CB8AC3E}">
        <p14:creationId xmlns:p14="http://schemas.microsoft.com/office/powerpoint/2010/main" val="38886473"/>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Completed scVAEIT comparison">
            <a:extLst xmlns:a="http://schemas.openxmlformats.org/drawingml/2006/main">
              <a:ext uri="{FF2B5EF4-FFF2-40B4-BE49-F238E27FC236}">
                <a16:creationId xmlns:a16="http://schemas.microsoft.com/office/drawing/2014/main" id="{86AA41E1-B5DA-47EB-ADB1-661EA0B3A2AE}"/>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Completed scVAEIT comparison</a:t>
            </a:r>
          </a:p>
        </p:txBody>
      </p:sp>
      <p:sp>
        <p:nvSpPr>
          <p:cNvPr id="2" name="">
            <a:extLst xmlns:a="http://schemas.openxmlformats.org/drawingml/2006/main">
              <a:ext uri="{FF2B5EF4-FFF2-40B4-BE49-F238E27FC236}">
                <a16:creationId xmlns:a16="http://schemas.microsoft.com/office/drawing/2014/main" id="{3FBBEACD-A715-41CC-BAF0-725E57372009}"/>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Stephenson: two predictors using the same five measured proteins">
            <a:extLst xmlns:a="http://schemas.openxmlformats.org/drawingml/2006/main">
              <a:ext uri="{FF2B5EF4-FFF2-40B4-BE49-F238E27FC236}">
                <a16:creationId xmlns:a16="http://schemas.microsoft.com/office/drawing/2014/main" id="{6678F071-7F97-4022-B143-5C8219407570}"/>
              </a:ext>
            </a:extLst>
          </p:cNvPr>
          <p:cNvSpPr>
            <a:spLocks xmlns:a="http://schemas.openxmlformats.org/drawingml/2006/main" noGrp="1"/>
          </p:cNvSpPr>
          <p:nvPr/>
        </p:nvSpPr>
        <p:spPr>
          <a:xfrm xmlns:a="http://schemas.openxmlformats.org/drawingml/2006/main">
            <a:off x="723900" y="14382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D2433"/>
                </a:solidFill>
                <a:latin typeface="IBM Plex Sans"/>
                <a:ea typeface="IBM Plex Sans"/>
                <a:cs typeface="IBM Plex Sans"/>
              </a:defRPr>
            </a:defPPr>
          </a:lstStyle>
          <a:p xmlns:a="http://schemas.openxmlformats.org/drawingml/2006/main">
            <a:pPr algn="l">
              <a:defRPr sz="2100" b="0">
                <a:solidFill>
                  <a:srgbClr val="1D2433"/>
                </a:solidFill>
                <a:latin typeface="IBM Plex Sans"/>
                <a:ea typeface="IBM Plex Sans"/>
                <a:cs typeface="IBM Plex Sans"/>
              </a:defRPr>
            </a:pPr>
            <a:r>
              <a:rPr sz="2100" b="0">
                <a:solidFill>
                  <a:srgbClr val="1D2433"/>
                </a:solidFill>
                <a:latin typeface="IBM Plex Sans"/>
                <a:ea typeface="IBM Plex Sans"/>
                <a:cs typeface="IBM Plex Sans"/>
              </a:rPr>
              <a:t>Stephenson: two predictors using the same five measured proteins</a:t>
            </a:r>
          </a:p>
        </p:txBody>
      </p:sp>
      <p:graphicFrame>
        <p:nvGraphicFramePr>
          <p:cNvPr id="4" name="">
            <a:extLst xmlns:a="http://schemas.openxmlformats.org/drawingml/2006/main">
              <a:ext uri="{FF2B5EF4-FFF2-40B4-BE49-F238E27FC236}">
                <a16:creationId xmlns:a16="http://schemas.microsoft.com/office/drawing/2014/main" id="{85260237-8073-4F2F-B3E7-8316E7D2063F}"/>
              </a:ext>
            </a:extLst>
          </p:cNvPr>
          <p:cNvGraphicFramePr/>
          <p:nvPr/>
        </p:nvGraphicFramePr>
        <p:xfrm>
          <a:off xmlns:a="http://schemas.openxmlformats.org/drawingml/2006/main" x="723900" y="2305050"/>
          <a:ext xmlns:a="http://schemas.openxmlformats.org/drawingml/2006/main" cx="10725150" cy="2095500"/>
        </p:xfrm>
        <a:graphic xmlns:a="http://schemas.openxmlformats.org/drawingml/2006/main">
          <a:graphicData uri="http://schemas.openxmlformats.org/drawingml/2006/table">
            <a:tbl>
              <a:tblPr/>
              <a:tblGrid>
                <a:gridCol w="3314700"/>
                <a:gridCol w="1714500"/>
                <a:gridCol w="2152650"/>
                <a:gridCol w="1524000"/>
                <a:gridCol w="2019300"/>
              </a:tblGrid>
              <a:tr h="698500">
                <a:tc>
                  <a:txBody>
                    <a:bodyPr lIns="114300" tIns="85725" rIns="95250" bIns="76200"/>
                    <a:lstStyle/>
                    <a:p>
                      <a:r>
                        <a:rPr sz="1500" b="1">
                          <a:solidFill>
                            <a:srgbClr val="1D2433"/>
                          </a:solidFill>
                          <a:latin typeface="IBM Plex Sans"/>
                          <a:ea typeface="IBM Plex Sans"/>
                          <a:cs typeface="IBM Plex Sans"/>
                        </a:rPr>
                        <a:t>Predictor</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RMSE</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At 90%</a:t>
                      </a:r>
                    </a:p>
                    <a:p>
                      <a:r>
                        <a:rPr sz="1500" b="1">
                          <a:solidFill>
                            <a:srgbClr val="1D2433"/>
                          </a:solidFill>
                          <a:latin typeface="IBM Plex Sans"/>
                          <a:ea typeface="IBM Plex Sans"/>
                          <a:cs typeface="IBM Plex Sans"/>
                        </a:rPr>
                        <a:t>cell coverage</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Calls</a:t>
                      </a:r>
                    </a:p>
                    <a:p>
                      <a:r>
                        <a:rPr sz="1500" b="1">
                          <a:solidFill>
                            <a:srgbClr val="1D2433"/>
                          </a:solidFill>
                          <a:latin typeface="IBM Plex Sans"/>
                          <a:ea typeface="IBM Plex Sans"/>
                          <a:cs typeface="IBM Plex Sans"/>
                        </a:rPr>
                        <a:t>made</a:t>
                      </a:r>
                    </a:p>
                  </a:txBody>
                  <a:tcPr marL="91440" marR="91440" marT="45720" marB="45720" anchor="ctr">
                    <a:solidFill>
                      <a:srgbClr val="EDF2FF"/>
                    </a:solidFill>
                  </a:tcPr>
                </a:tc>
                <a:tc>
                  <a:txBody>
                    <a:bodyPr lIns="114300" tIns="85725" rIns="95250" bIns="76200"/>
                    <a:lstStyle/>
                    <a:p>
                      <a:r>
                        <a:rPr sz="1500" b="1">
                          <a:solidFill>
                            <a:srgbClr val="1D2433"/>
                          </a:solidFill>
                          <a:latin typeface="IBM Plex Sans"/>
                          <a:ea typeface="IBM Plex Sans"/>
                          <a:cs typeface="IBM Plex Sans"/>
                        </a:rPr>
                        <a:t>Error among</a:t>
                      </a:r>
                    </a:p>
                    <a:p>
                      <a:r>
                        <a:rPr sz="1500" b="1">
                          <a:solidFill>
                            <a:srgbClr val="1D2433"/>
                          </a:solidFill>
                          <a:latin typeface="IBM Plex Sans"/>
                          <a:ea typeface="IBM Plex Sans"/>
                          <a:cs typeface="IBM Plex Sans"/>
                        </a:rPr>
                        <a:t>calls</a:t>
                      </a:r>
                    </a:p>
                  </a:txBody>
                  <a:tcPr marL="91440" marR="91440" marT="45720" marB="45720" anchor="ctr">
                    <a:solidFill>
                      <a:srgbClr val="EDF2FF"/>
                    </a:solidFill>
                  </a:tcPr>
                </a:tc>
              </a:tr>
              <a:tr h="698500">
                <a:tc>
                  <a:txBody>
                    <a:bodyPr lIns="114300" tIns="85725" rIns="95250" bIns="76200"/>
                    <a:lstStyle/>
                    <a:p>
                      <a:r>
                        <a:rPr sz="2025" b="0">
                          <a:solidFill>
                            <a:srgbClr val="1D2433"/>
                          </a:solidFill>
                          <a:latin typeface="IBM Plex Sans"/>
                          <a:ea typeface="IBM Plex Sans"/>
                          <a:cs typeface="IBM Plex Sans"/>
                        </a:rPr>
                        <a:t>Ridge + anchors</a:t>
                      </a:r>
                    </a:p>
                  </a:txBody>
                  <a:tcPr marL="91440" marR="91440" marT="45720" marB="45720" anchor="ctr">
                    <a:solidFill>
                      <a:srgbClr val="FFFFFF"/>
                    </a:solidFill>
                  </a:tcPr>
                </a:tc>
                <a:tc>
                  <a:txBody>
                    <a:bodyPr lIns="114300" tIns="85725" rIns="95250" bIns="76200"/>
                    <a:lstStyle/>
                    <a:p>
                      <a:r>
                        <a:rPr sz="2025" b="0">
                          <a:solidFill>
                            <a:srgbClr val="1D2433"/>
                          </a:solidFill>
                          <a:latin typeface="IBM Plex Sans"/>
                          <a:ea typeface="IBM Plex Sans"/>
                          <a:cs typeface="IBM Plex Sans"/>
                        </a:rPr>
                        <a:t>0.54</a:t>
                      </a:r>
                    </a:p>
                  </a:txBody>
                  <a:tcPr marL="91440" marR="91440" marT="45720" marB="45720" anchor="ctr">
                    <a:solidFill>
                      <a:srgbClr val="FFFFFF"/>
                    </a:solidFill>
                  </a:tcPr>
                </a:tc>
                <a:tc>
                  <a:txBody>
                    <a:bodyPr lIns="114300" tIns="85725" rIns="95250" bIns="76200"/>
                    <a:lstStyle/>
                    <a:p>
                      <a:r>
                        <a:rPr sz="2025" b="0">
                          <a:solidFill>
                            <a:srgbClr val="1D2433"/>
                          </a:solidFill>
                          <a:latin typeface="IBM Plex Sans"/>
                          <a:ea typeface="IBM Plex Sans"/>
                          <a:cs typeface="IBM Plex Sans"/>
                        </a:rPr>
                        <a:t>82%</a:t>
                      </a:r>
                    </a:p>
                  </a:txBody>
                  <a:tcPr marL="91440" marR="91440" marT="45720" marB="45720" anchor="ctr">
                    <a:solidFill>
                      <a:srgbClr val="FFFFFF"/>
                    </a:solidFill>
                  </a:tcPr>
                </a:tc>
                <a:tc>
                  <a:txBody>
                    <a:bodyPr lIns="114300" tIns="85725" rIns="95250" bIns="76200"/>
                    <a:lstStyle/>
                    <a:p>
                      <a:r>
                        <a:rPr sz="2025" b="0">
                          <a:solidFill>
                            <a:srgbClr val="1D2433"/>
                          </a:solidFill>
                          <a:latin typeface="IBM Plex Sans"/>
                          <a:ea typeface="IBM Plex Sans"/>
                          <a:cs typeface="IBM Plex Sans"/>
                        </a:rPr>
                        <a:t>35%</a:t>
                      </a:r>
                    </a:p>
                  </a:txBody>
                  <a:tcPr marL="91440" marR="91440" marT="45720" marB="45720" anchor="ctr">
                    <a:solidFill>
                      <a:srgbClr val="FFFFFF"/>
                    </a:solidFill>
                  </a:tcPr>
                </a:tc>
                <a:tc>
                  <a:txBody>
                    <a:bodyPr lIns="114300" tIns="85725" rIns="95250" bIns="76200"/>
                    <a:lstStyle/>
                    <a:p>
                      <a:r>
                        <a:rPr sz="2025" b="0">
                          <a:solidFill>
                            <a:srgbClr val="1D2433"/>
                          </a:solidFill>
                          <a:latin typeface="IBM Plex Sans"/>
                          <a:ea typeface="IBM Plex Sans"/>
                          <a:cs typeface="IBM Plex Sans"/>
                        </a:rPr>
                        <a:t>1.6%</a:t>
                      </a:r>
                    </a:p>
                  </a:txBody>
                  <a:tcPr marL="91440" marR="91440" marT="45720" marB="45720" anchor="ctr">
                    <a:solidFill>
                      <a:srgbClr val="FFFFFF"/>
                    </a:solidFill>
                  </a:tcPr>
                </a:tc>
              </a:tr>
              <a:tr h="698500">
                <a:tc>
                  <a:txBody>
                    <a:bodyPr lIns="114300" tIns="85725" rIns="95250" bIns="76200"/>
                    <a:lstStyle/>
                    <a:p>
                      <a:r>
                        <a:rPr sz="2025" b="0">
                          <a:solidFill>
                            <a:srgbClr val="1D2433"/>
                          </a:solidFill>
                          <a:latin typeface="IBM Plex Sans"/>
                          <a:ea typeface="IBM Plex Sans"/>
                          <a:cs typeface="IBM Plex Sans"/>
                        </a:rPr>
                        <a:t>scVAEIT + anchors</a:t>
                      </a:r>
                    </a:p>
                  </a:txBody>
                  <a:tcPr marL="91440" marR="91440" marT="45720" marB="45720" anchor="ctr">
                    <a:solidFill>
                      <a:srgbClr val="FFFFFF"/>
                    </a:solidFill>
                  </a:tcPr>
                </a:tc>
                <a:tc>
                  <a:txBody>
                    <a:bodyPr lIns="114300" tIns="85725" rIns="95250" bIns="76200"/>
                    <a:lstStyle/>
                    <a:p>
                      <a:r>
                        <a:rPr sz="2025" b="0">
                          <a:solidFill>
                            <a:srgbClr val="1D2433"/>
                          </a:solidFill>
                          <a:latin typeface="IBM Plex Sans"/>
                          <a:ea typeface="IBM Plex Sans"/>
                          <a:cs typeface="IBM Plex Sans"/>
                        </a:rPr>
                        <a:t>0.80–0.92</a:t>
                      </a:r>
                    </a:p>
                  </a:txBody>
                  <a:tcPr marL="91440" marR="91440" marT="45720" marB="45720" anchor="ctr">
                    <a:solidFill>
                      <a:srgbClr val="FFFFFF"/>
                    </a:solidFill>
                  </a:tcPr>
                </a:tc>
                <a:tc>
                  <a:txBody>
                    <a:bodyPr lIns="114300" tIns="85725" rIns="95250" bIns="76200"/>
                    <a:lstStyle/>
                    <a:p>
                      <a:r>
                        <a:rPr sz="2025" b="0">
                          <a:solidFill>
                            <a:srgbClr val="1D2433"/>
                          </a:solidFill>
                          <a:latin typeface="IBM Plex Sans"/>
                          <a:ea typeface="IBM Plex Sans"/>
                          <a:cs typeface="IBM Plex Sans"/>
                        </a:rPr>
                        <a:t>82–83%</a:t>
                      </a:r>
                    </a:p>
                  </a:txBody>
                  <a:tcPr marL="91440" marR="91440" marT="45720" marB="45720" anchor="ctr">
                    <a:solidFill>
                      <a:srgbClr val="FFFFFF"/>
                    </a:solidFill>
                  </a:tcPr>
                </a:tc>
                <a:tc>
                  <a:txBody>
                    <a:bodyPr lIns="114300" tIns="85725" rIns="95250" bIns="76200"/>
                    <a:lstStyle/>
                    <a:p>
                      <a:r>
                        <a:rPr sz="2025" b="0">
                          <a:solidFill>
                            <a:srgbClr val="1D2433"/>
                          </a:solidFill>
                          <a:latin typeface="IBM Plex Sans"/>
                          <a:ea typeface="IBM Plex Sans"/>
                          <a:cs typeface="IBM Plex Sans"/>
                        </a:rPr>
                        <a:t>23%</a:t>
                      </a:r>
                    </a:p>
                  </a:txBody>
                  <a:tcPr marL="91440" marR="91440" marT="45720" marB="45720" anchor="ctr">
                    <a:solidFill>
                      <a:srgbClr val="FFFFFF"/>
                    </a:solidFill>
                  </a:tcPr>
                </a:tc>
                <a:tc>
                  <a:txBody>
                    <a:bodyPr lIns="114300" tIns="85725" rIns="95250" bIns="76200"/>
                    <a:lstStyle/>
                    <a:p>
                      <a:r>
                        <a:rPr sz="2025" b="0">
                          <a:solidFill>
                            <a:srgbClr val="1D2433"/>
                          </a:solidFill>
                          <a:latin typeface="IBM Plex Sans"/>
                          <a:ea typeface="IBM Plex Sans"/>
                          <a:cs typeface="IBM Plex Sans"/>
                        </a:rPr>
                        <a:t>3.0%</a:t>
                      </a:r>
                    </a:p>
                  </a:txBody>
                  <a:tcPr marL="91440" marR="91440" marT="45720" marB="45720" anchor="ctr">
                    <a:solidFill>
                      <a:srgbClr val="FFFFFF"/>
                    </a:solidFill>
                  </a:tcPr>
                </a:tc>
              </a:tr>
            </a:tbl>
          </a:graphicData>
        </a:graphic>
      </p:graphicFrame>
      <p:sp>
        <p:nvSpPr>
          <p:cNvPr id="5" name="Similar calibrated coverage did not mean equal prediction qualit">
            <a:extLst xmlns:a="http://schemas.openxmlformats.org/drawingml/2006/main">
              <a:ext uri="{FF2B5EF4-FFF2-40B4-BE49-F238E27FC236}">
                <a16:creationId xmlns:a16="http://schemas.microsoft.com/office/drawing/2014/main" id="{AAC657D9-0273-44EF-935B-DFFD7D437DE3}"/>
              </a:ext>
            </a:extLst>
          </p:cNvPr>
          <p:cNvSpPr>
            <a:spLocks xmlns:a="http://schemas.openxmlformats.org/drawingml/2006/main" noGrp="1"/>
          </p:cNvSpPr>
          <p:nvPr/>
        </p:nvSpPr>
        <p:spPr>
          <a:xfrm xmlns:a="http://schemas.openxmlformats.org/drawingml/2006/main">
            <a:off x="723900" y="485775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1D2433"/>
                </a:solidFill>
                <a:latin typeface="IBM Plex Sans"/>
                <a:ea typeface="IBM Plex Sans"/>
                <a:cs typeface="IBM Plex Sans"/>
              </a:defRPr>
            </a:defPPr>
          </a:lstStyle>
          <a:p xmlns:a="http://schemas.openxmlformats.org/drawingml/2006/main">
            <a:pPr algn="l">
              <a:defRPr sz="2175" b="1">
                <a:solidFill>
                  <a:srgbClr val="1D2433"/>
                </a:solidFill>
                <a:latin typeface="IBM Plex Sans"/>
                <a:ea typeface="IBM Plex Sans"/>
                <a:cs typeface="IBM Plex Sans"/>
              </a:defRPr>
            </a:pPr>
            <a:r>
              <a:rPr sz="2175" b="1">
                <a:solidFill>
                  <a:srgbClr val="1D2433"/>
                </a:solidFill>
                <a:latin typeface="IBM Plex Sans"/>
                <a:ea typeface="IBM Plex Sans"/>
                <a:cs typeface="IBM Plex Sans"/>
              </a:rPr>
              <a:t>Similar calibrated coverage did not mean equal prediction quality.</a:t>
            </a:r>
          </a:p>
          <a:p xmlns:a="http://schemas.openxmlformats.org/drawingml/2006/main">
            <a:pPr algn="l">
              <a:defRPr sz="2175" b="1">
                <a:solidFill>
                  <a:srgbClr val="1D2433"/>
                </a:solidFill>
                <a:latin typeface="IBM Plex Sans"/>
                <a:ea typeface="IBM Plex Sans"/>
                <a:cs typeface="IBM Plex Sans"/>
              </a:defRPr>
            </a:pPr>
            <a:r>
              <a:rPr sz="2175" b="1">
                <a:solidFill>
                  <a:srgbClr val="1D2433"/>
                </a:solidFill>
                <a:latin typeface="IBM Plex Sans"/>
                <a:ea typeface="IBM Plex Sans"/>
                <a:cs typeface="IBM Plex Sans"/>
              </a:rPr>
              <a:t>The 200-epoch scVAEIT runs did not outperform measured-input ridge.</a:t>
            </a:r>
          </a:p>
        </p:txBody>
      </p:sp>
      <p:sp>
        <p:nvSpPr>
          <p:cNvPr id="6" name="Reported completed fits. Call/error rows are each pipeline’s ope">
            <a:extLst xmlns:a="http://schemas.openxmlformats.org/drawingml/2006/main">
              <a:ext uri="{FF2B5EF4-FFF2-40B4-BE49-F238E27FC236}">
                <a16:creationId xmlns:a16="http://schemas.microsoft.com/office/drawing/2014/main" id="{2A699248-E814-4A4A-BB06-36ACF63425CC}"/>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Reported completed fits. Call/error rows are each pipeline’s operating point, not a matched-call-rate contrast.</a:t>
            </a:r>
          </a:p>
        </p:txBody>
      </p:sp>
      <p:sp>
        <p:nvSpPr>
          <p:cNvPr id="7" name="Backup 3">
            <a:extLst xmlns:a="http://schemas.openxmlformats.org/drawingml/2006/main">
              <a:ext uri="{FF2B5EF4-FFF2-40B4-BE49-F238E27FC236}">
                <a16:creationId xmlns:a16="http://schemas.microsoft.com/office/drawing/2014/main" id="{E9811E07-2622-47D5-80BE-6C1DBD6D145D}"/>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Backup 3</a:t>
            </a:r>
          </a:p>
        </p:txBody>
      </p:sp>
    </p:spTree>
    <p:extLst>
      <p:ext uri="{BB962C8B-B14F-4D97-AF65-F5344CB8AC3E}">
        <p14:creationId xmlns:p14="http://schemas.microsoft.com/office/powerpoint/2010/main" val="38886473"/>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Calibration changes reliability across participants">
            <a:extLst xmlns:a="http://schemas.openxmlformats.org/drawingml/2006/main">
              <a:ext uri="{FF2B5EF4-FFF2-40B4-BE49-F238E27FC236}">
                <a16:creationId xmlns:a16="http://schemas.microsoft.com/office/drawing/2014/main" id="{252A749C-6206-4673-B4E6-8F46B02C5C73}"/>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Calibration changes reliability across participants</a:t>
            </a:r>
          </a:p>
        </p:txBody>
      </p:sp>
      <p:sp>
        <p:nvSpPr>
          <p:cNvPr id="2" name="">
            <a:extLst xmlns:a="http://schemas.openxmlformats.org/drawingml/2006/main">
              <a:ext uri="{FF2B5EF4-FFF2-40B4-BE49-F238E27FC236}">
                <a16:creationId xmlns:a16="http://schemas.microsoft.com/office/drawing/2014/main" id="{F209C601-3939-4D6B-A166-DCDC0BA84998}"/>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Same predictions within each method; compare the calibration rul">
            <a:extLst xmlns:a="http://schemas.openxmlformats.org/drawingml/2006/main">
              <a:ext uri="{FF2B5EF4-FFF2-40B4-BE49-F238E27FC236}">
                <a16:creationId xmlns:a16="http://schemas.microsoft.com/office/drawing/2014/main" id="{B936201C-D22E-4644-9FAF-60FD4E740793}"/>
              </a:ext>
            </a:extLst>
          </p:cNvPr>
          <p:cNvSpPr>
            <a:spLocks xmlns:a="http://schemas.openxmlformats.org/drawingml/2006/main" noGrp="1"/>
          </p:cNvSpPr>
          <p:nvPr/>
        </p:nvSpPr>
        <p:spPr>
          <a:xfrm xmlns:a="http://schemas.openxmlformats.org/drawingml/2006/main">
            <a:off x="723900" y="1428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D2433"/>
                </a:solidFill>
                <a:latin typeface="IBM Plex Sans"/>
                <a:ea typeface="IBM Plex Sans"/>
                <a:cs typeface="IBM Plex Sans"/>
              </a:defRPr>
            </a:defPPr>
          </a:lstStyle>
          <a:p xmlns:a="http://schemas.openxmlformats.org/drawingml/2006/main">
            <a:pPr algn="l">
              <a:defRPr sz="2025" b="0">
                <a:solidFill>
                  <a:srgbClr val="1D2433"/>
                </a:solidFill>
                <a:latin typeface="IBM Plex Sans"/>
                <a:ea typeface="IBM Plex Sans"/>
                <a:cs typeface="IBM Plex Sans"/>
              </a:defRPr>
            </a:pPr>
            <a:r>
              <a:rPr sz="2025" b="0">
                <a:solidFill>
                  <a:srgbClr val="1D2433"/>
                </a:solidFill>
                <a:latin typeface="IBM Plex Sans"/>
                <a:ea typeface="IBM Plex Sans"/>
                <a:cs typeface="IBM Plex Sans"/>
              </a:rPr>
              <a:t>Same predictions within each method; compare the calibration rules</a:t>
            </a:r>
          </a:p>
        </p:txBody>
      </p:sp>
      <p:pic>
        <p:nvPicPr>
          <p:cNvPr id="4" name="">
            <a:extLst xmlns:a="http://schemas.openxmlformats.org/drawingml/2006/main">
              <a:ext uri="{FF2B5EF4-FFF2-40B4-BE49-F238E27FC236}">
                <a16:creationId xmlns:a16="http://schemas.microsoft.com/office/drawing/2014/main" id="{E6545D7A-41CE-4523-8A36-CA8E856CF732}"/>
              </a:ext>
            </a:extLst>
          </p:cNvPr>
          <p:cNvPicPr>
            <a:picLocks xmlns:a="http://schemas.openxmlformats.org/drawingml/2006/main" noChangeAspect="1"/>
          </p:cNvPicPr>
          <p:nvPr/>
        </p:nvPicPr>
        <p:blipFill>
          <a:blip xmlns:r="http://schemas.openxmlformats.org/officeDocument/2006/relationships" xmlns:a="http://schemas.openxmlformats.org/drawingml/2006/main" r:embed="Rb3831bb0fc7d441b"/>
          <a:stretch xmlns:a="http://schemas.openxmlformats.org/drawingml/2006/main"/>
        </p:blipFill>
        <p:spPr>
          <a:xfrm xmlns:a="http://schemas.openxmlformats.org/drawingml/2006/main">
            <a:off x="723900" y="2153284"/>
            <a:ext cx="10725150" cy="3199133"/>
          </a:xfrm>
          <a:prstGeom xmlns:a="http://schemas.openxmlformats.org/drawingml/2006/main" prst="rect">
            <a:avLst/>
          </a:prstGeom>
        </p:spPr>
      </p:pic>
      <p:sp>
        <p:nvSpPr>
          <p:cNvPr id="5" name="Participant calibration reached about 82% for measured-input rid">
            <a:extLst xmlns:a="http://schemas.openxmlformats.org/drawingml/2006/main">
              <a:ext uri="{FF2B5EF4-FFF2-40B4-BE49-F238E27FC236}">
                <a16:creationId xmlns:a16="http://schemas.microsoft.com/office/drawing/2014/main" id="{1CD09507-3DA3-45AB-9999-39C516D81683}"/>
              </a:ext>
            </a:extLst>
          </p:cNvPr>
          <p:cNvSpPr>
            <a:spLocks xmlns:a="http://schemas.openxmlformats.org/drawingml/2006/main" noGrp="1"/>
          </p:cNvSpPr>
          <p:nvPr/>
        </p:nvSpPr>
        <p:spPr>
          <a:xfrm xmlns:a="http://schemas.openxmlformats.org/drawingml/2006/main">
            <a:off x="723900" y="55435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1D2433"/>
                </a:solidFill>
                <a:latin typeface="IBM Plex Sans"/>
                <a:ea typeface="IBM Plex Sans"/>
                <a:cs typeface="IBM Plex Sans"/>
              </a:defRPr>
            </a:defPPr>
          </a:lstStyle>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Participant calibration reached about 82% for measured-input ridge in both cohorts.</a:t>
            </a:r>
          </a:p>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HCP gave higher coverage with wider intervals and a different target.</a:t>
            </a:r>
          </a:p>
        </p:txBody>
      </p:sp>
      <p:sp>
        <p:nvSpPr>
          <p:cNvPr id="6" name="Figure from supplied deck. Dashed bound assumes exchangeable par">
            <a:extLst xmlns:a="http://schemas.openxmlformats.org/drawingml/2006/main">
              <a:ext uri="{FF2B5EF4-FFF2-40B4-BE49-F238E27FC236}">
                <a16:creationId xmlns:a16="http://schemas.microsoft.com/office/drawing/2014/main" id="{28B54201-5E67-4EE0-BA3E-E890F516F926}"/>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Figure from supplied deck. Dashed bound assumes exchangeable participant blocks and a symmetric or fixed pipeline.</a:t>
            </a:r>
          </a:p>
        </p:txBody>
      </p:sp>
      <p:sp>
        <p:nvSpPr>
          <p:cNvPr id="7" name="Backup 4">
            <a:extLst xmlns:a="http://schemas.openxmlformats.org/drawingml/2006/main">
              <a:ext uri="{FF2B5EF4-FFF2-40B4-BE49-F238E27FC236}">
                <a16:creationId xmlns:a16="http://schemas.microsoft.com/office/drawing/2014/main" id="{8926865C-F5DB-4790-AEAA-B6B2D458EA95}"/>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Backup 4</a:t>
            </a:r>
          </a:p>
        </p:txBody>
      </p:sp>
    </p:spTree>
    <p:extLst>
      <p:ext uri="{BB962C8B-B14F-4D97-AF65-F5344CB8AC3E}">
        <p14:creationId xmlns:p14="http://schemas.microsoft.com/office/powerpoint/2010/main" val="38886473"/>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Backup: full biomarker figure">
            <a:extLst xmlns:a="http://schemas.openxmlformats.org/drawingml/2006/main">
              <a:ext uri="{FF2B5EF4-FFF2-40B4-BE49-F238E27FC236}">
                <a16:creationId xmlns:a16="http://schemas.microsoft.com/office/drawing/2014/main" id="{1F0DFDEA-9002-4E46-9D3E-44045416661E}"/>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Backup: full biomarker figure</a:t>
            </a:r>
          </a:p>
        </p:txBody>
      </p:sp>
      <p:sp>
        <p:nvSpPr>
          <p:cNvPr id="2" name="">
            <a:extLst xmlns:a="http://schemas.openxmlformats.org/drawingml/2006/main">
              <a:ext uri="{FF2B5EF4-FFF2-40B4-BE49-F238E27FC236}">
                <a16:creationId xmlns:a16="http://schemas.microsoft.com/office/drawing/2014/main" id="{7DFDD669-FE94-4782-AD48-1E1B6C3A0FF7}"/>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2D8D9BA4-FF41-4AB2-8BDB-1BE740BFCCFF}"/>
              </a:ext>
            </a:extLst>
          </p:cNvPr>
          <p:cNvPicPr>
            <a:picLocks xmlns:a="http://schemas.openxmlformats.org/drawingml/2006/main" noChangeAspect="1"/>
          </p:cNvPicPr>
          <p:nvPr/>
        </p:nvPicPr>
        <p:blipFill>
          <a:blip xmlns:r="http://schemas.openxmlformats.org/officeDocument/2006/relationships" xmlns:a="http://schemas.openxmlformats.org/drawingml/2006/main" r:embed="Ra9688ed9e55c4bf3"/>
          <a:stretch xmlns:a="http://schemas.openxmlformats.org/drawingml/2006/main"/>
        </p:blipFill>
        <p:spPr>
          <a:xfrm xmlns:a="http://schemas.openxmlformats.org/drawingml/2006/main">
            <a:off x="723900" y="1775779"/>
            <a:ext cx="10725150" cy="3211192"/>
          </a:xfrm>
          <a:prstGeom xmlns:a="http://schemas.openxmlformats.org/drawingml/2006/main" prst="rect">
            <a:avLst/>
          </a:prstGeom>
        </p:spPr>
      </p:pic>
      <p:sp>
        <p:nvSpPr>
          <p:cNvPr id="4" name="Compare curves at the same call rate. Named-marker bars use diff">
            <a:extLst xmlns:a="http://schemas.openxmlformats.org/drawingml/2006/main">
              <a:ext uri="{FF2B5EF4-FFF2-40B4-BE49-F238E27FC236}">
                <a16:creationId xmlns:a16="http://schemas.microsoft.com/office/drawing/2014/main" id="{980212E6-C3B1-443C-A849-659F7AFB8BF5}"/>
              </a:ext>
            </a:extLst>
          </p:cNvPr>
          <p:cNvSpPr>
            <a:spLocks xmlns:a="http://schemas.openxmlformats.org/drawingml/2006/main" noGrp="1"/>
          </p:cNvSpPr>
          <p:nvPr/>
        </p:nvSpPr>
        <p:spPr>
          <a:xfrm xmlns:a="http://schemas.openxmlformats.org/drawingml/2006/main">
            <a:off x="723900" y="55530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1D2433"/>
                </a:solidFill>
                <a:latin typeface="IBM Plex Sans"/>
                <a:ea typeface="IBM Plex Sans"/>
                <a:cs typeface="IBM Plex Sans"/>
              </a:defRPr>
            </a:defPPr>
          </a:lstStyle>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Compare curves at the same call rate. Named-marker bars use different call rates.</a:t>
            </a:r>
          </a:p>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Zero observed errors need the number of calls and confidence intervals.</a:t>
            </a:r>
          </a:p>
        </p:txBody>
      </p:sp>
      <p:sp>
        <p:nvSpPr>
          <p:cNvPr id="5" name="Source figure retained unchanged. Named markers are cohort-relat">
            <a:extLst xmlns:a="http://schemas.openxmlformats.org/drawingml/2006/main">
              <a:ext uri="{FF2B5EF4-FFF2-40B4-BE49-F238E27FC236}">
                <a16:creationId xmlns:a16="http://schemas.microsoft.com/office/drawing/2014/main" id="{BA128C91-D7C7-44D6-AE06-E296A8B3C6CC}"/>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Source figure retained unchanged. Named markers are cohort-relative research readouts, not clinical thresholds.</a:t>
            </a:r>
          </a:p>
        </p:txBody>
      </p:sp>
      <p:sp>
        <p:nvSpPr>
          <p:cNvPr id="6" name="Backup 5">
            <a:extLst xmlns:a="http://schemas.openxmlformats.org/drawingml/2006/main">
              <a:ext uri="{FF2B5EF4-FFF2-40B4-BE49-F238E27FC236}">
                <a16:creationId xmlns:a16="http://schemas.microsoft.com/office/drawing/2014/main" id="{CA7599AD-DC42-49B6-8E03-FF6100724460}"/>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Backup 5</a:t>
            </a:r>
          </a:p>
        </p:txBody>
      </p:sp>
    </p:spTree>
    <p:extLst>
      <p:ext uri="{BB962C8B-B14F-4D97-AF65-F5344CB8AC3E}">
        <p14:creationId xmlns:p14="http://schemas.microsoft.com/office/powerpoint/2010/main" val="38886473"/>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Backup: COMBAT replication and its limits">
            <a:extLst xmlns:a="http://schemas.openxmlformats.org/drawingml/2006/main">
              <a:ext uri="{FF2B5EF4-FFF2-40B4-BE49-F238E27FC236}">
                <a16:creationId xmlns:a16="http://schemas.microsoft.com/office/drawing/2014/main" id="{AFF033C0-FAD0-4AAF-A939-5DCDE918EC84}"/>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Backup: COMBAT replication and its limits</a:t>
            </a:r>
          </a:p>
        </p:txBody>
      </p:sp>
      <p:sp>
        <p:nvSpPr>
          <p:cNvPr id="2" name="">
            <a:extLst xmlns:a="http://schemas.openxmlformats.org/drawingml/2006/main">
              <a:ext uri="{FF2B5EF4-FFF2-40B4-BE49-F238E27FC236}">
                <a16:creationId xmlns:a16="http://schemas.microsoft.com/office/drawing/2014/main" id="{D2B8D439-12D6-4537-B9B6-5A839FDF348E}"/>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4D0223E2-0C32-40E5-98FC-02E65D342DE6}"/>
              </a:ext>
            </a:extLst>
          </p:cNvPr>
          <p:cNvPicPr>
            <a:picLocks xmlns:a="http://schemas.openxmlformats.org/drawingml/2006/main" noChangeAspect="1"/>
          </p:cNvPicPr>
          <p:nvPr/>
        </p:nvPicPr>
        <p:blipFill>
          <a:blip xmlns:r="http://schemas.openxmlformats.org/officeDocument/2006/relationships" xmlns:a="http://schemas.openxmlformats.org/drawingml/2006/main" r:embed="R815bfd39e90e4d6f"/>
          <a:stretch xmlns:a="http://schemas.openxmlformats.org/drawingml/2006/main"/>
        </p:blipFill>
        <p:spPr>
          <a:xfrm xmlns:a="http://schemas.openxmlformats.org/drawingml/2006/main">
            <a:off x="723900" y="1831202"/>
            <a:ext cx="10725150" cy="2957472"/>
          </a:xfrm>
          <a:prstGeom xmlns:a="http://schemas.openxmlformats.org/drawingml/2006/main" prst="rect">
            <a:avLst/>
          </a:prstGeom>
        </p:spPr>
      </p:pic>
      <p:sp>
        <p:nvSpPr>
          <p:cNvPr id="4" name="The shared factor explained 38–40% of offset variance and associ">
            <a:extLst xmlns:a="http://schemas.openxmlformats.org/drawingml/2006/main">
              <a:ext uri="{FF2B5EF4-FFF2-40B4-BE49-F238E27FC236}">
                <a16:creationId xmlns:a16="http://schemas.microsoft.com/office/drawing/2014/main" id="{FD86BD0B-BDA5-4570-9E8F-970BD0C1A213}"/>
              </a:ext>
            </a:extLst>
          </p:cNvPr>
          <p:cNvSpPr>
            <a:spLocks xmlns:a="http://schemas.openxmlformats.org/drawingml/2006/main" noGrp="1"/>
          </p:cNvSpPr>
          <p:nvPr/>
        </p:nvSpPr>
        <p:spPr>
          <a:xfrm xmlns:a="http://schemas.openxmlformats.org/drawingml/2006/main">
            <a:off x="723900" y="54864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1D2433"/>
                </a:solidFill>
                <a:latin typeface="IBM Plex Sans"/>
                <a:ea typeface="IBM Plex Sans"/>
                <a:cs typeface="IBM Plex Sans"/>
              </a:defRPr>
            </a:defPPr>
          </a:lstStyle>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The shared factor explained 38–40% of offset variance and associated with pool.</a:t>
            </a:r>
          </a:p>
          <a:p xmlns:a="http://schemas.openxmlformats.org/drawingml/2006/main">
            <a:pPr algn="l">
              <a:defRPr sz="2025" b="1">
                <a:solidFill>
                  <a:srgbClr val="1D2433"/>
                </a:solidFill>
                <a:latin typeface="IBM Plex Sans"/>
                <a:ea typeface="IBM Plex Sans"/>
                <a:cs typeface="IBM Plex Sans"/>
              </a:defRPr>
            </a:pPr>
            <a:r>
              <a:rPr sz="2025" b="1">
                <a:solidFill>
                  <a:srgbClr val="1D2433"/>
                </a:solidFill>
                <a:latin typeface="IBM Plex Sans"/>
                <a:ea typeface="IBM Plex Sans"/>
                <a:cs typeface="IBM Plex Sans"/>
              </a:rPr>
              <a:t>Post-hoc correction did not consistently help; biomarker call yield remained low.</a:t>
            </a:r>
          </a:p>
        </p:txBody>
      </p:sp>
      <p:sp>
        <p:nvSpPr>
          <p:cNvPr id="5" name="Association with processing conditions does not prove causality ">
            <a:extLst xmlns:a="http://schemas.openxmlformats.org/drawingml/2006/main">
              <a:ext uri="{FF2B5EF4-FFF2-40B4-BE49-F238E27FC236}">
                <a16:creationId xmlns:a16="http://schemas.microsoft.com/office/drawing/2014/main" id="{8081D47B-5D45-4F87-A4DD-AD05FE863E86}"/>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Association with processing conditions does not prove causality or transfer to unseen pools.</a:t>
            </a:r>
          </a:p>
        </p:txBody>
      </p:sp>
      <p:sp>
        <p:nvSpPr>
          <p:cNvPr id="6" name="Backup 6">
            <a:extLst xmlns:a="http://schemas.openxmlformats.org/drawingml/2006/main">
              <a:ext uri="{FF2B5EF4-FFF2-40B4-BE49-F238E27FC236}">
                <a16:creationId xmlns:a16="http://schemas.microsoft.com/office/drawing/2014/main" id="{44FDA45D-48F9-4376-A291-1D750F6D967F}"/>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Backup 6</a:t>
            </a:r>
          </a:p>
        </p:txBody>
      </p:sp>
    </p:spTree>
    <p:extLst>
      <p:ext uri="{BB962C8B-B14F-4D97-AF65-F5344CB8AC3E}">
        <p14:creationId xmlns:p14="http://schemas.microsoft.com/office/powerpoint/2010/main" val="38886473"/>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References and result provenance">
            <a:extLst xmlns:a="http://schemas.openxmlformats.org/drawingml/2006/main">
              <a:ext uri="{FF2B5EF4-FFF2-40B4-BE49-F238E27FC236}">
                <a16:creationId xmlns:a16="http://schemas.microsoft.com/office/drawing/2014/main" id="{17E74AFB-4C36-4DFE-9AD6-4C82C2BF875F}"/>
              </a:ext>
            </a:extLst>
          </p:cNvPr>
          <p:cNvSpPr>
            <a:spLocks xmlns:a="http://schemas.openxmlformats.org/drawingml/2006/main" noGrp="1"/>
          </p:cNvSpPr>
          <p:nvPr/>
        </p:nvSpPr>
        <p:spPr>
          <a:xfrm xmlns:a="http://schemas.openxmlformats.org/drawingml/2006/main">
            <a:off x="685800" y="4572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14213D"/>
                </a:solidFill>
                <a:latin typeface="IBM Plex Sans"/>
                <a:ea typeface="IBM Plex Sans"/>
                <a:cs typeface="IBM Plex Sans"/>
              </a:defRPr>
            </a:defPPr>
          </a:lstStyle>
          <a:p xmlns:a="http://schemas.openxmlformats.org/drawingml/2006/main">
            <a:pPr algn="l">
              <a:defRPr sz="2925" b="1">
                <a:solidFill>
                  <a:srgbClr val="14213D"/>
                </a:solidFill>
                <a:latin typeface="IBM Plex Sans"/>
                <a:ea typeface="IBM Plex Sans"/>
                <a:cs typeface="IBM Plex Sans"/>
              </a:defRPr>
            </a:pPr>
            <a:r>
              <a:rPr sz="2925" b="1">
                <a:solidFill>
                  <a:srgbClr val="14213D"/>
                </a:solidFill>
                <a:latin typeface="IBM Plex Sans"/>
                <a:ea typeface="IBM Plex Sans"/>
                <a:cs typeface="IBM Plex Sans"/>
              </a:rPr>
              <a:t>References and result provenance</a:t>
            </a:r>
          </a:p>
        </p:txBody>
      </p:sp>
      <p:sp>
        <p:nvSpPr>
          <p:cNvPr id="2" name="">
            <a:extLst xmlns:a="http://schemas.openxmlformats.org/drawingml/2006/main">
              <a:ext uri="{FF2B5EF4-FFF2-40B4-BE49-F238E27FC236}">
                <a16:creationId xmlns:a16="http://schemas.microsoft.com/office/drawing/2014/main" id="{BFB8F6B9-2E73-43D7-A9F0-13BE4AF84289}"/>
              </a:ext>
            </a:extLst>
          </p:cNvPr>
          <p:cNvSpPr>
            <a:spLocks xmlns:a="http://schemas.openxmlformats.org/drawingml/2006/main" noGrp="1"/>
          </p:cNvSpPr>
          <p:nvPr/>
        </p:nvSpPr>
        <p:spPr>
          <a:xfrm xmlns:a="http://schemas.openxmlformats.org/drawingml/2006/main">
            <a:off x="685800" y="1257300"/>
            <a:ext cx="647700" cy="38100"/>
          </a:xfrm>
          <a:prstGeom xmlns:a="http://schemas.openxmlformats.org/drawingml/2006/main" prst="rect">
            <a:avLst/>
          </a:prstGeom>
          <a:solidFill xmlns:a="http://schemas.openxmlformats.org/drawingml/2006/main">
            <a:srgbClr val="245EFF"/>
          </a:solidFill>
          <a:ln xmlns:a="http://schemas.openxmlformats.org/drawingml/2006/main" w="0">
            <a:noFill/>
          </a:ln>
        </p:spPr>
      </p:sp>
      <p:sp>
        <p:nvSpPr>
          <p:cNvPr id="3" name="Gayoso et al. (2021), totalVI">
            <a:extLst xmlns:a="http://schemas.openxmlformats.org/drawingml/2006/main">
              <a:ext uri="{FF2B5EF4-FFF2-40B4-BE49-F238E27FC236}">
                <a16:creationId xmlns:a16="http://schemas.microsoft.com/office/drawing/2014/main" id="{7657FCE5-35D0-4E65-9534-9A7410AF61E7}"/>
              </a:ext>
            </a:extLst>
          </p:cNvPr>
          <p:cNvSpPr>
            <a:spLocks xmlns:a="http://schemas.openxmlformats.org/drawingml/2006/main" noGrp="1"/>
          </p:cNvSpPr>
          <p:nvPr/>
        </p:nvSpPr>
        <p:spPr>
          <a:xfrm xmlns:a="http://schemas.openxmlformats.org/drawingml/2006/main">
            <a:off x="723900" y="15621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245EFF"/>
                </a:solidFill>
                <a:latin typeface="IBM Plex Sans"/>
                <a:ea typeface="IBM Plex Sans"/>
                <a:cs typeface="IBM Plex Sans"/>
              </a:defRPr>
            </a:defPPr>
          </a:lstStyle>
          <a:p xmlns:a="http://schemas.openxmlformats.org/drawingml/2006/main">
            <a:pPr algn="l">
              <a:defRPr sz="1875" b="1">
                <a:solidFill>
                  <a:srgbClr val="245EFF"/>
                </a:solidFill>
                <a:latin typeface="IBM Plex Sans"/>
                <a:ea typeface="IBM Plex Sans"/>
                <a:cs typeface="IBM Plex Sans"/>
              </a:defRPr>
            </a:pPr>
            <a:r>
              <a:rPr sz="1875" b="1">
                <a:solidFill>
                  <a:srgbClr val="245EFF"/>
                </a:solidFill>
                <a:latin typeface="IBM Plex Sans"/>
                <a:ea typeface="IBM Plex Sans"/>
                <a:cs typeface="IBM Plex Sans"/>
              </a:rPr>
              <a:t>Gayoso et al. (2021), totalVI</a:t>
            </a:r>
          </a:p>
        </p:txBody>
      </p:sp>
      <p:sp>
        <p:nvSpPr>
          <p:cNvPr id="4" name="Joint RNA/protein model and missing-protein inference">
            <a:extLst xmlns:a="http://schemas.openxmlformats.org/drawingml/2006/main">
              <a:ext uri="{FF2B5EF4-FFF2-40B4-BE49-F238E27FC236}">
                <a16:creationId xmlns:a16="http://schemas.microsoft.com/office/drawing/2014/main" id="{7AA18503-3E0C-41FF-927A-67D4F4366772}"/>
              </a:ext>
            </a:extLst>
          </p:cNvPr>
          <p:cNvSpPr>
            <a:spLocks xmlns:a="http://schemas.openxmlformats.org/drawingml/2006/main" noGrp="1"/>
          </p:cNvSpPr>
          <p:nvPr/>
        </p:nvSpPr>
        <p:spPr>
          <a:xfrm xmlns:a="http://schemas.openxmlformats.org/drawingml/2006/main">
            <a:off x="723900" y="19145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Joint RNA/protein model and missing-protein inference</a:t>
            </a:r>
          </a:p>
        </p:txBody>
      </p:sp>
      <p:sp>
        <p:nvSpPr>
          <p:cNvPr id="5" name="Lakkis et al. (2022), sciPENN">
            <a:extLst xmlns:a="http://schemas.openxmlformats.org/drawingml/2006/main">
              <a:ext uri="{FF2B5EF4-FFF2-40B4-BE49-F238E27FC236}">
                <a16:creationId xmlns:a16="http://schemas.microsoft.com/office/drawing/2014/main" id="{4CCCCDF2-945C-4ADF-B60A-EFB61320ACB8}"/>
              </a:ext>
            </a:extLst>
          </p:cNvPr>
          <p:cNvSpPr>
            <a:spLocks xmlns:a="http://schemas.openxmlformats.org/drawingml/2006/main" noGrp="1"/>
          </p:cNvSpPr>
          <p:nvPr/>
        </p:nvSpPr>
        <p:spPr>
          <a:xfrm xmlns:a="http://schemas.openxmlformats.org/drawingml/2006/main">
            <a:off x="723900" y="23241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245EFF"/>
                </a:solidFill>
                <a:latin typeface="IBM Plex Sans"/>
                <a:ea typeface="IBM Plex Sans"/>
                <a:cs typeface="IBM Plex Sans"/>
              </a:defRPr>
            </a:defPPr>
          </a:lstStyle>
          <a:p xmlns:a="http://schemas.openxmlformats.org/drawingml/2006/main">
            <a:pPr algn="l">
              <a:defRPr sz="1875" b="1">
                <a:solidFill>
                  <a:srgbClr val="245EFF"/>
                </a:solidFill>
                <a:latin typeface="IBM Plex Sans"/>
                <a:ea typeface="IBM Plex Sans"/>
                <a:cs typeface="IBM Plex Sans"/>
              </a:defRPr>
            </a:pPr>
            <a:r>
              <a:rPr sz="1875" b="1">
                <a:solidFill>
                  <a:srgbClr val="245EFF"/>
                </a:solidFill>
                <a:latin typeface="IBM Plex Sans"/>
                <a:ea typeface="IBM Plex Sans"/>
                <a:cs typeface="IBM Plex Sans"/>
              </a:rPr>
              <a:t>Lakkis et al. (2022), sciPENN</a:t>
            </a:r>
          </a:p>
        </p:txBody>
      </p:sp>
      <p:sp>
        <p:nvSpPr>
          <p:cNvPr id="6" name="Protein prediction and uncertainty estimation">
            <a:extLst xmlns:a="http://schemas.openxmlformats.org/drawingml/2006/main">
              <a:ext uri="{FF2B5EF4-FFF2-40B4-BE49-F238E27FC236}">
                <a16:creationId xmlns:a16="http://schemas.microsoft.com/office/drawing/2014/main" id="{DF6E3084-CA46-42BB-8ED7-FE62310DB582}"/>
              </a:ext>
            </a:extLst>
          </p:cNvPr>
          <p:cNvSpPr>
            <a:spLocks xmlns:a="http://schemas.openxmlformats.org/drawingml/2006/main" noGrp="1"/>
          </p:cNvSpPr>
          <p:nvPr/>
        </p:nvSpPr>
        <p:spPr>
          <a:xfrm xmlns:a="http://schemas.openxmlformats.org/drawingml/2006/main">
            <a:off x="723900" y="26765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Protein prediction and uncertainty estimation</a:t>
            </a:r>
          </a:p>
        </p:txBody>
      </p:sp>
      <p:sp>
        <p:nvSpPr>
          <p:cNvPr id="7" name="Du et al. (2022), scVAEIT">
            <a:extLst xmlns:a="http://schemas.openxmlformats.org/drawingml/2006/main">
              <a:ext uri="{FF2B5EF4-FFF2-40B4-BE49-F238E27FC236}">
                <a16:creationId xmlns:a16="http://schemas.microsoft.com/office/drawing/2014/main" id="{21675B39-8C60-45B6-AF7F-4371810450B4}"/>
              </a:ext>
            </a:extLst>
          </p:cNvPr>
          <p:cNvSpPr>
            <a:spLocks xmlns:a="http://schemas.openxmlformats.org/drawingml/2006/main" noGrp="1"/>
          </p:cNvSpPr>
          <p:nvPr/>
        </p:nvSpPr>
        <p:spPr>
          <a:xfrm xmlns:a="http://schemas.openxmlformats.org/drawingml/2006/main">
            <a:off x="723900" y="30861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245EFF"/>
                </a:solidFill>
                <a:latin typeface="IBM Plex Sans"/>
                <a:ea typeface="IBM Plex Sans"/>
                <a:cs typeface="IBM Plex Sans"/>
              </a:defRPr>
            </a:defPPr>
          </a:lstStyle>
          <a:p xmlns:a="http://schemas.openxmlformats.org/drawingml/2006/main">
            <a:pPr algn="l">
              <a:defRPr sz="1875" b="1">
                <a:solidFill>
                  <a:srgbClr val="245EFF"/>
                </a:solidFill>
                <a:latin typeface="IBM Plex Sans"/>
                <a:ea typeface="IBM Plex Sans"/>
                <a:cs typeface="IBM Plex Sans"/>
              </a:defRPr>
            </a:pPr>
            <a:r>
              <a:rPr sz="1875" b="1">
                <a:solidFill>
                  <a:srgbClr val="245EFF"/>
                </a:solidFill>
                <a:latin typeface="IBM Plex Sans"/>
                <a:ea typeface="IBM Plex Sans"/>
                <a:cs typeface="IBM Plex Sans"/>
              </a:rPr>
              <a:t>Du et al. (2022), scVAEIT</a:t>
            </a:r>
          </a:p>
        </p:txBody>
      </p:sp>
      <p:sp>
        <p:nvSpPr>
          <p:cNvPr id="8" name="Imputation with incomplete multimodal measurements">
            <a:extLst xmlns:a="http://schemas.openxmlformats.org/drawingml/2006/main">
              <a:ext uri="{FF2B5EF4-FFF2-40B4-BE49-F238E27FC236}">
                <a16:creationId xmlns:a16="http://schemas.microsoft.com/office/drawing/2014/main" id="{34EE58C6-D072-4EB0-BA8D-5B773534CCF7}"/>
              </a:ext>
            </a:extLst>
          </p:cNvPr>
          <p:cNvSpPr>
            <a:spLocks xmlns:a="http://schemas.openxmlformats.org/drawingml/2006/main" noGrp="1"/>
          </p:cNvSpPr>
          <p:nvPr/>
        </p:nvSpPr>
        <p:spPr>
          <a:xfrm xmlns:a="http://schemas.openxmlformats.org/drawingml/2006/main">
            <a:off x="723900" y="34385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Imputation with incomplete multimodal measurements</a:t>
            </a:r>
          </a:p>
        </p:txBody>
      </p:sp>
      <p:sp>
        <p:nvSpPr>
          <p:cNvPr id="9" name="Mulè et al. (2022), dsb">
            <a:extLst xmlns:a="http://schemas.openxmlformats.org/drawingml/2006/main">
              <a:ext uri="{FF2B5EF4-FFF2-40B4-BE49-F238E27FC236}">
                <a16:creationId xmlns:a16="http://schemas.microsoft.com/office/drawing/2014/main" id="{8957E907-2DC9-4505-947D-DBB0EDCE5AD2}"/>
              </a:ext>
            </a:extLst>
          </p:cNvPr>
          <p:cNvSpPr>
            <a:spLocks xmlns:a="http://schemas.openxmlformats.org/drawingml/2006/main" noGrp="1"/>
          </p:cNvSpPr>
          <p:nvPr/>
        </p:nvSpPr>
        <p:spPr>
          <a:xfrm xmlns:a="http://schemas.openxmlformats.org/drawingml/2006/main">
            <a:off x="723900" y="38481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245EFF"/>
                </a:solidFill>
                <a:latin typeface="IBM Plex Sans"/>
                <a:ea typeface="IBM Plex Sans"/>
                <a:cs typeface="IBM Plex Sans"/>
              </a:defRPr>
            </a:defPPr>
          </a:lstStyle>
          <a:p xmlns:a="http://schemas.openxmlformats.org/drawingml/2006/main">
            <a:pPr algn="l">
              <a:defRPr sz="1875" b="1">
                <a:solidFill>
                  <a:srgbClr val="245EFF"/>
                </a:solidFill>
                <a:latin typeface="IBM Plex Sans"/>
                <a:ea typeface="IBM Plex Sans"/>
                <a:cs typeface="IBM Plex Sans"/>
              </a:defRPr>
            </a:pPr>
            <a:r>
              <a:rPr sz="1875" b="1">
                <a:solidFill>
                  <a:srgbClr val="245EFF"/>
                </a:solidFill>
                <a:latin typeface="IBM Plex Sans"/>
                <a:ea typeface="IBM Plex Sans"/>
                <a:cs typeface="IBM Plex Sans"/>
              </a:rPr>
              <a:t>Mulè et al. (2022), dsb</a:t>
            </a:r>
          </a:p>
        </p:txBody>
      </p:sp>
      <p:sp>
        <p:nvSpPr>
          <p:cNvPr id="10" name="Antibody background and technical-noise normalization">
            <a:extLst xmlns:a="http://schemas.openxmlformats.org/drawingml/2006/main">
              <a:ext uri="{FF2B5EF4-FFF2-40B4-BE49-F238E27FC236}">
                <a16:creationId xmlns:a16="http://schemas.microsoft.com/office/drawing/2014/main" id="{6E874AEB-0E32-4F11-AF42-A8491C35B5FE}"/>
              </a:ext>
            </a:extLst>
          </p:cNvPr>
          <p:cNvSpPr>
            <a:spLocks xmlns:a="http://schemas.openxmlformats.org/drawingml/2006/main" noGrp="1"/>
          </p:cNvSpPr>
          <p:nvPr/>
        </p:nvSpPr>
        <p:spPr>
          <a:xfrm xmlns:a="http://schemas.openxmlformats.org/drawingml/2006/main">
            <a:off x="723900" y="42005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Antibody background and technical-noise normalization</a:t>
            </a:r>
          </a:p>
        </p:txBody>
      </p:sp>
      <p:sp>
        <p:nvSpPr>
          <p:cNvPr id="11" name="Lee, Barber &amp; Willett, hierarchical conformal">
            <a:extLst xmlns:a="http://schemas.openxmlformats.org/drawingml/2006/main">
              <a:ext uri="{FF2B5EF4-FFF2-40B4-BE49-F238E27FC236}">
                <a16:creationId xmlns:a16="http://schemas.microsoft.com/office/drawing/2014/main" id="{423D406D-14D1-4C30-8534-9D4CE83D8EB4}"/>
              </a:ext>
            </a:extLst>
          </p:cNvPr>
          <p:cNvSpPr>
            <a:spLocks xmlns:a="http://schemas.openxmlformats.org/drawingml/2006/main" noGrp="1"/>
          </p:cNvSpPr>
          <p:nvPr/>
        </p:nvSpPr>
        <p:spPr>
          <a:xfrm xmlns:a="http://schemas.openxmlformats.org/drawingml/2006/main">
            <a:off x="723900" y="46101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245EFF"/>
                </a:solidFill>
                <a:latin typeface="IBM Plex Sans"/>
                <a:ea typeface="IBM Plex Sans"/>
                <a:cs typeface="IBM Plex Sans"/>
              </a:defRPr>
            </a:defPPr>
          </a:lstStyle>
          <a:p xmlns:a="http://schemas.openxmlformats.org/drawingml/2006/main">
            <a:pPr algn="l">
              <a:defRPr sz="1875" b="1">
                <a:solidFill>
                  <a:srgbClr val="245EFF"/>
                </a:solidFill>
                <a:latin typeface="IBM Plex Sans"/>
                <a:ea typeface="IBM Plex Sans"/>
                <a:cs typeface="IBM Plex Sans"/>
              </a:defRPr>
            </a:pPr>
            <a:r>
              <a:rPr sz="1875" b="1">
                <a:solidFill>
                  <a:srgbClr val="245EFF"/>
                </a:solidFill>
                <a:latin typeface="IBM Plex Sans"/>
                <a:ea typeface="IBM Plex Sans"/>
                <a:cs typeface="IBM Plex Sans"/>
              </a:rPr>
              <a:t>Lee, Barber &amp; Willett, hierarchical conformal</a:t>
            </a:r>
          </a:p>
        </p:txBody>
      </p:sp>
      <p:sp>
        <p:nvSpPr>
          <p:cNvPr id="12" name="Distribution-free inference for grouped observations">
            <a:extLst xmlns:a="http://schemas.openxmlformats.org/drawingml/2006/main">
              <a:ext uri="{FF2B5EF4-FFF2-40B4-BE49-F238E27FC236}">
                <a16:creationId xmlns:a16="http://schemas.microsoft.com/office/drawing/2014/main" id="{FBF8F17A-AB02-4943-A633-87EDE74F8340}"/>
              </a:ext>
            </a:extLst>
          </p:cNvPr>
          <p:cNvSpPr>
            <a:spLocks xmlns:a="http://schemas.openxmlformats.org/drawingml/2006/main" noGrp="1"/>
          </p:cNvSpPr>
          <p:nvPr/>
        </p:nvSpPr>
        <p:spPr>
          <a:xfrm xmlns:a="http://schemas.openxmlformats.org/drawingml/2006/main">
            <a:off x="723900" y="49625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Distribution-free inference for grouped observations</a:t>
            </a:r>
          </a:p>
        </p:txBody>
      </p:sp>
      <p:sp>
        <p:nvSpPr>
          <p:cNvPr id="13" name="Study results: supplied ProteoGuard report and original figures,">
            <a:extLst xmlns:a="http://schemas.openxmlformats.org/drawingml/2006/main">
              <a:ext uri="{FF2B5EF4-FFF2-40B4-BE49-F238E27FC236}">
                <a16:creationId xmlns:a16="http://schemas.microsoft.com/office/drawing/2014/main" id="{95B6B84D-C456-4B3F-BC02-EE0B14F508B5}"/>
              </a:ext>
            </a:extLst>
          </p:cNvPr>
          <p:cNvSpPr>
            <a:spLocks xmlns:a="http://schemas.openxmlformats.org/drawingml/2006/main" noGrp="1"/>
          </p:cNvSpPr>
          <p:nvPr/>
        </p:nvSpPr>
        <p:spPr>
          <a:xfrm xmlns:a="http://schemas.openxmlformats.org/drawingml/2006/main">
            <a:off x="723900" y="5553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1D2433"/>
                </a:solidFill>
                <a:latin typeface="IBM Plex Sans"/>
                <a:ea typeface="IBM Plex Sans"/>
                <a:cs typeface="IBM Plex Sans"/>
              </a:defRPr>
            </a:defPPr>
          </a:lstStyle>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Study results: supplied ProteoGuard report and original figures, 8 October 2026.</a:t>
            </a:r>
          </a:p>
          <a:p xmlns:a="http://schemas.openxmlformats.org/drawingml/2006/main">
            <a:pPr algn="l">
              <a:defRPr sz="1725" b="0">
                <a:solidFill>
                  <a:srgbClr val="1D2433"/>
                </a:solidFill>
                <a:latin typeface="IBM Plex Sans"/>
                <a:ea typeface="IBM Plex Sans"/>
                <a:cs typeface="IBM Plex Sans"/>
              </a:defRPr>
            </a:pPr>
            <a:r>
              <a:rPr sz="1725" b="0">
                <a:solidFill>
                  <a:srgbClr val="1D2433"/>
                </a:solidFill>
                <a:latin typeface="IBM Plex Sans"/>
                <a:ea typeface="IBM Plex Sans"/>
                <a:cs typeface="IBM Plex Sans"/>
              </a:rPr>
              <a:t>Cohorts: Stephenson et al. (2021) and COMBAT Consortium (2022).</a:t>
            </a:r>
          </a:p>
        </p:txBody>
      </p:sp>
      <p:sp>
        <p:nvSpPr>
          <p:cNvPr id="14" name="Full links and interpretation caveats appear in the speaker note">
            <a:extLst xmlns:a="http://schemas.openxmlformats.org/drawingml/2006/main">
              <a:ext uri="{FF2B5EF4-FFF2-40B4-BE49-F238E27FC236}">
                <a16:creationId xmlns:a16="http://schemas.microsoft.com/office/drawing/2014/main" id="{61A1B3D9-D9C5-463F-ACEE-55572D81366B}"/>
              </a:ext>
            </a:extLst>
          </p:cNvPr>
          <p:cNvSpPr>
            <a:spLocks xmlns:a="http://schemas.openxmlformats.org/drawingml/2006/main" noGrp="1"/>
          </p:cNvSpPr>
          <p:nvPr/>
        </p:nvSpPr>
        <p:spPr>
          <a:xfrm xmlns:a="http://schemas.openxmlformats.org/drawingml/2006/main">
            <a:off x="685800" y="6372225"/>
            <a:ext cx="10239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0">
                <a:solidFill>
                  <a:srgbClr val="536178"/>
                </a:solidFill>
                <a:latin typeface="IBM Plex Sans"/>
                <a:ea typeface="IBM Plex Sans"/>
                <a:cs typeface="IBM Plex Sans"/>
              </a:defRPr>
            </a:defPPr>
          </a:lstStyle>
          <a:p xmlns:a="http://schemas.openxmlformats.org/drawingml/2006/main">
            <a:pPr algn="l">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Full links and interpretation caveats appear in the speaker notes.</a:t>
            </a:r>
          </a:p>
        </p:txBody>
      </p:sp>
      <p:sp>
        <p:nvSpPr>
          <p:cNvPr id="15" name="Backup 7">
            <a:extLst xmlns:a="http://schemas.openxmlformats.org/drawingml/2006/main">
              <a:ext uri="{FF2B5EF4-FFF2-40B4-BE49-F238E27FC236}">
                <a16:creationId xmlns:a16="http://schemas.microsoft.com/office/drawing/2014/main" id="{09A3E373-DF72-42D3-A1FC-0FB7E75B7C01}"/>
              </a:ext>
            </a:extLst>
          </p:cNvPr>
          <p:cNvSpPr>
            <a:spLocks xmlns:a="http://schemas.openxmlformats.org/drawingml/2006/main" noGrp="1"/>
          </p:cNvSpPr>
          <p:nvPr/>
        </p:nvSpPr>
        <p:spPr>
          <a:xfrm xmlns:a="http://schemas.openxmlformats.org/drawingml/2006/main">
            <a:off x="10858500" y="6372225"/>
            <a:ext cx="66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975" b="0">
                <a:solidFill>
                  <a:srgbClr val="536178"/>
                </a:solidFill>
                <a:latin typeface="IBM Plex Sans"/>
                <a:ea typeface="IBM Plex Sans"/>
                <a:cs typeface="IBM Plex Sans"/>
              </a:defRPr>
            </a:defPPr>
          </a:lstStyle>
          <a:p xmlns:a="http://schemas.openxmlformats.org/drawingml/2006/main">
            <a:pPr algn="r">
              <a:defRPr sz="975" b="0">
                <a:solidFill>
                  <a:srgbClr val="536178"/>
                </a:solidFill>
                <a:latin typeface="IBM Plex Sans"/>
                <a:ea typeface="IBM Plex Sans"/>
                <a:cs typeface="IBM Plex Sans"/>
              </a:defRPr>
            </a:pPr>
            <a:r>
              <a:rPr sz="975" b="0">
                <a:solidFill>
                  <a:srgbClr val="536178"/>
                </a:solidFill>
                <a:latin typeface="IBM Plex Sans"/>
                <a:ea typeface="IBM Plex Sans"/>
                <a:cs typeface="IBM Plex Sans"/>
              </a:rPr>
              <a:t>Backup 7</a:t>
            </a:r>
          </a:p>
        </p:txBody>
      </p:sp>
    </p:spTree>
    <p:extLst>
      <p:ext uri="{BB962C8B-B14F-4D97-AF65-F5344CB8AC3E}">
        <p14:creationId xmlns:p14="http://schemas.microsoft.com/office/powerpoint/2010/main" val="38886473"/>
      </p:ext>
    </p:extLst>
  </p:cSld>
</p:sld>
</file>

<file path=ppt/theme/theme1.xml><?xml version="1.0" encoding="utf-8"?>
<a:theme xmlns:a="http://schemas.openxmlformats.org/drawingml/2006/main" name="ProteoGuard — Final Project">
  <a:themeElements>
    <a:clrScheme name="ProteoGuard — Final Project">
      <a:dk1>
        <a:srgbClr val="1A1F2E"/>
      </a:dk1>
      <a:lt1>
        <a:srgbClr val="FBFBF8"/>
      </a:lt1>
      <a:dk2>
        <a:srgbClr val="525661"/>
      </a:dk2>
      <a:lt2>
        <a:srgbClr val="E5E5E4"/>
      </a:lt2>
      <a:accent1>
        <a:srgbClr val="C2410C"/>
      </a:accent1>
      <a:accent2>
        <a:srgbClr val="BFD0F0"/>
      </a:accent2>
      <a:accent3>
        <a:srgbClr val="8FB3FF"/>
      </a:accent3>
      <a:accent4>
        <a:srgbClr val="1F5FE0"/>
      </a:accent4>
      <a:accent5>
        <a:srgbClr val="1D2D52"/>
      </a:accent5>
      <a:accent6>
        <a:srgbClr val="157347"/>
      </a:accent6>
      <a:hlink>
        <a:srgbClr val="0563C1"/>
      </a:hlink>
      <a:folHlink>
        <a:srgbClr val="954F72"/>
      </a:folHlink>
    </a:clrScheme>
    <a:fontScheme name="ProteoGuard — Final Project">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roteoGuard — Final Project">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2026-10-11T18:14:34.4070000Z</dcterms:created>
  <dcterms:modified xsi:type="dcterms:W3CDTF">2026-10-11T18:14:34.4070000Z</dcterms:modified>
</coreProperties>
</file>