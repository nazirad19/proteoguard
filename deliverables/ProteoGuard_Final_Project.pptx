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dd0955a6c1d4e01" /><Relationship Type="http://schemas.openxmlformats.org/officeDocument/2006/relationships/extended-properties" Target="/docProps/app.xml" Id="Racbfab98593547ee" /><Relationship Type="http://schemas.openxmlformats.org/officeDocument/2006/relationships/officeDocument" Target="/ppt/presentation.xml" Id="Raaf07f32a8c14a80" /></Relationships>
</file>

<file path=ppt/presentation.xml><?xml version="1.0" encoding="utf-8"?>
<p:presentation xmlns:p="http://schemas.openxmlformats.org/presentationml/2006/main">
  <p:sldMasterIdLst>
    <p:sldMasterId xmlns:r="http://schemas.openxmlformats.org/officeDocument/2006/relationships" id="2147483648" r:id="Rd0ed048453e447d8"/>
  </p:sldMasterIdLst>
  <p:notesMasterIdLst>
    <p:notesMasterId xmlns:r="http://schemas.openxmlformats.org/officeDocument/2006/relationships" r:id="R0ad0c0f84d624d25"/>
  </p:notesMasterIdLst>
  <p:sldIdLst>
    <p:sldId xmlns:r="http://schemas.openxmlformats.org/officeDocument/2006/relationships" id="256" r:id="R17fe178374414791"/>
    <p:sldId xmlns:r="http://schemas.openxmlformats.org/officeDocument/2006/relationships" id="257" r:id="R0047d3bb8e3d4ebb"/>
    <p:sldId xmlns:r="http://schemas.openxmlformats.org/officeDocument/2006/relationships" id="258" r:id="R4796c1a70c144b71"/>
    <p:sldId xmlns:r="http://schemas.openxmlformats.org/officeDocument/2006/relationships" id="259" r:id="Re136b1c7ad854339"/>
    <p:sldId xmlns:r="http://schemas.openxmlformats.org/officeDocument/2006/relationships" id="260" r:id="R69b799d7a1bb40c1"/>
    <p:sldId xmlns:r="http://schemas.openxmlformats.org/officeDocument/2006/relationships" id="261" r:id="R019b8605c1894093"/>
    <p:sldId xmlns:r="http://schemas.openxmlformats.org/officeDocument/2006/relationships" id="262" r:id="Rdd78bad90cdb4a0f"/>
    <p:sldId xmlns:r="http://schemas.openxmlformats.org/officeDocument/2006/relationships" id="263" r:id="R3b4a58719e584de0"/>
    <p:sldId xmlns:r="http://schemas.openxmlformats.org/officeDocument/2006/relationships" id="264" r:id="R893562bea61a44e5"/>
    <p:sldId xmlns:r="http://schemas.openxmlformats.org/officeDocument/2006/relationships" id="265" r:id="R909b6f0535d04308"/>
    <p:sldId xmlns:r="http://schemas.openxmlformats.org/officeDocument/2006/relationships" id="266" r:id="R2331beac0383405b"/>
    <p:sldId xmlns:r="http://schemas.openxmlformats.org/officeDocument/2006/relationships" id="267" r:id="R7bd00422d1c9470f"/>
    <p:sldId xmlns:r="http://schemas.openxmlformats.org/officeDocument/2006/relationships" id="268" r:id="R0be9ca95749c41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71f2c92995d4f04" /><Relationship Type="http://schemas.openxmlformats.org/officeDocument/2006/relationships/slideMaster" Target="/ppt/slideMasters/slideMaster1.xml" Id="Rd0ed048453e447d8" /><Relationship Type="http://schemas.openxmlformats.org/officeDocument/2006/relationships/notesMaster" Target="/ppt/notesMasters/notesMaster1.xml" Id="R0ad0c0f84d624d25" /><Relationship Type="http://schemas.openxmlformats.org/officeDocument/2006/relationships/presProps" Target="/ppt/presProps.xml" Id="R91a674b758864d55" /><Relationship Type="http://schemas.openxmlformats.org/officeDocument/2006/relationships/viewProps" Target="/ppt/viewProps.xml" Id="Ra00febc229bf4f3b" /><Relationship Type="http://schemas.openxmlformats.org/officeDocument/2006/relationships/tableStyles" Target="/ppt/tableStyles.xml" Id="R8f151f565e244875" /><Relationship Type="http://schemas.openxmlformats.org/officeDocument/2006/relationships/slide" Target="/ppt/slides/slide1.xml" Id="R17fe178374414791" /><Relationship Type="http://schemas.openxmlformats.org/officeDocument/2006/relationships/slide" Target="/ppt/slides/slide2.xml" Id="R0047d3bb8e3d4ebb" /><Relationship Type="http://schemas.openxmlformats.org/officeDocument/2006/relationships/slide" Target="/ppt/slides/slide3.xml" Id="R4796c1a70c144b71" /><Relationship Type="http://schemas.openxmlformats.org/officeDocument/2006/relationships/slide" Target="/ppt/slides/slide4.xml" Id="Re136b1c7ad854339" /><Relationship Type="http://schemas.openxmlformats.org/officeDocument/2006/relationships/slide" Target="/ppt/slides/slide5.xml" Id="R69b799d7a1bb40c1" /><Relationship Type="http://schemas.openxmlformats.org/officeDocument/2006/relationships/slide" Target="/ppt/slides/slide6.xml" Id="R019b8605c1894093" /><Relationship Type="http://schemas.openxmlformats.org/officeDocument/2006/relationships/slide" Target="/ppt/slides/slide7.xml" Id="Rdd78bad90cdb4a0f" /><Relationship Type="http://schemas.openxmlformats.org/officeDocument/2006/relationships/slide" Target="/ppt/slides/slide8.xml" Id="R3b4a58719e584de0" /><Relationship Type="http://schemas.openxmlformats.org/officeDocument/2006/relationships/slide" Target="/ppt/slides/slide9.xml" Id="R893562bea61a44e5" /><Relationship Type="http://schemas.openxmlformats.org/officeDocument/2006/relationships/slide" Target="/ppt/slides/slide10.xml" Id="R909b6f0535d04308" /><Relationship Type="http://schemas.openxmlformats.org/officeDocument/2006/relationships/slide" Target="/ppt/slides/slide11.xml" Id="R2331beac0383405b" /><Relationship Type="http://schemas.openxmlformats.org/officeDocument/2006/relationships/slide" Target="/ppt/slides/slide12.xml" Id="R7bd00422d1c9470f" /><Relationship Type="http://schemas.openxmlformats.org/officeDocument/2006/relationships/slide" Target="/ppt/slides/slide13.xml" Id="R0be9ca95749c41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2e68efde7f4b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roteoGuard — Final Project">
  <a:themeElements>
    <a:clrScheme name="ProteoGuard — Final Project">
      <a:dk1>
        <a:srgbClr val="1A1F2E"/>
      </a:dk1>
      <a:lt1>
        <a:srgbClr val="FBFBF8"/>
      </a:lt1>
      <a:dk2>
        <a:srgbClr val="525661"/>
      </a:dk2>
      <a:lt2>
        <a:srgbClr val="E5E5E4"/>
      </a:lt2>
      <a:accent1>
        <a:srgbClr val="C2410C"/>
      </a:accent1>
      <a:accent2>
        <a:srgbClr val="BFD0F0"/>
      </a:accent2>
      <a:accent3>
        <a:srgbClr val="8FB3FF"/>
      </a:accent3>
      <a:accent4>
        <a:srgbClr val="1F5FE0"/>
      </a:accent4>
      <a:accent5>
        <a:srgbClr val="1D2D52"/>
      </a:accent5>
      <a:accent6>
        <a:srgbClr val="157347"/>
      </a:accent6>
      <a:hlink>
        <a:srgbClr val="0563C1"/>
      </a:hlink>
      <a:folHlink>
        <a:srgbClr val="954F72"/>
      </a:folHlink>
    </a:clrScheme>
    <a:fontScheme name="ProteoGuard — Final Project">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roteoGuard — Final Projec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5076be662d466e" /><Relationship Type="http://schemas.openxmlformats.org/officeDocument/2006/relationships/notesMaster" Target="/ppt/notesMasters/notesMaster1.xml" Id="R34aab72120f04a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606ba47abc41a4" /><Relationship Type="http://schemas.openxmlformats.org/officeDocument/2006/relationships/notesMaster" Target="/ppt/notesMasters/notesMaster1.xml" Id="Rc8ad671b9cd943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428c58f34545b8" /><Relationship Type="http://schemas.openxmlformats.org/officeDocument/2006/relationships/notesMaster" Target="/ppt/notesMasters/notesMaster1.xml" Id="R6ceed9f020814e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517bd7ac0e4f2f" /><Relationship Type="http://schemas.openxmlformats.org/officeDocument/2006/relationships/notesMaster" Target="/ppt/notesMasters/notesMaster1.xml" Id="R75bb654e2d5842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42b475bdd442cf" /><Relationship Type="http://schemas.openxmlformats.org/officeDocument/2006/relationships/notesMaster" Target="/ppt/notesMasters/notesMaster1.xml" Id="R8ae7f8430be64f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375e32443e462f" /><Relationship Type="http://schemas.openxmlformats.org/officeDocument/2006/relationships/notesMaster" Target="/ppt/notesMasters/notesMaster1.xml" Id="R9b025c51c60d4e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cefa6fd2154c5a" /><Relationship Type="http://schemas.openxmlformats.org/officeDocument/2006/relationships/notesMaster" Target="/ppt/notesMasters/notesMaster1.xml" Id="Rea074cffc7b24b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9cb94e55fc439e" /><Relationship Type="http://schemas.openxmlformats.org/officeDocument/2006/relationships/notesMaster" Target="/ppt/notesMasters/notesMaster1.xml" Id="R95903bc58ad141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03700559594704" /><Relationship Type="http://schemas.openxmlformats.org/officeDocument/2006/relationships/notesMaster" Target="/ppt/notesMasters/notesMaster1.xml" Id="R693c960b0a4144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da8c8c789c4a8e" /><Relationship Type="http://schemas.openxmlformats.org/officeDocument/2006/relationships/notesMaster" Target="/ppt/notesMasters/notesMaster1.xml" Id="R64cd0172650c46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d344e82ee94712" /><Relationship Type="http://schemas.openxmlformats.org/officeDocument/2006/relationships/notesMaster" Target="/ppt/notesMasters/notesMaster1.xml" Id="Rcd409940857e4d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6e18fcc30a43c4" /><Relationship Type="http://schemas.openxmlformats.org/officeDocument/2006/relationships/notesMaster" Target="/ppt/notesMasters/notesMaster1.xml" Id="Rca2f3fa4914b48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f5dea3f1f14a0d" /><Relationship Type="http://schemas.openxmlformats.org/officeDocument/2006/relationships/notesMaster" Target="/ppt/notesMasters/notesMaster1.xml" Id="R08dfa1a7fdf74a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This project asks whether imputed surface proteins support reliable immune-marker calls in a new participant. The application is biomarker research and immune phenotyping, not clinical treatment selection. ProteoGuard is a framework around an existing imputer; we do not change totalVI architecture. The main talk ends at slide 9; slides 10–13 are backup.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Prior work already predicts proteins and studies prediction uncertainty. Grouped conformal prediction also already exists. Our contribution is evaluating their combination with small measured protein panels and participant-level marker decisions. HLA-DR and CD38 motivate immune-state measurements relevant to biomarker research. High and low are defined relative to the design cohort, not a clinical threshold. Sources: https://www.nature.com/articles/s41592-020-01050-x ; https://doi.org/10.1038/s42256-022-00545-w ; https://arxiv.org/abs/2306.06342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Every role has separate participants within a split. In Stephenson, 59 train the base model and 20 held-out design participants select anchors, fit correction, and define thresholds. Another 35 are repeatedly divided into 15 calibration and 20 test participants. Four Sanger participants form an additional descriptive subgroup without Sanger calibration participants. The site was represented earlier, so this is not completely unseen-site transfer. COMBAT uses 61, 20, 15 and 26 participants. Full target proteins are measured in reference and calibration participants. Only RNA and permitted anchors enter test predictions. Two splits reuse cohort members and are not independent cohort replications. Static code inspection shows totalVI includes held-out RNA during fitting with proteins masked, and measured-input ridge fits RNA SVD on all RNA. This is transductive evaluation, not a fully inductive unseen-RNA test.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Average coverage can hide participant-specific errors. In Stephenson, a single component explained 75.6 percent of participant-offset variance, and 98.4 percent of protein loadings had the same sign. The association with antibody depth was strong. This is consistent with a shared technical contribution, but it is not proof of a purely technical mechanism: both summaries use the same measurements. No adjusted severity association was detected. PCA and association samples differ and are labelled. Figure reused from the supplied deck without altering plotted values.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The method has three separate outputs. First, predict protein abundance using RNA and a small measured panel, or correct a fixed imputer after prediction. Second, calibrate intervals using one score per participant. With 15 calibration participants our chosen levels give an 81.25 percent lower bound on the probability that a new exchangeable participant reaches 90 percent empirical cell coverage, for each protein separately. Third, separately calibrate the estimated fraction of marker-positive cells. Call high or low only when that fraction interval lies entirely on one side of the design threshold. Otherwise abstain. The cell-coverage proposition does not guarantee the selective error among biomarker calls.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This comparison holds the predictor and measured inputs fixed: ridge with five sentinels. We change only the calibration rule. Cell-wise calibration gives 58 and 55 percent participant success. Participant-block gives approximately 82 percent in each cohort, consistent with its 81.25 percent lower-bound target. HCP gives 95 and 98 percent and wider intervals. That is a different operating trade-off, not HCP failing our lower bound. Values are averages across proteins and repeated participant splits; they do not establish success for each individual protein. Data: supplied full draft Tables 3 and 4 and course report. No new calculations of performance. The comparator also applies a design-mean offset in its none (design mean) row.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These are correction controls under the same participant-block calibration. A common offset and the assay isotypes perform similarly to the learned map. This limits the contribution of a sophisticated correction. Directly providing measured proteins to ridge gives the lowest interval score and narrowest intervals among these completed comparisons, at similar coverage. All rows are Stephenson results. In the associated prediction comparison, RNA-only ridge RMSE was 0.72 and measured-input ridge was 0.54. That is a different contrast from the interval-score comparison between post-hoc correction and measured inputs. Suitable isotypes can help when already present; they are not free in every assay.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High and low mean above or below a design-cohort threshold for the fraction of marker-positive cells. To compare fairly, hold the call rate at 27 percent. The full draft reports about 32 percent error with random abstention, 20 percent with threshold distance, 5 to 7 percent after anchor correction alone, and about 2 percent with ProteoGuard. The ranges span base predictors, not confidence intervals. The supplied newer course summary reports 1.6 to 2.3 percent error at each pipeline’s own 27 to 33 percent call rate; those are not the matched-rate rows shown here. COMBAT is the important limitation: only 5 to 9 percent of decisions were called with 5 to 9 percent observed error. Low error did not mean broad recovery of biomarker decisions.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Our strongest conclusion is that participant-level evaluation matters. Measured protein inputs and participant-block calibration worked across the two cohorts studied. The learned post-hoc correction did not generalize uniformly. The biological application remained selective, especially in COMBAT. The project supplies a controlled exploratory study, rather than proof that five proteins recover a complete biological profile or that a new totalVI architecture wins. Nine main slides are timed to seven minutes in total. Pause for three minutes of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Let a_icj=max(l+s-y,y-u-s). The participant score is the ceil(gamma*m_i)-th smallest cell score, gamma=0.9. Set k=ceil((n+1)(1-delta)), delta=0.2, and lambda to the kth participant score. For n=15, k=13. If k&gt;n, define lambda=+infinity. Scores may be negative, allowing interval contraction; document the implementation convention. The guarantee concerns empirical coverage of the evaluated cell block, not the infinite-population coverage of a participant. It requires exchangeability of blocks and appropriate freezing or symmetry of the entire prediction procedure. Because held-out RNA participates in fitting, the complete transductive pipeline needs a symmetry justification; the fixed independent-predictor argument alone does not prove deployment coverage for an additional later arrival. HCP targets a different marginal quantity. Sources: https://arxiv.org/abs/1809.07441 ; https://arxiv.org/abs/2306.06342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This enlarges the original totalVI risk–coverage panel. A lower curve means lower observed error among the calls made at the same call rate. The plot does not provide a conditional selective-error guarantee. The original blue and cyan lines are visually close at high call rates; emphasize the clinically unvalidated cohort-relative task. Source: supplied presentation slide 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COMBAT PC1 explains 38 to 40 percent of participant-offset variance and associates with processing pool and ADT depth. No clinical-group association was detected. The analysis is correlational. Some participants share processing pools, which matters for the scope of exchangeability and deployment. Pool-held-out evaluation remains a separate sensitivity analysis. Original figure from supplied slide 10.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The source report lists preliminary scVAEIT results at 100 epochs. The supplied script defaults to 200 through SV_EPOCHS and skips existing prediction files. No live server log or completed longer run was supplied. Neither current training progress nor model superiority is established. Both ZIPs contain identical non-Git files and 33 scripts that pass syntax parsing; the archived commit is 4cd21a01fed12e6176061fdc78ebc2f49f6892d9. The repository revision fixes the hard-coded training seed and paths, adds an ordered runner that creates sentinel JSON before ridge_sentinels.py, and replaces the budget illustration with CSV loading. Eight CPU tests passed. A reconstructed count-data adapter is included but has not been exercised on the cohort sources. Numerical outputs, exact original preparation and environment manifests are still needed. No cohort training was rerun.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4f59b39cd247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e771cd48ec4f3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FBFBF8"/>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2DD52C85-C0D0-4313-830C-774B92E7654C}"/>
              </a:ext>
            </a:extLst>
          </p:cNvPr>
          <p:cNvSpPr>
            <a:spLocks xmlns:a="http://schemas.openxmlformats.org/drawingml/2006/main" noGrp="1"/>
          </p:cNvSpPr>
          <p:nvPr>
            <p:ph type="title" idx="0"/>
          </p:nvPr>
        </p:nvSpPr>
        <p:spPr>
          <a:xfrm xmlns:a="http://schemas.openxmlformats.org/drawingml/2006/main">
            <a:off x="812800" y="812800"/>
            <a:ext cx="10566400" cy="5029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600">
                <a:solidFill>
                  <a:srgbClr val="1A1F2E"/>
                </a:solidFill>
                <a:latin typeface="Source Serif 4"/>
                <a:ea typeface="Source Serif 4"/>
                <a:cs typeface="Source Serif 4"/>
              </a:defRPr>
            </a:lvl1pPr>
          </a:lstStyle>
          <a:p xmlns:a="http://schemas.openxmlformats.org/drawingml/2006/main">
            <a:pPr marL="0" indent="0" algn="l">
              <a:lnSpc>
                <a:spcPct val="115000"/>
              </a:lnSpc>
              <a:buNone/>
            </a:pPr>
            <a:endParaRPr sz="3600"/>
          </a:p>
        </p:txBody>
      </p:sp>
      <p:sp>
        <p:nvSpPr>
          <p:cNvPr id="3" name="Text Placeholder 2">
            <a:extLst xmlns:a="http://schemas.openxmlformats.org/drawingml/2006/main">
              <a:ext uri="{FF2B5EF4-FFF2-40B4-BE49-F238E27FC236}">
                <a16:creationId xmlns:a16="http://schemas.microsoft.com/office/drawing/2014/main" id="{5E86CFAE-2751-47C2-B6F5-DDB8EF4C607E}"/>
              </a:ext>
            </a:extLst>
          </p:cNvPr>
          <p:cNvSpPr>
            <a:spLocks xmlns:a="http://schemas.openxmlformats.org/drawingml/2006/main" noGrp="1"/>
          </p:cNvSpPr>
          <p:nvPr>
            <p:ph type="body" idx="101"/>
          </p:nvPr>
        </p:nvSpPr>
        <p:spPr>
          <a:xfrm xmlns:a="http://schemas.openxmlformats.org/drawingml/2006/main">
            <a:off x="812800" y="1620507"/>
            <a:ext cx="10566400" cy="442469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A1F2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8d032987e34b0b" /><Relationship Type="http://schemas.openxmlformats.org/officeDocument/2006/relationships/slideLayout" Target="/ppt/slideLayouts/slideLayout1.xml" Id="R7cc2551c56734d28" /><Relationship Type="http://schemas.openxmlformats.org/officeDocument/2006/relationships/slideLayout" Target="/ppt/slideLayouts/slideLayout2.xml" Id="R7875407451684566" /></Relationships>
</file>

<file path=ppt/slideMasters/slideMaster1.xml><?xml version="1.0" encoding="utf-8"?>
<p:sldMaster xmlns:p="http://schemas.openxmlformats.org/presentationml/2006/main">
  <p:cSld>
    <p:bg>
      <p:bgPr>
        <a:solidFill xmlns:a="http://schemas.openxmlformats.org/drawingml/2006/main">
          <a:srgbClr val="FBFBF8"/>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65B3153-DF1A-4E1B-942B-C340A7F8DABE}"/>
              </a:ext>
            </a:extLst>
          </p:cNvPr>
          <p:cNvSpPr>
            <a:spLocks xmlns:a="http://schemas.openxmlformats.org/drawingml/2006/main" noGrp="1"/>
          </p:cNvSpPr>
          <p:nvPr>
            <p:ph type="title" idx="0"/>
          </p:nvPr>
        </p:nvSpPr>
        <p:spPr>
          <a:xfrm xmlns:a="http://schemas.openxmlformats.org/drawingml/2006/main">
            <a:off x="812800" y="812800"/>
            <a:ext cx="10566400" cy="5029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600">
                <a:solidFill>
                  <a:srgbClr val="1A1F2E"/>
                </a:solidFill>
                <a:latin typeface="Source Serif 4"/>
                <a:ea typeface="Source Serif 4"/>
                <a:cs typeface="Source Serif 4"/>
              </a:defRPr>
            </a:lvl1pPr>
          </a:lstStyle>
          <a:p xmlns:a="http://schemas.openxmlformats.org/drawingml/2006/main">
            <a:pPr marL="0" indent="0" algn="l">
              <a:lnSpc>
                <a:spcPct val="115000"/>
              </a:lnSpc>
              <a:buNone/>
            </a:pPr>
            <a:endParaRPr sz="3600"/>
          </a:p>
        </p:txBody>
      </p:sp>
      <p:sp>
        <p:nvSpPr>
          <p:cNvPr id="3" name="Text Placeholder 2">
            <a:extLst xmlns:a="http://schemas.openxmlformats.org/drawingml/2006/main">
              <a:ext uri="{FF2B5EF4-FFF2-40B4-BE49-F238E27FC236}">
                <a16:creationId xmlns:a16="http://schemas.microsoft.com/office/drawing/2014/main" id="{24A92377-7C2E-43AB-9FDA-5FD3F9FE157C}"/>
              </a:ext>
            </a:extLst>
          </p:cNvPr>
          <p:cNvSpPr>
            <a:spLocks xmlns:a="http://schemas.openxmlformats.org/drawingml/2006/main" noGrp="1"/>
          </p:cNvSpPr>
          <p:nvPr>
            <p:ph type="body" idx="101"/>
          </p:nvPr>
        </p:nvSpPr>
        <p:spPr>
          <a:xfrm xmlns:a="http://schemas.openxmlformats.org/drawingml/2006/main">
            <a:off x="812800" y="1620507"/>
            <a:ext cx="10566400" cy="442469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A1F2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c2551c56734d28"/>
    <p:sldLayoutId xmlns:r="http://schemas.openxmlformats.org/officeDocument/2006/relationships" id="2147483650" r:id="R787540745168456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ProteoGuard — Final Project">
  <a:themeElements>
    <a:clrScheme name="ProteoGuard — Final Project">
      <a:dk1>
        <a:srgbClr val="1A1F2E"/>
      </a:dk1>
      <a:lt1>
        <a:srgbClr val="FBFBF8"/>
      </a:lt1>
      <a:dk2>
        <a:srgbClr val="525661"/>
      </a:dk2>
      <a:lt2>
        <a:srgbClr val="E5E5E4"/>
      </a:lt2>
      <a:accent1>
        <a:srgbClr val="C2410C"/>
      </a:accent1>
      <a:accent2>
        <a:srgbClr val="BFD0F0"/>
      </a:accent2>
      <a:accent3>
        <a:srgbClr val="8FB3FF"/>
      </a:accent3>
      <a:accent4>
        <a:srgbClr val="1F5FE0"/>
      </a:accent4>
      <a:accent5>
        <a:srgbClr val="1D2D52"/>
      </a:accent5>
      <a:accent6>
        <a:srgbClr val="157347"/>
      </a:accent6>
      <a:hlink>
        <a:srgbClr val="0563C1"/>
      </a:hlink>
      <a:folHlink>
        <a:srgbClr val="954F72"/>
      </a:folHlink>
    </a:clrScheme>
    <a:fontScheme name="ProteoGuard — Final Project">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roteoGuard — Final Projec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4d6a14f93b7f40ae" /><Relationship Type="http://schemas.openxmlformats.org/officeDocument/2006/relationships/notesSlide" Target="/ppt/notesSlides/notesSlide1.xml" Id="Rb06bbab8dadb4d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b5482d5712148d6" /><Relationship Type="http://schemas.openxmlformats.org/officeDocument/2006/relationships/notesSlide" Target="/ppt/notesSlides/notesSlide2.xml" Id="Rd6879ed3b3c54e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32894afc9c44ef8" /><Relationship Type="http://schemas.openxmlformats.org/officeDocument/2006/relationships/notesSlide" Target="/ppt/notesSlides/notesSlide3.xml" Id="R6a3cf764afa849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ad4fce0cb14474e" /><Relationship Type="http://schemas.openxmlformats.org/officeDocument/2006/relationships/image" Target="/ppt/media/image.png" Id="R3b468ae5aa5f4b3f" /><Relationship Type="http://schemas.openxmlformats.org/officeDocument/2006/relationships/image" Target="/ppt/media/image2.png" Id="Raf2f535f6e274eed" /><Relationship Type="http://schemas.openxmlformats.org/officeDocument/2006/relationships/notesSlide" Target="/ppt/notesSlides/notesSlide4.xml" Id="Ra8b613f3ccf342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2a3f0c08c4445dd" /><Relationship Type="http://schemas.openxmlformats.org/officeDocument/2006/relationships/notesSlide" Target="/ppt/notesSlides/notesSlide5.xml" Id="Rb97a65be2a9b49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9af03e503104d3f" /><Relationship Type="http://schemas.openxmlformats.org/officeDocument/2006/relationships/chart" Target="/ppt/slides/charts/chart1.xml" Id="R793342faa97041fa" /><Relationship Type="http://schemas.openxmlformats.org/officeDocument/2006/relationships/notesSlide" Target="/ppt/notesSlides/notesSlide6.xml" Id="R05aaf68700bb4f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027e70db28d4c1b" /><Relationship Type="http://schemas.openxmlformats.org/officeDocument/2006/relationships/notesSlide" Target="/ppt/notesSlides/notesSlide7.xml" Id="Re618b2892c1f48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a1a489caaad4718" /><Relationship Type="http://schemas.openxmlformats.org/officeDocument/2006/relationships/notesSlide" Target="/ppt/notesSlides/notesSlide8.xml" Id="R5aebf149d9944b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bd4b71270fa4093" /><Relationship Type="http://schemas.openxmlformats.org/officeDocument/2006/relationships/notesSlide" Target="/ppt/notesSlides/notesSlide9.xml" Id="R8d37c5c42fa148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5212ee063054765" /><Relationship Type="http://schemas.openxmlformats.org/officeDocument/2006/relationships/notesSlide" Target="/ppt/notesSlides/notesSlide10.xml" Id="Rbbe8f620c7df43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d24dcea1d9b7493e" /><Relationship Type="http://schemas.openxmlformats.org/officeDocument/2006/relationships/image" Target="/ppt/media/image3.png" Id="R61d81fe925ca4439" /><Relationship Type="http://schemas.openxmlformats.org/officeDocument/2006/relationships/notesSlide" Target="/ppt/notesSlides/notesSlide11.xml" Id="R48fbc6f315b84f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62dcf2cae1947bc" /><Relationship Type="http://schemas.openxmlformats.org/officeDocument/2006/relationships/image" Target="/ppt/media/image4.png" Id="R0d4ca535121e4fb3" /><Relationship Type="http://schemas.openxmlformats.org/officeDocument/2006/relationships/notesSlide" Target="/ppt/notesSlides/notesSlide12.xml" Id="R43af05322a864b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27ecf57d5344c45" /><Relationship Type="http://schemas.openxmlformats.org/officeDocument/2006/relationships/notesSlide" Target="/ppt/notesSlides/notesSlide13.xml" Id="Ra7f53cfa77624e2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Cell-wise</c:v>
          </c:tx>
          <c:spPr>
            <a:solidFill xmlns:a="http://schemas.openxmlformats.org/drawingml/2006/main">
              <a:srgbClr val="D64B00"/>
            </a:solidFill>
          </c:spPr>
          <c:dLbls>
            <c:dLbl>
              <c:idx val="0"/>
              <c:tx>
                <c:rich>
                  <a:bodyPr xmlns:a="http://schemas.openxmlformats.org/drawingml/2006/main"/>
                  <a:lstStyle xmlns:a="http://schemas.openxmlformats.org/drawingml/2006/main"/>
                  <a:p xmlns:a="http://schemas.openxmlformats.org/drawingml/2006/main">
                    <a:r>
                      <a:rPr/>
                      <a:t>58%</a:t>
                    </a:r>
                  </a:p>
                </c:rich>
              </c:tx>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a:t>55%</a:t>
                    </a:r>
                  </a:p>
                </c:rich>
              </c:tx>
              <c:showLegendKey val="0"/>
              <c:showVal val="0"/>
              <c:showCatName val="0"/>
              <c:showSerName val="0"/>
              <c:showPercent val="0"/>
              <c:showBubbleSize val="0"/>
            </c:dLbl>
          </c:dLbls>
          <c:cat>
            <c:strRef>
              <c:f>'Chart Data'!$A$2:$A$3</c:f>
              <c:strCache>
                <c:ptCount val="2"/>
                <c:pt idx="0">
                  <c:v>Stephenson</c:v>
                </c:pt>
                <c:pt idx="1">
                  <c:v>COMBAT</c:v>
                </c:pt>
              </c:strCache>
            </c:strRef>
          </c:cat>
          <c:val>
            <c:numRef>
              <c:f>'Chart Data'!$B$2:$B$3</c:f>
              <c:numCache>
                <c:formatCode>0%</c:formatCode>
                <c:ptCount val="2"/>
                <c:pt idx="0">
                  <c:v>0.58</c:v>
                </c:pt>
                <c:pt idx="1">
                  <c:v>0.55</c:v>
                </c:pt>
              </c:numCache>
            </c:numRef>
          </c:val>
        </c:ser>
        <c:ser>
          <c:idx val="1"/>
          <c:order val="1"/>
          <c:tx>
            <c:v>HCP</c:v>
          </c:tx>
          <c:spPr>
            <a:solidFill xmlns:a="http://schemas.openxmlformats.org/drawingml/2006/main">
              <a:srgbClr val="7937FF"/>
            </a:solidFill>
          </c:spPr>
          <c:dLbls>
            <c:dLbl>
              <c:idx val="0"/>
              <c:tx>
                <c:rich>
                  <a:bodyPr xmlns:a="http://schemas.openxmlformats.org/drawingml/2006/main"/>
                  <a:lstStyle xmlns:a="http://schemas.openxmlformats.org/drawingml/2006/main"/>
                  <a:p xmlns:a="http://schemas.openxmlformats.org/drawingml/2006/main">
                    <a:r>
                      <a:rPr/>
                      <a:t>95%</a:t>
                    </a:r>
                  </a:p>
                </c:rich>
              </c:tx>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a:t>98%</a:t>
                    </a:r>
                  </a:p>
                </c:rich>
              </c:tx>
              <c:showLegendKey val="0"/>
              <c:showVal val="0"/>
              <c:showCatName val="0"/>
              <c:showSerName val="0"/>
              <c:showPercent val="0"/>
              <c:showBubbleSize val="0"/>
            </c:dLbl>
          </c:dLbls>
          <c:cat>
            <c:strRef>
              <c:f>'Chart Data'!$C$2:$C$3</c:f>
              <c:strCache>
                <c:ptCount val="2"/>
                <c:pt idx="0">
                  <c:v>Stephenson</c:v>
                </c:pt>
                <c:pt idx="1">
                  <c:v>COMBAT</c:v>
                </c:pt>
              </c:strCache>
            </c:strRef>
          </c:cat>
          <c:val>
            <c:numRef>
              <c:f>'Chart Data'!$D$2:$D$3</c:f>
              <c:numCache>
                <c:formatCode>0%</c:formatCode>
                <c:ptCount val="2"/>
                <c:pt idx="0">
                  <c:v>0.95</c:v>
                </c:pt>
                <c:pt idx="1">
                  <c:v>0.98</c:v>
                </c:pt>
              </c:numCache>
            </c:numRef>
          </c:val>
        </c:ser>
        <c:ser>
          <c:idx val="2"/>
          <c:order val="2"/>
          <c:tx>
            <c:v>Participant-block</c:v>
          </c:tx>
          <c:spPr>
            <a:solidFill xmlns:a="http://schemas.openxmlformats.org/drawingml/2006/main">
              <a:srgbClr val="245EFF"/>
            </a:solidFill>
          </c:spPr>
          <c:dLbls>
            <c:dLbl>
              <c:idx val="0"/>
              <c:tx>
                <c:rich>
                  <a:bodyPr xmlns:a="http://schemas.openxmlformats.org/drawingml/2006/main"/>
                  <a:lstStyle xmlns:a="http://schemas.openxmlformats.org/drawingml/2006/main"/>
                  <a:p xmlns:a="http://schemas.openxmlformats.org/drawingml/2006/main">
                    <a:r>
                      <a:rPr/>
                      <a:t>82%</a:t>
                    </a:r>
                  </a:p>
                </c:rich>
              </c:tx>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a:t>82%</a:t>
                    </a:r>
                  </a:p>
                </c:rich>
              </c:tx>
              <c:showLegendKey val="0"/>
              <c:showVal val="0"/>
              <c:showCatName val="0"/>
              <c:showSerName val="0"/>
              <c:showPercent val="0"/>
              <c:showBubbleSize val="0"/>
            </c:dLbl>
          </c:dLbls>
          <c:cat>
            <c:strRef>
              <c:f>'Chart Data'!$E$2:$E$3</c:f>
              <c:strCache>
                <c:ptCount val="2"/>
                <c:pt idx="0">
                  <c:v>Stephenson</c:v>
                </c:pt>
                <c:pt idx="1">
                  <c:v>COMBAT</c:v>
                </c:pt>
              </c:strCache>
            </c:strRef>
          </c:cat>
          <c:val>
            <c:numRef>
              <c:f>'Chart Data'!$F$2:$F$3</c:f>
              <c:numCache>
                <c:formatCode>0%</c:formatCode>
                <c:ptCount val="2"/>
                <c:pt idx="0">
                  <c:v>0.82</c:v>
                </c:pt>
                <c:pt idx="1">
                  <c:v>0.82</c:v>
                </c:pt>
              </c:numCache>
            </c:numRef>
          </c:val>
        </c:ser>
        <c:dLbls>
          <c:txPr>
            <a:bodyPr xmlns:a="http://schemas.openxmlformats.org/drawingml/2006/main" anchorCtr="1"/>
            <a:lstStyle xmlns:a="http://schemas.openxmlformats.org/drawingml/2006/main"/>
            <a:p xmlns:a="http://schemas.openxmlformats.org/drawingml/2006/main">
              <a:pPr>
                <a:defRPr sz="1650">
                  <a:latin typeface="IBM Plex Sans"/>
                  <a:ea typeface="IBM Plex Sans"/>
                  <a:cs typeface="IBM Plex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IBM Plex Sans"/>
                <a:ea typeface="IBM Plex Sans"/>
                <a:cs typeface="IBM Plex Sans"/>
              </a:defRPr>
            </a:pPr>
          </a:p>
        </c:txPr>
        <c:crossAx val="48672768"/>
      </c:catAx>
      <c:valAx>
        <c:axId val="48672768"/>
        <c:scaling>
          <c:orientation val="minMax"/>
          <c:max val="1"/>
          <c:min val="0"/>
        </c:scaling>
        <c:delete val="0"/>
        <c:axPos val="l"/>
        <c:majorGridlines>
          <c:spPr>
            <a:ln xmlns:a="http://schemas.openxmlformats.org/drawingml/2006/main" w="9525">
              <a:solidFill>
                <a:srgbClr val="D8DFEA"/>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IBM Plex Sans"/>
                <a:ea typeface="IBM Plex Sans"/>
                <a:cs typeface="IBM Plex Sans"/>
              </a:defRPr>
            </a:pPr>
          </a:p>
        </c:txPr>
        <c:crossAx val="48650112"/>
        <c:crossBetween val="between"/>
        <c:majorUnit val="0.2"/>
      </c:valAx>
      <c:spPr>
        <a:solidFill xmlns:a="http://schemas.openxmlformats.org/drawingml/2006/main">
          <a:srgbClr val="FAFAF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IBM Plex Sans"/>
              <a:ea typeface="IBM Plex Sans"/>
              <a:cs typeface="IBM Plex Sans"/>
            </a:defRPr>
          </a:pPr>
        </a:p>
      </c:txPr>
    </c:legend>
    <c:plotVisOnly val="1"/>
  </c:chart>
  <c:spPr>
    <a:solidFill xmlns:a="http://schemas.openxmlformats.org/drawingml/2006/main">
      <a:srgbClr val="FAFA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13D"/>
        </a:solidFill>
      </p:bgPr>
    </p:bg>
    <p:spTree>
      <p:nvGrpSpPr>
        <p:cNvPr id="1" name=""/>
        <p:cNvGrpSpPr/>
        <p:nvPr/>
      </p:nvGrpSpPr>
      <p:grpSpPr>
        <a:xfrm xmlns:a="http://schemas.openxmlformats.org/drawingml/2006/main"/>
      </p:grpSpPr>
      <p:sp>
        <p:nvSpPr>
          <p:cNvPr id="8" name="ProteoGuard">
            <a:extLst xmlns:a="http://schemas.openxmlformats.org/drawingml/2006/main">
              <a:ext uri="{FF2B5EF4-FFF2-40B4-BE49-F238E27FC236}">
                <a16:creationId xmlns:a16="http://schemas.microsoft.com/office/drawing/2014/main" id="{FE2A43CD-9E50-4A1F-AD4B-9B2A6D2BA97D}"/>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FFFFFF"/>
                </a:solidFill>
                <a:latin typeface="IBM Plex Sans"/>
                <a:ea typeface="IBM Plex Sans"/>
                <a:cs typeface="IBM Plex Sans"/>
              </a:defRPr>
            </a:pPr>
            <a:r>
              <a:rPr sz="3000" b="1">
                <a:solidFill>
                  <a:srgbClr val="FFFFFF"/>
                </a:solidFill>
                <a:latin typeface="IBM Plex Sans"/>
                <a:ea typeface="IBM Plex Sans"/>
                <a:cs typeface="IBM Plex Sans"/>
              </a:rPr>
              <a:t>ProteoGuard</a:t>
            </a:r>
          </a:p>
        </p:txBody>
      </p:sp>
      <p:sp>
        <p:nvSpPr>
          <p:cNvPr id="2" name="Reliable immune-marker predictions&#10;for new participants">
            <a:extLst xmlns:a="http://schemas.openxmlformats.org/drawingml/2006/main">
              <a:ext uri="{FF2B5EF4-FFF2-40B4-BE49-F238E27FC236}">
                <a16:creationId xmlns:a16="http://schemas.microsoft.com/office/drawing/2014/main" id="{8EE5EDCA-000D-4DE7-B61B-E3B5C548F3A7}"/>
              </a:ext>
            </a:extLst>
          </p:cNvPr>
          <p:cNvSpPr>
            <a:spLocks xmlns:a="http://schemas.openxmlformats.org/drawingml/2006/main" noGrp="1"/>
          </p:cNvSpPr>
          <p:nvPr/>
        </p:nvSpPr>
        <p:spPr>
          <a:xfrm xmlns:a="http://schemas.openxmlformats.org/drawingml/2006/main">
            <a:off x="685800" y="1619250"/>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75" b="1">
                <a:solidFill>
                  <a:srgbClr val="FFFFFF"/>
                </a:solidFill>
                <a:latin typeface="IBM Plex Sans"/>
                <a:ea typeface="IBM Plex Sans"/>
                <a:cs typeface="IBM Plex Sans"/>
              </a:defRPr>
            </a:pPr>
            <a:r>
              <a:rPr sz="3675" b="1">
                <a:solidFill>
                  <a:srgbClr val="FFFFFF"/>
                </a:solidFill>
                <a:latin typeface="IBM Plex Sans"/>
                <a:ea typeface="IBM Plex Sans"/>
                <a:cs typeface="IBM Plex Sans"/>
              </a:rPr>
              <a:t>Reliable immune-marker predictions</a:t>
            </a:r>
          </a:p>
          <a:p xmlns:a="http://schemas.openxmlformats.org/drawingml/2006/main">
            <a:pPr algn="l">
              <a:defRPr sz="3675" b="1">
                <a:solidFill>
                  <a:srgbClr val="FFFFFF"/>
                </a:solidFill>
                <a:latin typeface="IBM Plex Sans"/>
                <a:ea typeface="IBM Plex Sans"/>
                <a:cs typeface="IBM Plex Sans"/>
              </a:defRPr>
            </a:pPr>
            <a:r>
              <a:rPr sz="3675" b="1">
                <a:solidFill>
                  <a:srgbClr val="FFFFFF"/>
                </a:solidFill>
                <a:latin typeface="IBM Plex Sans"/>
                <a:ea typeface="IBM Plex Sans"/>
                <a:cs typeface="IBM Plex Sans"/>
              </a:rPr>
              <a:t>for new participants</a:t>
            </a:r>
          </a:p>
        </p:txBody>
      </p:sp>
      <p:sp>
        <p:nvSpPr>
          <p:cNvPr id="3" name="Can RNA plus a small measured protein panel support reliable">
            <a:extLst xmlns:a="http://schemas.openxmlformats.org/drawingml/2006/main">
              <a:ext uri="{FF2B5EF4-FFF2-40B4-BE49-F238E27FC236}">
                <a16:creationId xmlns:a16="http://schemas.microsoft.com/office/drawing/2014/main" id="{53C78098-51A4-403D-AACB-45DE138BEB61}"/>
              </a:ext>
            </a:extLst>
          </p:cNvPr>
          <p:cNvSpPr>
            <a:spLocks xmlns:a="http://schemas.openxmlformats.org/drawingml/2006/main" noGrp="1"/>
          </p:cNvSpPr>
          <p:nvPr/>
        </p:nvSpPr>
        <p:spPr>
          <a:xfrm xmlns:a="http://schemas.openxmlformats.org/drawingml/2006/main">
            <a:off x="723900" y="3505200"/>
            <a:ext cx="990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C5D5EF"/>
                </a:solidFill>
                <a:latin typeface="IBM Plex Sans"/>
                <a:ea typeface="IBM Plex Sans"/>
                <a:cs typeface="IBM Plex Sans"/>
              </a:defRPr>
            </a:pPr>
            <a:r>
              <a:rPr sz="2400" b="0">
                <a:solidFill>
                  <a:srgbClr val="C5D5EF"/>
                </a:solidFill>
                <a:latin typeface="IBM Plex Sans"/>
                <a:ea typeface="IBM Plex Sans"/>
                <a:cs typeface="IBM Plex Sans"/>
              </a:rPr>
              <a:t>Can RNA plus a small measured protein panel support reliable calls of immune activation?</a:t>
            </a:r>
          </a:p>
        </p:txBody>
      </p:sp>
      <p:sp>
        <p:nvSpPr>
          <p:cNvPr id="4" name="">
            <a:extLst xmlns:a="http://schemas.openxmlformats.org/drawingml/2006/main">
              <a:ext uri="{FF2B5EF4-FFF2-40B4-BE49-F238E27FC236}">
                <a16:creationId xmlns:a16="http://schemas.microsoft.com/office/drawing/2014/main" id="{F924C649-D697-4E14-A7A2-DCB0AFB40E3F}"/>
              </a:ext>
            </a:extLst>
          </p:cNvPr>
          <p:cNvSpPr>
            <a:spLocks xmlns:a="http://schemas.openxmlformats.org/drawingml/2006/main" noGrp="1"/>
          </p:cNvSpPr>
          <p:nvPr/>
        </p:nvSpPr>
        <p:spPr>
          <a:xfrm xmlns:a="http://schemas.openxmlformats.org/drawingml/2006/main">
            <a:off x="723900" y="5095875"/>
            <a:ext cx="952500" cy="47625"/>
          </a:xfrm>
          <a:prstGeom xmlns:a="http://schemas.openxmlformats.org/drawingml/2006/main" prst="rect">
            <a:avLst/>
          </a:prstGeom>
          <a:solidFill xmlns:a="http://schemas.openxmlformats.org/drawingml/2006/main">
            <a:srgbClr val="245EFF"/>
          </a:solidFill>
          <a:ln xmlns:a="http://schemas.openxmlformats.org/drawingml/2006/main" w="0">
            <a:noFill/>
          </a:ln>
        </p:spPr>
      </p:sp>
      <p:sp>
        <p:nvSpPr>
          <p:cNvPr id="5" name="Course final project&#10;Extension of the totalVI analysis pipel">
            <a:extLst xmlns:a="http://schemas.openxmlformats.org/drawingml/2006/main">
              <a:ext uri="{FF2B5EF4-FFF2-40B4-BE49-F238E27FC236}">
                <a16:creationId xmlns:a16="http://schemas.microsoft.com/office/drawing/2014/main" id="{4A3E8D79-76B3-426B-95F9-3A9EFE5EC880}"/>
              </a:ext>
            </a:extLst>
          </p:cNvPr>
          <p:cNvSpPr>
            <a:spLocks xmlns:a="http://schemas.openxmlformats.org/drawingml/2006/main" noGrp="1"/>
          </p:cNvSpPr>
          <p:nvPr/>
        </p:nvSpPr>
        <p:spPr>
          <a:xfrm xmlns:a="http://schemas.openxmlformats.org/drawingml/2006/main">
            <a:off x="723900" y="5362575"/>
            <a:ext cx="942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C5D5EF"/>
                </a:solidFill>
                <a:latin typeface="IBM Plex Sans"/>
                <a:ea typeface="IBM Plex Sans"/>
                <a:cs typeface="IBM Plex Sans"/>
              </a:defRPr>
            </a:pPr>
            <a:r>
              <a:rPr sz="1725" b="0">
                <a:solidFill>
                  <a:srgbClr val="C5D5EF"/>
                </a:solidFill>
                <a:latin typeface="IBM Plex Sans"/>
                <a:ea typeface="IBM Plex Sans"/>
                <a:cs typeface="IBM Plex Sans"/>
              </a:rPr>
              <a:t>Course final project</a:t>
            </a:r>
          </a:p>
          <a:p xmlns:a="http://schemas.openxmlformats.org/drawingml/2006/main">
            <a:pPr algn="l">
              <a:defRPr sz="1725" b="0">
                <a:solidFill>
                  <a:srgbClr val="C5D5EF"/>
                </a:solidFill>
                <a:latin typeface="IBM Plex Sans"/>
                <a:ea typeface="IBM Plex Sans"/>
                <a:cs typeface="IBM Plex Sans"/>
              </a:defRPr>
            </a:pPr>
            <a:r>
              <a:rPr sz="1725" b="0">
                <a:solidFill>
                  <a:srgbClr val="C5D5EF"/>
                </a:solidFill>
                <a:latin typeface="IBM Plex Sans"/>
                <a:ea typeface="IBM Plex Sans"/>
                <a:cs typeface="IBM Plex Sans"/>
              </a:rPr>
              <a:t>Extension of the totalVI analysis pipeline</a:t>
            </a:r>
          </a:p>
        </p:txBody>
      </p:sp>
      <p:sp>
        <p:nvSpPr>
          <p:cNvPr id="6" name="MBZUAI · October 2026 · 7-minute talk + 3-minute Q&amp;A">
            <a:extLst xmlns:a="http://schemas.openxmlformats.org/drawingml/2006/main">
              <a:ext uri="{FF2B5EF4-FFF2-40B4-BE49-F238E27FC236}">
                <a16:creationId xmlns:a16="http://schemas.microsoft.com/office/drawing/2014/main" id="{49405DA4-F2F6-408E-97FF-C951ABCF7ADF}"/>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BCCCE6"/>
                </a:solidFill>
                <a:latin typeface="IBM Plex Sans"/>
                <a:ea typeface="IBM Plex Sans"/>
                <a:cs typeface="IBM Plex Sans"/>
              </a:defRPr>
            </a:pPr>
            <a:r>
              <a:rPr sz="1050" b="0">
                <a:solidFill>
                  <a:srgbClr val="BCCCE6"/>
                </a:solidFill>
                <a:latin typeface="IBM Plex Sans"/>
                <a:ea typeface="IBM Plex Sans"/>
                <a:cs typeface="IBM Plex Sans"/>
              </a:rPr>
              <a:t>MBZUAI · October 2026 · 7-minute talk + 3-minute Q&amp;A</a:t>
            </a:r>
          </a:p>
        </p:txBody>
      </p:sp>
      <p:sp>
        <p:nvSpPr>
          <p:cNvPr id="7" name="1 / 9">
            <a:extLst xmlns:a="http://schemas.openxmlformats.org/drawingml/2006/main">
              <a:ext uri="{FF2B5EF4-FFF2-40B4-BE49-F238E27FC236}">
                <a16:creationId xmlns:a16="http://schemas.microsoft.com/office/drawing/2014/main" id="{9F6CF07F-5A1B-4261-8ACE-4062F0420205}"/>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BCCCE6"/>
                </a:solidFill>
                <a:latin typeface="IBM Plex Sans"/>
                <a:ea typeface="IBM Plex Sans"/>
                <a:cs typeface="IBM Plex Sans"/>
              </a:defRPr>
            </a:pPr>
            <a:r>
              <a:rPr sz="1050" b="0">
                <a:solidFill>
                  <a:srgbClr val="BCCCE6"/>
                </a:solidFill>
                <a:latin typeface="IBM Plex Sans"/>
                <a:ea typeface="IBM Plex Sans"/>
                <a:cs typeface="IBM Plex Sans"/>
              </a:rPr>
              <a:t>1 / 9</a:t>
            </a:r>
          </a:p>
        </p:txBody>
      </p:sp>
    </p:spTree>
    <p:extLst>
      <p:ext uri="{BB962C8B-B14F-4D97-AF65-F5344CB8AC3E}">
        <p14:creationId xmlns:p14="http://schemas.microsoft.com/office/powerpoint/2010/main" val="872763485"/>
      </p:ext>
    </p:extLst>
  </p:cSld>
</p:sld>
</file>

<file path=ppt/slides/slide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4" name="Existing predictors leave a participant-level question">
            <a:extLst xmlns:a="http://schemas.openxmlformats.org/drawingml/2006/main">
              <a:ext uri="{FF2B5EF4-FFF2-40B4-BE49-F238E27FC236}">
                <a16:creationId xmlns:a16="http://schemas.microsoft.com/office/drawing/2014/main" id="{D969F9F3-8608-43D8-A037-E8193EBABEC0}"/>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D2433"/>
                </a:solidFill>
                <a:latin typeface="IBM Plex Sans"/>
                <a:ea typeface="IBM Plex Sans"/>
                <a:cs typeface="IBM Plex Sans"/>
              </a:defRPr>
            </a:pPr>
            <a:r>
              <a:rPr sz="3000" b="1">
                <a:solidFill>
                  <a:srgbClr val="1D2433"/>
                </a:solidFill>
                <a:latin typeface="IBM Plex Sans"/>
                <a:ea typeface="IBM Plex Sans"/>
                <a:cs typeface="IBM Plex Sans"/>
              </a:rPr>
              <a:t>Existing predictors leave a participant-level question</a:t>
            </a:r>
          </a:p>
        </p:txBody>
      </p:sp>
      <p:sp>
        <p:nvSpPr>
          <p:cNvPr id="2" name="totalVI and sciPENN">
            <a:extLst xmlns:a="http://schemas.openxmlformats.org/drawingml/2006/main">
              <a:ext uri="{FF2B5EF4-FFF2-40B4-BE49-F238E27FC236}">
                <a16:creationId xmlns:a16="http://schemas.microsoft.com/office/drawing/2014/main" id="{041ECE4E-ED22-49FD-BA2B-E78A9FF9E406}"/>
              </a:ext>
            </a:extLst>
          </p:cNvPr>
          <p:cNvSpPr>
            <a:spLocks xmlns:a="http://schemas.openxmlformats.org/drawingml/2006/main" noGrp="1"/>
          </p:cNvSpPr>
          <p:nvPr/>
        </p:nvSpPr>
        <p:spPr>
          <a:xfrm xmlns:a="http://schemas.openxmlformats.org/drawingml/2006/main">
            <a:off x="723900" y="1590675"/>
            <a:ext cx="3667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45EFF"/>
                </a:solidFill>
                <a:latin typeface="IBM Plex Sans"/>
                <a:ea typeface="IBM Plex Sans"/>
                <a:cs typeface="IBM Plex Sans"/>
              </a:defRPr>
            </a:pPr>
            <a:r>
              <a:rPr sz="2025" b="1">
                <a:solidFill>
                  <a:srgbClr val="245EFF"/>
                </a:solidFill>
                <a:latin typeface="IBM Plex Sans"/>
                <a:ea typeface="IBM Plex Sans"/>
                <a:cs typeface="IBM Plex Sans"/>
              </a:rPr>
              <a:t>totalVI and sciPENN</a:t>
            </a:r>
          </a:p>
        </p:txBody>
      </p:sp>
      <p:sp>
        <p:nvSpPr>
          <p:cNvPr id="3" name="Predict protein abundance and uncertainty from RNA.">
            <a:extLst xmlns:a="http://schemas.openxmlformats.org/drawingml/2006/main">
              <a:ext uri="{FF2B5EF4-FFF2-40B4-BE49-F238E27FC236}">
                <a16:creationId xmlns:a16="http://schemas.microsoft.com/office/drawing/2014/main" id="{2C35749F-0A25-4407-ACF3-119101B9214E}"/>
              </a:ext>
            </a:extLst>
          </p:cNvPr>
          <p:cNvSpPr>
            <a:spLocks xmlns:a="http://schemas.openxmlformats.org/drawingml/2006/main" noGrp="1"/>
          </p:cNvSpPr>
          <p:nvPr/>
        </p:nvSpPr>
        <p:spPr>
          <a:xfrm xmlns:a="http://schemas.openxmlformats.org/drawingml/2006/main">
            <a:off x="4524375" y="1590675"/>
            <a:ext cx="671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D2433"/>
                </a:solidFill>
                <a:latin typeface="IBM Plex Sans"/>
                <a:ea typeface="IBM Plex Sans"/>
                <a:cs typeface="IBM Plex Sans"/>
              </a:defRPr>
            </a:pPr>
            <a:r>
              <a:rPr sz="2025" b="0">
                <a:solidFill>
                  <a:srgbClr val="1D2433"/>
                </a:solidFill>
                <a:latin typeface="IBM Plex Sans"/>
                <a:ea typeface="IBM Plex Sans"/>
                <a:cs typeface="IBM Plex Sans"/>
              </a:rPr>
              <a:t>Predict protein abundance and uncertainty from RNA.</a:t>
            </a:r>
          </a:p>
        </p:txBody>
      </p:sp>
      <p:sp>
        <p:nvSpPr>
          <p:cNvPr id="4" name="">
            <a:extLst xmlns:a="http://schemas.openxmlformats.org/drawingml/2006/main">
              <a:ext uri="{FF2B5EF4-FFF2-40B4-BE49-F238E27FC236}">
                <a16:creationId xmlns:a16="http://schemas.microsoft.com/office/drawing/2014/main" id="{1CF20622-3B75-4640-A49B-167797CE2BE8}"/>
              </a:ext>
            </a:extLst>
          </p:cNvPr>
          <p:cNvSpPr>
            <a:spLocks xmlns:a="http://schemas.openxmlformats.org/drawingml/2006/main" noGrp="1"/>
          </p:cNvSpPr>
          <p:nvPr/>
        </p:nvSpPr>
        <p:spPr>
          <a:xfrm xmlns:a="http://schemas.openxmlformats.org/drawingml/2006/main">
            <a:off x="723900" y="2562225"/>
            <a:ext cx="10477500" cy="19050"/>
          </a:xfrm>
          <a:prstGeom xmlns:a="http://schemas.openxmlformats.org/drawingml/2006/main" prst="rect">
            <a:avLst/>
          </a:prstGeom>
          <a:solidFill xmlns:a="http://schemas.openxmlformats.org/drawingml/2006/main">
            <a:srgbClr val="D8DFEA"/>
          </a:solidFill>
          <a:ln xmlns:a="http://schemas.openxmlformats.org/drawingml/2006/main" w="0">
            <a:noFill/>
          </a:ln>
        </p:spPr>
      </p:sp>
      <p:sp>
        <p:nvSpPr>
          <p:cNvPr id="5" name="Hierarchical conformal methods">
            <a:extLst xmlns:a="http://schemas.openxmlformats.org/drawingml/2006/main">
              <a:ext uri="{FF2B5EF4-FFF2-40B4-BE49-F238E27FC236}">
                <a16:creationId xmlns:a16="http://schemas.microsoft.com/office/drawing/2014/main" id="{A7C198DC-6A6C-4B00-BC70-F4D26D5E98C9}"/>
              </a:ext>
            </a:extLst>
          </p:cNvPr>
          <p:cNvSpPr>
            <a:spLocks xmlns:a="http://schemas.openxmlformats.org/drawingml/2006/main" noGrp="1"/>
          </p:cNvSpPr>
          <p:nvPr/>
        </p:nvSpPr>
        <p:spPr>
          <a:xfrm xmlns:a="http://schemas.openxmlformats.org/drawingml/2006/main">
            <a:off x="723900" y="2790825"/>
            <a:ext cx="3667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45EFF"/>
                </a:solidFill>
                <a:latin typeface="IBM Plex Sans"/>
                <a:ea typeface="IBM Plex Sans"/>
                <a:cs typeface="IBM Plex Sans"/>
              </a:defRPr>
            </a:pPr>
            <a:r>
              <a:rPr sz="2025" b="1">
                <a:solidFill>
                  <a:srgbClr val="245EFF"/>
                </a:solidFill>
                <a:latin typeface="IBM Plex Sans"/>
                <a:ea typeface="IBM Plex Sans"/>
                <a:cs typeface="IBM Plex Sans"/>
              </a:rPr>
              <a:t>Hierarchical conformal methods</a:t>
            </a:r>
          </a:p>
        </p:txBody>
      </p:sp>
      <p:sp>
        <p:nvSpPr>
          <p:cNvPr id="6" name="Calibrate dependent observations grouped by participant.">
            <a:extLst xmlns:a="http://schemas.openxmlformats.org/drawingml/2006/main">
              <a:ext uri="{FF2B5EF4-FFF2-40B4-BE49-F238E27FC236}">
                <a16:creationId xmlns:a16="http://schemas.microsoft.com/office/drawing/2014/main" id="{C54438F6-623D-4140-B12C-8D684E7CE233}"/>
              </a:ext>
            </a:extLst>
          </p:cNvPr>
          <p:cNvSpPr>
            <a:spLocks xmlns:a="http://schemas.openxmlformats.org/drawingml/2006/main" noGrp="1"/>
          </p:cNvSpPr>
          <p:nvPr/>
        </p:nvSpPr>
        <p:spPr>
          <a:xfrm xmlns:a="http://schemas.openxmlformats.org/drawingml/2006/main">
            <a:off x="4524375" y="2790825"/>
            <a:ext cx="671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D2433"/>
                </a:solidFill>
                <a:latin typeface="IBM Plex Sans"/>
                <a:ea typeface="IBM Plex Sans"/>
                <a:cs typeface="IBM Plex Sans"/>
              </a:defRPr>
            </a:pPr>
            <a:r>
              <a:rPr sz="2025" b="0">
                <a:solidFill>
                  <a:srgbClr val="1D2433"/>
                </a:solidFill>
                <a:latin typeface="IBM Plex Sans"/>
                <a:ea typeface="IBM Plex Sans"/>
                <a:cs typeface="IBM Plex Sans"/>
              </a:rPr>
              <a:t>Calibrate dependent observations grouped by participant.</a:t>
            </a:r>
          </a:p>
        </p:txBody>
      </p:sp>
      <p:sp>
        <p:nvSpPr>
          <p:cNvPr id="7" name="">
            <a:extLst xmlns:a="http://schemas.openxmlformats.org/drawingml/2006/main">
              <a:ext uri="{FF2B5EF4-FFF2-40B4-BE49-F238E27FC236}">
                <a16:creationId xmlns:a16="http://schemas.microsoft.com/office/drawing/2014/main" id="{2731B4D8-9DBB-4DD6-8539-80BC1BD6361B}"/>
              </a:ext>
            </a:extLst>
          </p:cNvPr>
          <p:cNvSpPr>
            <a:spLocks xmlns:a="http://schemas.openxmlformats.org/drawingml/2006/main" noGrp="1"/>
          </p:cNvSpPr>
          <p:nvPr/>
        </p:nvSpPr>
        <p:spPr>
          <a:xfrm xmlns:a="http://schemas.openxmlformats.org/drawingml/2006/main">
            <a:off x="723900" y="3762375"/>
            <a:ext cx="10477500" cy="19050"/>
          </a:xfrm>
          <a:prstGeom xmlns:a="http://schemas.openxmlformats.org/drawingml/2006/main" prst="rect">
            <a:avLst/>
          </a:prstGeom>
          <a:solidFill xmlns:a="http://schemas.openxmlformats.org/drawingml/2006/main">
            <a:srgbClr val="D8DFEA"/>
          </a:solidFill>
          <a:ln xmlns:a="http://schemas.openxmlformats.org/drawingml/2006/main" w="0">
            <a:noFill/>
          </a:ln>
        </p:spPr>
      </p:sp>
      <p:sp>
        <p:nvSpPr>
          <p:cNvPr id="8" name="ProteoGuard evaluation">
            <a:extLst xmlns:a="http://schemas.openxmlformats.org/drawingml/2006/main">
              <a:ext uri="{FF2B5EF4-FFF2-40B4-BE49-F238E27FC236}">
                <a16:creationId xmlns:a16="http://schemas.microsoft.com/office/drawing/2014/main" id="{C7E58C77-4968-428F-86CD-4FE1B400FB2D}"/>
              </a:ext>
            </a:extLst>
          </p:cNvPr>
          <p:cNvSpPr>
            <a:spLocks xmlns:a="http://schemas.openxmlformats.org/drawingml/2006/main" noGrp="1"/>
          </p:cNvSpPr>
          <p:nvPr/>
        </p:nvSpPr>
        <p:spPr>
          <a:xfrm xmlns:a="http://schemas.openxmlformats.org/drawingml/2006/main">
            <a:off x="723900" y="3990975"/>
            <a:ext cx="3667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45EFF"/>
                </a:solidFill>
                <a:latin typeface="IBM Plex Sans"/>
                <a:ea typeface="IBM Plex Sans"/>
                <a:cs typeface="IBM Plex Sans"/>
              </a:defRPr>
            </a:pPr>
            <a:r>
              <a:rPr sz="2025" b="1">
                <a:solidFill>
                  <a:srgbClr val="245EFF"/>
                </a:solidFill>
                <a:latin typeface="IBM Plex Sans"/>
                <a:ea typeface="IBM Plex Sans"/>
                <a:cs typeface="IBM Plex Sans"/>
              </a:rPr>
              <a:t>ProteoGuard evaluation</a:t>
            </a:r>
          </a:p>
        </p:txBody>
      </p:sp>
      <p:sp>
        <p:nvSpPr>
          <p:cNvPr id="9" name="Test calibration, measured panels, and selective marker call">
            <a:extLst xmlns:a="http://schemas.openxmlformats.org/drawingml/2006/main">
              <a:ext uri="{FF2B5EF4-FFF2-40B4-BE49-F238E27FC236}">
                <a16:creationId xmlns:a16="http://schemas.microsoft.com/office/drawing/2014/main" id="{50737733-BB5F-4873-9418-E627C1CB79EF}"/>
              </a:ext>
            </a:extLst>
          </p:cNvPr>
          <p:cNvSpPr>
            <a:spLocks xmlns:a="http://schemas.openxmlformats.org/drawingml/2006/main" noGrp="1"/>
          </p:cNvSpPr>
          <p:nvPr/>
        </p:nvSpPr>
        <p:spPr>
          <a:xfrm xmlns:a="http://schemas.openxmlformats.org/drawingml/2006/main">
            <a:off x="4524375" y="3990975"/>
            <a:ext cx="671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D2433"/>
                </a:solidFill>
                <a:latin typeface="IBM Plex Sans"/>
                <a:ea typeface="IBM Plex Sans"/>
                <a:cs typeface="IBM Plex Sans"/>
              </a:defRPr>
            </a:pPr>
            <a:r>
              <a:rPr sz="2025" b="0">
                <a:solidFill>
                  <a:srgbClr val="1D2433"/>
                </a:solidFill>
                <a:latin typeface="IBM Plex Sans"/>
                <a:ea typeface="IBM Plex Sans"/>
                <a:cs typeface="IBM Plex Sans"/>
              </a:rPr>
              <a:t>Test calibration, measured panels, and selective marker calls together.</a:t>
            </a:r>
          </a:p>
        </p:txBody>
      </p:sp>
      <p:sp>
        <p:nvSpPr>
          <p:cNvPr id="10" name="">
            <a:extLst xmlns:a="http://schemas.openxmlformats.org/drawingml/2006/main">
              <a:ext uri="{FF2B5EF4-FFF2-40B4-BE49-F238E27FC236}">
                <a16:creationId xmlns:a16="http://schemas.microsoft.com/office/drawing/2014/main" id="{3F438C1E-CEC1-4946-B521-32A91DEEBC40}"/>
              </a:ext>
            </a:extLst>
          </p:cNvPr>
          <p:cNvSpPr>
            <a:spLocks xmlns:a="http://schemas.openxmlformats.org/drawingml/2006/main" noGrp="1"/>
          </p:cNvSpPr>
          <p:nvPr/>
        </p:nvSpPr>
        <p:spPr>
          <a:xfrm xmlns:a="http://schemas.openxmlformats.org/drawingml/2006/main">
            <a:off x="723900" y="4962525"/>
            <a:ext cx="10477500" cy="19050"/>
          </a:xfrm>
          <a:prstGeom xmlns:a="http://schemas.openxmlformats.org/drawingml/2006/main" prst="rect">
            <a:avLst/>
          </a:prstGeom>
          <a:solidFill xmlns:a="http://schemas.openxmlformats.org/drawingml/2006/main">
            <a:srgbClr val="D8DFEA"/>
          </a:solidFill>
          <a:ln xmlns:a="http://schemas.openxmlformats.org/drawingml/2006/main" w="0">
            <a:noFill/>
          </a:ln>
        </p:spPr>
      </p:sp>
      <p:sp>
        <p:nvSpPr>
          <p:cNvPr id="11" name="Biological readout: is the fraction of marker-positive cells">
            <a:extLst xmlns:a="http://schemas.openxmlformats.org/drawingml/2006/main">
              <a:ext uri="{FF2B5EF4-FFF2-40B4-BE49-F238E27FC236}">
                <a16:creationId xmlns:a16="http://schemas.microsoft.com/office/drawing/2014/main" id="{C56889BA-7645-4EC7-8FD3-C8B58FD5677B}"/>
              </a:ext>
            </a:extLst>
          </p:cNvPr>
          <p:cNvSpPr>
            <a:spLocks xmlns:a="http://schemas.openxmlformats.org/drawingml/2006/main" noGrp="1"/>
          </p:cNvSpPr>
          <p:nvPr/>
        </p:nvSpPr>
        <p:spPr>
          <a:xfrm xmlns:a="http://schemas.openxmlformats.org/drawingml/2006/main">
            <a:off x="723900" y="53625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D2433"/>
                </a:solidFill>
                <a:latin typeface="IBM Plex Sans"/>
                <a:ea typeface="IBM Plex Sans"/>
                <a:cs typeface="IBM Plex Sans"/>
              </a:defRPr>
            </a:pPr>
            <a:r>
              <a:rPr sz="2100" b="1">
                <a:solidFill>
                  <a:srgbClr val="1D2433"/>
                </a:solidFill>
                <a:latin typeface="IBM Plex Sans"/>
                <a:ea typeface="IBM Plex Sans"/>
                <a:cs typeface="IBM Plex Sans"/>
              </a:rPr>
              <a:t>Biological readout: is the fraction of marker-positive cells high or low relative to the reference cohort?</a:t>
            </a:r>
          </a:p>
        </p:txBody>
      </p:sp>
      <p:sp>
        <p:nvSpPr>
          <p:cNvPr id="12" name="Gayoso 2021; Lakkis 2022; Dunn et al.; Lee, Barber &amp; Willett">
            <a:extLst xmlns:a="http://schemas.openxmlformats.org/drawingml/2006/main">
              <a:ext uri="{FF2B5EF4-FFF2-40B4-BE49-F238E27FC236}">
                <a16:creationId xmlns:a16="http://schemas.microsoft.com/office/drawing/2014/main" id="{75F12D4B-C830-41A5-81BA-30BCF4B42023}"/>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Gayoso 2021; Lakkis 2022; Dunn et al.; Lee, Barber &amp; Willett</a:t>
            </a:r>
          </a:p>
        </p:txBody>
      </p:sp>
      <p:sp>
        <p:nvSpPr>
          <p:cNvPr id="13" name="2 / 9">
            <a:extLst xmlns:a="http://schemas.openxmlformats.org/drawingml/2006/main">
              <a:ext uri="{FF2B5EF4-FFF2-40B4-BE49-F238E27FC236}">
                <a16:creationId xmlns:a16="http://schemas.microsoft.com/office/drawing/2014/main" id="{5CF89F9A-FC7E-4A4F-B4BA-E6D1FC8FA538}"/>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2 / 9</a:t>
            </a:r>
          </a:p>
        </p:txBody>
      </p:sp>
    </p:spTree>
    <p:extLst>
      <p:ext uri="{BB962C8B-B14F-4D97-AF65-F5344CB8AC3E}">
        <p14:creationId xmlns:p14="http://schemas.microsoft.com/office/powerpoint/2010/main" val="1792544807"/>
      </p:ext>
    </p:extLst>
  </p:cSld>
</p:sld>
</file>

<file path=ppt/slides/slide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6" name="Separate participants for every stage">
            <a:extLst xmlns:a="http://schemas.openxmlformats.org/drawingml/2006/main">
              <a:ext uri="{FF2B5EF4-FFF2-40B4-BE49-F238E27FC236}">
                <a16:creationId xmlns:a16="http://schemas.microsoft.com/office/drawing/2014/main" id="{9123A8A7-359A-4929-97B1-07B61664D403}"/>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D2433"/>
                </a:solidFill>
                <a:latin typeface="IBM Plex Sans"/>
                <a:ea typeface="IBM Plex Sans"/>
                <a:cs typeface="IBM Plex Sans"/>
              </a:defRPr>
            </a:pPr>
            <a:r>
              <a:rPr sz="3000" b="1">
                <a:solidFill>
                  <a:srgbClr val="1D2433"/>
                </a:solidFill>
                <a:latin typeface="IBM Plex Sans"/>
                <a:ea typeface="IBM Plex Sans"/>
                <a:cs typeface="IBM Plex Sans"/>
              </a:rPr>
              <a:t>Separate participants for every stage</a:t>
            </a:r>
          </a:p>
        </p:txBody>
      </p:sp>
      <p:sp>
        <p:nvSpPr>
          <p:cNvPr id="2" name="Stephenson: 118 participants, 192 ADTs">
            <a:extLst xmlns:a="http://schemas.openxmlformats.org/drawingml/2006/main">
              <a:ext uri="{FF2B5EF4-FFF2-40B4-BE49-F238E27FC236}">
                <a16:creationId xmlns:a16="http://schemas.microsoft.com/office/drawing/2014/main" id="{760F066E-72D2-446E-9292-D3704582F3D8}"/>
              </a:ext>
            </a:extLst>
          </p:cNvPr>
          <p:cNvSpPr>
            <a:spLocks xmlns:a="http://schemas.openxmlformats.org/drawingml/2006/main" noGrp="1"/>
          </p:cNvSpPr>
          <p:nvPr/>
        </p:nvSpPr>
        <p:spPr>
          <a:xfrm xmlns:a="http://schemas.openxmlformats.org/drawingml/2006/main">
            <a:off x="723900" y="13811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45EFF"/>
                </a:solidFill>
                <a:latin typeface="IBM Plex Sans"/>
                <a:ea typeface="IBM Plex Sans"/>
                <a:cs typeface="IBM Plex Sans"/>
              </a:defRPr>
            </a:pPr>
            <a:r>
              <a:rPr sz="2250" b="1">
                <a:solidFill>
                  <a:srgbClr val="245EFF"/>
                </a:solidFill>
                <a:latin typeface="IBM Plex Sans"/>
                <a:ea typeface="IBM Plex Sans"/>
                <a:cs typeface="IBM Plex Sans"/>
              </a:rPr>
              <a:t>Stephenson: 118 participants, 192 ADTs</a:t>
            </a:r>
          </a:p>
        </p:txBody>
      </p:sp>
      <p:sp>
        <p:nvSpPr>
          <p:cNvPr id="3" name="">
            <a:extLst xmlns:a="http://schemas.openxmlformats.org/drawingml/2006/main">
              <a:ext uri="{FF2B5EF4-FFF2-40B4-BE49-F238E27FC236}">
                <a16:creationId xmlns:a16="http://schemas.microsoft.com/office/drawing/2014/main" id="{6005EAB3-7D36-4447-BDC2-B280EA367206}"/>
              </a:ext>
            </a:extLst>
          </p:cNvPr>
          <p:cNvSpPr>
            <a:spLocks xmlns:a="http://schemas.openxmlformats.org/drawingml/2006/main" noGrp="1"/>
          </p:cNvSpPr>
          <p:nvPr/>
        </p:nvSpPr>
        <p:spPr>
          <a:xfrm xmlns:a="http://schemas.openxmlformats.org/drawingml/2006/main">
            <a:off x="723900" y="2095500"/>
            <a:ext cx="2476500" cy="2762250"/>
          </a:xfrm>
          <a:prstGeom xmlns:a="http://schemas.openxmlformats.org/drawingml/2006/main" prst="roundRect">
            <a:avLst>
              <a:gd name="adj" fmla="val 4615"/>
            </a:avLst>
          </a:prstGeom>
          <a:solidFill xmlns:a="http://schemas.openxmlformats.org/drawingml/2006/main">
            <a:srgbClr val="EDF2FF"/>
          </a:solidFill>
          <a:ln xmlns:a="http://schemas.openxmlformats.org/drawingml/2006/main" w="7620">
            <a:solidFill>
              <a:srgbClr val="D8DFEA"/>
            </a:solidFill>
          </a:ln>
        </p:spPr>
      </p:sp>
      <p:sp>
        <p:nvSpPr>
          <p:cNvPr id="4" name="59">
            <a:extLst xmlns:a="http://schemas.openxmlformats.org/drawingml/2006/main">
              <a:ext uri="{FF2B5EF4-FFF2-40B4-BE49-F238E27FC236}">
                <a16:creationId xmlns:a16="http://schemas.microsoft.com/office/drawing/2014/main" id="{4431A423-F21F-4AE3-A1C5-8574210A0572}"/>
              </a:ext>
            </a:extLst>
          </p:cNvPr>
          <p:cNvSpPr>
            <a:spLocks xmlns:a="http://schemas.openxmlformats.org/drawingml/2006/main" noGrp="1"/>
          </p:cNvSpPr>
          <p:nvPr/>
        </p:nvSpPr>
        <p:spPr>
          <a:xfrm xmlns:a="http://schemas.openxmlformats.org/drawingml/2006/main">
            <a:off x="895350" y="2276475"/>
            <a:ext cx="209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1">
                <a:solidFill>
                  <a:srgbClr val="245EFF"/>
                </a:solidFill>
                <a:latin typeface="IBM Plex Sans"/>
                <a:ea typeface="IBM Plex Sans"/>
                <a:cs typeface="IBM Plex Sans"/>
              </a:defRPr>
            </a:pPr>
            <a:r>
              <a:rPr sz="4050" b="1">
                <a:solidFill>
                  <a:srgbClr val="245EFF"/>
                </a:solidFill>
                <a:latin typeface="IBM Plex Sans"/>
                <a:ea typeface="IBM Plex Sans"/>
                <a:cs typeface="IBM Plex Sans"/>
              </a:rPr>
              <a:t>59</a:t>
            </a:r>
          </a:p>
        </p:txBody>
      </p:sp>
      <p:sp>
        <p:nvSpPr>
          <p:cNvPr id="5" name="TRAIN">
            <a:extLst xmlns:a="http://schemas.openxmlformats.org/drawingml/2006/main">
              <a:ext uri="{FF2B5EF4-FFF2-40B4-BE49-F238E27FC236}">
                <a16:creationId xmlns:a16="http://schemas.microsoft.com/office/drawing/2014/main" id="{D86EE5ED-B18A-4BF5-8570-4A0B1EB7342C}"/>
              </a:ext>
            </a:extLst>
          </p:cNvPr>
          <p:cNvSpPr>
            <a:spLocks xmlns:a="http://schemas.openxmlformats.org/drawingml/2006/main" noGrp="1"/>
          </p:cNvSpPr>
          <p:nvPr/>
        </p:nvSpPr>
        <p:spPr>
          <a:xfrm xmlns:a="http://schemas.openxmlformats.org/drawingml/2006/main">
            <a:off x="895350" y="3009900"/>
            <a:ext cx="2124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D2433"/>
                </a:solidFill>
                <a:latin typeface="IBM Plex Sans"/>
                <a:ea typeface="IBM Plex Sans"/>
                <a:cs typeface="IBM Plex Sans"/>
              </a:defRPr>
            </a:pPr>
            <a:r>
              <a:rPr sz="1650" b="1">
                <a:solidFill>
                  <a:srgbClr val="1D2433"/>
                </a:solidFill>
                <a:latin typeface="IBM Plex Sans"/>
                <a:ea typeface="IBM Plex Sans"/>
                <a:cs typeface="IBM Plex Sans"/>
              </a:rPr>
              <a:t>TRAIN</a:t>
            </a:r>
          </a:p>
        </p:txBody>
      </p:sp>
      <p:sp>
        <p:nvSpPr>
          <p:cNvPr id="6" name="RNA + full proteins&#10;Fit base predictor">
            <a:extLst xmlns:a="http://schemas.openxmlformats.org/drawingml/2006/main">
              <a:ext uri="{FF2B5EF4-FFF2-40B4-BE49-F238E27FC236}">
                <a16:creationId xmlns:a16="http://schemas.microsoft.com/office/drawing/2014/main" id="{E60A9798-66B2-44A2-8E09-A458B2B99DDC}"/>
              </a:ext>
            </a:extLst>
          </p:cNvPr>
          <p:cNvSpPr>
            <a:spLocks xmlns:a="http://schemas.openxmlformats.org/drawingml/2006/main" noGrp="1"/>
          </p:cNvSpPr>
          <p:nvPr/>
        </p:nvSpPr>
        <p:spPr>
          <a:xfrm xmlns:a="http://schemas.openxmlformats.org/drawingml/2006/main">
            <a:off x="895350" y="3514725"/>
            <a:ext cx="2143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D2433"/>
                </a:solidFill>
                <a:latin typeface="IBM Plex Sans"/>
                <a:ea typeface="IBM Plex Sans"/>
                <a:cs typeface="IBM Plex Sans"/>
              </a:defRPr>
            </a:pPr>
            <a:r>
              <a:rPr sz="1725" b="0">
                <a:solidFill>
                  <a:srgbClr val="1D2433"/>
                </a:solidFill>
                <a:latin typeface="IBM Plex Sans"/>
                <a:ea typeface="IBM Plex Sans"/>
                <a:cs typeface="IBM Plex Sans"/>
              </a:rPr>
              <a:t>RNA + full proteins</a:t>
            </a:r>
          </a:p>
          <a:p xmlns:a="http://schemas.openxmlformats.org/drawingml/2006/main">
            <a:pPr algn="l">
              <a:defRPr sz="1725" b="0">
                <a:solidFill>
                  <a:srgbClr val="1D2433"/>
                </a:solidFill>
                <a:latin typeface="IBM Plex Sans"/>
                <a:ea typeface="IBM Plex Sans"/>
                <a:cs typeface="IBM Plex Sans"/>
              </a:defRPr>
            </a:pPr>
            <a:r>
              <a:rPr sz="1725" b="0">
                <a:solidFill>
                  <a:srgbClr val="1D2433"/>
                </a:solidFill>
                <a:latin typeface="IBM Plex Sans"/>
                <a:ea typeface="IBM Plex Sans"/>
                <a:cs typeface="IBM Plex Sans"/>
              </a:rPr>
              <a:t>Fit base predictor</a:t>
            </a:r>
          </a:p>
        </p:txBody>
      </p:sp>
      <p:sp>
        <p:nvSpPr>
          <p:cNvPr id="7" name="">
            <a:extLst xmlns:a="http://schemas.openxmlformats.org/drawingml/2006/main">
              <a:ext uri="{FF2B5EF4-FFF2-40B4-BE49-F238E27FC236}">
                <a16:creationId xmlns:a16="http://schemas.microsoft.com/office/drawing/2014/main" id="{FEEA98D5-6D61-4AAD-AAAD-1FC772845BD1}"/>
              </a:ext>
            </a:extLst>
          </p:cNvPr>
          <p:cNvSpPr>
            <a:spLocks xmlns:a="http://schemas.openxmlformats.org/drawingml/2006/main" noGrp="1"/>
          </p:cNvSpPr>
          <p:nvPr/>
        </p:nvSpPr>
        <p:spPr>
          <a:xfrm xmlns:a="http://schemas.openxmlformats.org/drawingml/2006/main">
            <a:off x="3257550" y="2667000"/>
            <a:ext cx="142875" cy="142875"/>
          </a:xfrm>
          <a:prstGeom xmlns:a="http://schemas.openxmlformats.org/drawingml/2006/main" prst="rightArrow">
            <a:avLst/>
          </a:prstGeom>
          <a:solidFill xmlns:a="http://schemas.openxmlformats.org/drawingml/2006/main">
            <a:srgbClr val="5361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51570BF-FD26-46D1-AAF8-ED8FB64A0856}"/>
              </a:ext>
            </a:extLst>
          </p:cNvPr>
          <p:cNvSpPr>
            <a:spLocks xmlns:a="http://schemas.openxmlformats.org/drawingml/2006/main" noGrp="1"/>
          </p:cNvSpPr>
          <p:nvPr/>
        </p:nvSpPr>
        <p:spPr>
          <a:xfrm xmlns:a="http://schemas.openxmlformats.org/drawingml/2006/main">
            <a:off x="3438525" y="2095500"/>
            <a:ext cx="2476500" cy="2762250"/>
          </a:xfrm>
          <a:prstGeom xmlns:a="http://schemas.openxmlformats.org/drawingml/2006/main" prst="roundRect">
            <a:avLst>
              <a:gd name="adj" fmla="val 4615"/>
            </a:avLst>
          </a:prstGeom>
          <a:solidFill xmlns:a="http://schemas.openxmlformats.org/drawingml/2006/main">
            <a:srgbClr val="EDF2FF"/>
          </a:solidFill>
          <a:ln xmlns:a="http://schemas.openxmlformats.org/drawingml/2006/main" w="7620">
            <a:solidFill>
              <a:srgbClr val="D8DFEA"/>
            </a:solidFill>
          </a:ln>
        </p:spPr>
      </p:sp>
      <p:sp>
        <p:nvSpPr>
          <p:cNvPr id="9" name="20">
            <a:extLst xmlns:a="http://schemas.openxmlformats.org/drawingml/2006/main">
              <a:ext uri="{FF2B5EF4-FFF2-40B4-BE49-F238E27FC236}">
                <a16:creationId xmlns:a16="http://schemas.microsoft.com/office/drawing/2014/main" id="{BFAABCE4-CBAF-4BB0-8D75-147571DA8F55}"/>
              </a:ext>
            </a:extLst>
          </p:cNvPr>
          <p:cNvSpPr>
            <a:spLocks xmlns:a="http://schemas.openxmlformats.org/drawingml/2006/main" noGrp="1"/>
          </p:cNvSpPr>
          <p:nvPr/>
        </p:nvSpPr>
        <p:spPr>
          <a:xfrm xmlns:a="http://schemas.openxmlformats.org/drawingml/2006/main">
            <a:off x="3609975" y="2276475"/>
            <a:ext cx="209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1">
                <a:solidFill>
                  <a:srgbClr val="245EFF"/>
                </a:solidFill>
                <a:latin typeface="IBM Plex Sans"/>
                <a:ea typeface="IBM Plex Sans"/>
                <a:cs typeface="IBM Plex Sans"/>
              </a:defRPr>
            </a:pPr>
            <a:r>
              <a:rPr sz="4050" b="1">
                <a:solidFill>
                  <a:srgbClr val="245EFF"/>
                </a:solidFill>
                <a:latin typeface="IBM Plex Sans"/>
                <a:ea typeface="IBM Plex Sans"/>
                <a:cs typeface="IBM Plex Sans"/>
              </a:rPr>
              <a:t>20</a:t>
            </a:r>
          </a:p>
        </p:txBody>
      </p:sp>
      <p:sp>
        <p:nvSpPr>
          <p:cNvPr id="10" name="DESIGN">
            <a:extLst xmlns:a="http://schemas.openxmlformats.org/drawingml/2006/main">
              <a:ext uri="{FF2B5EF4-FFF2-40B4-BE49-F238E27FC236}">
                <a16:creationId xmlns:a16="http://schemas.microsoft.com/office/drawing/2014/main" id="{B8AF2FE6-3F4E-4813-A4B3-BA551617C761}"/>
              </a:ext>
            </a:extLst>
          </p:cNvPr>
          <p:cNvSpPr>
            <a:spLocks xmlns:a="http://schemas.openxmlformats.org/drawingml/2006/main" noGrp="1"/>
          </p:cNvSpPr>
          <p:nvPr/>
        </p:nvSpPr>
        <p:spPr>
          <a:xfrm xmlns:a="http://schemas.openxmlformats.org/drawingml/2006/main">
            <a:off x="3609975" y="3009900"/>
            <a:ext cx="2124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D2433"/>
                </a:solidFill>
                <a:latin typeface="IBM Plex Sans"/>
                <a:ea typeface="IBM Plex Sans"/>
                <a:cs typeface="IBM Plex Sans"/>
              </a:defRPr>
            </a:pPr>
            <a:r>
              <a:rPr sz="1650" b="1">
                <a:solidFill>
                  <a:srgbClr val="1D2433"/>
                </a:solidFill>
                <a:latin typeface="IBM Plex Sans"/>
                <a:ea typeface="IBM Plex Sans"/>
                <a:cs typeface="IBM Plex Sans"/>
              </a:rPr>
              <a:t>DESIGN</a:t>
            </a:r>
          </a:p>
        </p:txBody>
      </p:sp>
      <p:sp>
        <p:nvSpPr>
          <p:cNvPr id="11" name="Full measurements&#10;Select anchors and thresholds">
            <a:extLst xmlns:a="http://schemas.openxmlformats.org/drawingml/2006/main">
              <a:ext uri="{FF2B5EF4-FFF2-40B4-BE49-F238E27FC236}">
                <a16:creationId xmlns:a16="http://schemas.microsoft.com/office/drawing/2014/main" id="{D64781C4-8B56-41FA-A444-A39E22577C7D}"/>
              </a:ext>
            </a:extLst>
          </p:cNvPr>
          <p:cNvSpPr>
            <a:spLocks xmlns:a="http://schemas.openxmlformats.org/drawingml/2006/main" noGrp="1"/>
          </p:cNvSpPr>
          <p:nvPr/>
        </p:nvSpPr>
        <p:spPr>
          <a:xfrm xmlns:a="http://schemas.openxmlformats.org/drawingml/2006/main">
            <a:off x="3609975" y="3514725"/>
            <a:ext cx="2143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D2433"/>
                </a:solidFill>
                <a:latin typeface="IBM Plex Sans"/>
                <a:ea typeface="IBM Plex Sans"/>
                <a:cs typeface="IBM Plex Sans"/>
              </a:defRPr>
            </a:pPr>
            <a:r>
              <a:rPr sz="1725" b="0">
                <a:solidFill>
                  <a:srgbClr val="1D2433"/>
                </a:solidFill>
                <a:latin typeface="IBM Plex Sans"/>
                <a:ea typeface="IBM Plex Sans"/>
                <a:cs typeface="IBM Plex Sans"/>
              </a:rPr>
              <a:t>Full measurements</a:t>
            </a:r>
          </a:p>
          <a:p xmlns:a="http://schemas.openxmlformats.org/drawingml/2006/main">
            <a:pPr algn="l">
              <a:defRPr sz="1725" b="0">
                <a:solidFill>
                  <a:srgbClr val="1D2433"/>
                </a:solidFill>
                <a:latin typeface="IBM Plex Sans"/>
                <a:ea typeface="IBM Plex Sans"/>
                <a:cs typeface="IBM Plex Sans"/>
              </a:defRPr>
            </a:pPr>
            <a:r>
              <a:rPr sz="1725" b="0">
                <a:solidFill>
                  <a:srgbClr val="1D2433"/>
                </a:solidFill>
                <a:latin typeface="IBM Plex Sans"/>
                <a:ea typeface="IBM Plex Sans"/>
                <a:cs typeface="IBM Plex Sans"/>
              </a:rPr>
              <a:t>Select anchors and thresholds</a:t>
            </a:r>
          </a:p>
        </p:txBody>
      </p:sp>
      <p:sp>
        <p:nvSpPr>
          <p:cNvPr id="12" name="">
            <a:extLst xmlns:a="http://schemas.openxmlformats.org/drawingml/2006/main">
              <a:ext uri="{FF2B5EF4-FFF2-40B4-BE49-F238E27FC236}">
                <a16:creationId xmlns:a16="http://schemas.microsoft.com/office/drawing/2014/main" id="{F4A3A166-DDC3-4BDA-B39B-DFA358492C33}"/>
              </a:ext>
            </a:extLst>
          </p:cNvPr>
          <p:cNvSpPr>
            <a:spLocks xmlns:a="http://schemas.openxmlformats.org/drawingml/2006/main" noGrp="1"/>
          </p:cNvSpPr>
          <p:nvPr/>
        </p:nvSpPr>
        <p:spPr>
          <a:xfrm xmlns:a="http://schemas.openxmlformats.org/drawingml/2006/main">
            <a:off x="5972175" y="2667000"/>
            <a:ext cx="142875" cy="142875"/>
          </a:xfrm>
          <a:prstGeom xmlns:a="http://schemas.openxmlformats.org/drawingml/2006/main" prst="rightArrow">
            <a:avLst/>
          </a:prstGeom>
          <a:solidFill xmlns:a="http://schemas.openxmlformats.org/drawingml/2006/main">
            <a:srgbClr val="5361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2FEF6E0-47DF-4226-9C8C-F37CA5559666}"/>
              </a:ext>
            </a:extLst>
          </p:cNvPr>
          <p:cNvSpPr>
            <a:spLocks xmlns:a="http://schemas.openxmlformats.org/drawingml/2006/main" noGrp="1"/>
          </p:cNvSpPr>
          <p:nvPr/>
        </p:nvSpPr>
        <p:spPr>
          <a:xfrm xmlns:a="http://schemas.openxmlformats.org/drawingml/2006/main">
            <a:off x="6153150" y="2095500"/>
            <a:ext cx="2476500" cy="2762250"/>
          </a:xfrm>
          <a:prstGeom xmlns:a="http://schemas.openxmlformats.org/drawingml/2006/main" prst="roundRect">
            <a:avLst>
              <a:gd name="adj" fmla="val 4615"/>
            </a:avLst>
          </a:prstGeom>
          <a:solidFill xmlns:a="http://schemas.openxmlformats.org/drawingml/2006/main">
            <a:srgbClr val="EDF2FF"/>
          </a:solidFill>
          <a:ln xmlns:a="http://schemas.openxmlformats.org/drawingml/2006/main" w="7620">
            <a:solidFill>
              <a:srgbClr val="D8DFEA"/>
            </a:solidFill>
          </a:ln>
        </p:spPr>
      </p:sp>
      <p:sp>
        <p:nvSpPr>
          <p:cNvPr id="14" name="15">
            <a:extLst xmlns:a="http://schemas.openxmlformats.org/drawingml/2006/main">
              <a:ext uri="{FF2B5EF4-FFF2-40B4-BE49-F238E27FC236}">
                <a16:creationId xmlns:a16="http://schemas.microsoft.com/office/drawing/2014/main" id="{22C09CEB-D2D1-4A8D-A5A6-AB1CF3DE6547}"/>
              </a:ext>
            </a:extLst>
          </p:cNvPr>
          <p:cNvSpPr>
            <a:spLocks xmlns:a="http://schemas.openxmlformats.org/drawingml/2006/main" noGrp="1"/>
          </p:cNvSpPr>
          <p:nvPr/>
        </p:nvSpPr>
        <p:spPr>
          <a:xfrm xmlns:a="http://schemas.openxmlformats.org/drawingml/2006/main">
            <a:off x="6324600" y="2276475"/>
            <a:ext cx="209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1">
                <a:solidFill>
                  <a:srgbClr val="245EFF"/>
                </a:solidFill>
                <a:latin typeface="IBM Plex Sans"/>
                <a:ea typeface="IBM Plex Sans"/>
                <a:cs typeface="IBM Plex Sans"/>
              </a:defRPr>
            </a:pPr>
            <a:r>
              <a:rPr sz="4050" b="1">
                <a:solidFill>
                  <a:srgbClr val="245EFF"/>
                </a:solidFill>
                <a:latin typeface="IBM Plex Sans"/>
                <a:ea typeface="IBM Plex Sans"/>
                <a:cs typeface="IBM Plex Sans"/>
              </a:rPr>
              <a:t>15</a:t>
            </a:r>
          </a:p>
        </p:txBody>
      </p:sp>
      <p:sp>
        <p:nvSpPr>
          <p:cNvPr id="15" name="CALIBRATE">
            <a:extLst xmlns:a="http://schemas.openxmlformats.org/drawingml/2006/main">
              <a:ext uri="{FF2B5EF4-FFF2-40B4-BE49-F238E27FC236}">
                <a16:creationId xmlns:a16="http://schemas.microsoft.com/office/drawing/2014/main" id="{2321DB38-8FE8-4DA4-8B2A-AC97926D61AF}"/>
              </a:ext>
            </a:extLst>
          </p:cNvPr>
          <p:cNvSpPr>
            <a:spLocks xmlns:a="http://schemas.openxmlformats.org/drawingml/2006/main" noGrp="1"/>
          </p:cNvSpPr>
          <p:nvPr/>
        </p:nvSpPr>
        <p:spPr>
          <a:xfrm xmlns:a="http://schemas.openxmlformats.org/drawingml/2006/main">
            <a:off x="6324600" y="3009900"/>
            <a:ext cx="2124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D2433"/>
                </a:solidFill>
                <a:latin typeface="IBM Plex Sans"/>
                <a:ea typeface="IBM Plex Sans"/>
                <a:cs typeface="IBM Plex Sans"/>
              </a:defRPr>
            </a:pPr>
            <a:r>
              <a:rPr sz="1650" b="1">
                <a:solidFill>
                  <a:srgbClr val="1D2433"/>
                </a:solidFill>
                <a:latin typeface="IBM Plex Sans"/>
                <a:ea typeface="IBM Plex Sans"/>
                <a:cs typeface="IBM Plex Sans"/>
              </a:rPr>
              <a:t>CALIBRATE</a:t>
            </a:r>
          </a:p>
        </p:txBody>
      </p:sp>
      <p:sp>
        <p:nvSpPr>
          <p:cNvPr id="16" name="Full target proteins&#10;Set interval adjustment">
            <a:extLst xmlns:a="http://schemas.openxmlformats.org/drawingml/2006/main">
              <a:ext uri="{FF2B5EF4-FFF2-40B4-BE49-F238E27FC236}">
                <a16:creationId xmlns:a16="http://schemas.microsoft.com/office/drawing/2014/main" id="{F84BF6BF-8129-4728-AF56-55C7D02DECD1}"/>
              </a:ext>
            </a:extLst>
          </p:cNvPr>
          <p:cNvSpPr>
            <a:spLocks xmlns:a="http://schemas.openxmlformats.org/drawingml/2006/main" noGrp="1"/>
          </p:cNvSpPr>
          <p:nvPr/>
        </p:nvSpPr>
        <p:spPr>
          <a:xfrm xmlns:a="http://schemas.openxmlformats.org/drawingml/2006/main">
            <a:off x="6324600" y="3514725"/>
            <a:ext cx="2143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D2433"/>
                </a:solidFill>
                <a:latin typeface="IBM Plex Sans"/>
                <a:ea typeface="IBM Plex Sans"/>
                <a:cs typeface="IBM Plex Sans"/>
              </a:defRPr>
            </a:pPr>
            <a:r>
              <a:rPr sz="1725" b="0">
                <a:solidFill>
                  <a:srgbClr val="1D2433"/>
                </a:solidFill>
                <a:latin typeface="IBM Plex Sans"/>
                <a:ea typeface="IBM Plex Sans"/>
                <a:cs typeface="IBM Plex Sans"/>
              </a:rPr>
              <a:t>Full target proteins</a:t>
            </a:r>
          </a:p>
          <a:p xmlns:a="http://schemas.openxmlformats.org/drawingml/2006/main">
            <a:pPr algn="l">
              <a:defRPr sz="1725" b="0">
                <a:solidFill>
                  <a:srgbClr val="1D2433"/>
                </a:solidFill>
                <a:latin typeface="IBM Plex Sans"/>
                <a:ea typeface="IBM Plex Sans"/>
                <a:cs typeface="IBM Plex Sans"/>
              </a:defRPr>
            </a:pPr>
            <a:r>
              <a:rPr sz="1725" b="0">
                <a:solidFill>
                  <a:srgbClr val="1D2433"/>
                </a:solidFill>
                <a:latin typeface="IBM Plex Sans"/>
                <a:ea typeface="IBM Plex Sans"/>
                <a:cs typeface="IBM Plex Sans"/>
              </a:rPr>
              <a:t>Set interval adjustment</a:t>
            </a:r>
          </a:p>
        </p:txBody>
      </p:sp>
      <p:sp>
        <p:nvSpPr>
          <p:cNvPr id="17" name="">
            <a:extLst xmlns:a="http://schemas.openxmlformats.org/drawingml/2006/main">
              <a:ext uri="{FF2B5EF4-FFF2-40B4-BE49-F238E27FC236}">
                <a16:creationId xmlns:a16="http://schemas.microsoft.com/office/drawing/2014/main" id="{5A5CD230-3250-40AF-8DF5-DD33945963A6}"/>
              </a:ext>
            </a:extLst>
          </p:cNvPr>
          <p:cNvSpPr>
            <a:spLocks xmlns:a="http://schemas.openxmlformats.org/drawingml/2006/main" noGrp="1"/>
          </p:cNvSpPr>
          <p:nvPr/>
        </p:nvSpPr>
        <p:spPr>
          <a:xfrm xmlns:a="http://schemas.openxmlformats.org/drawingml/2006/main">
            <a:off x="8686800" y="2667000"/>
            <a:ext cx="142875" cy="142875"/>
          </a:xfrm>
          <a:prstGeom xmlns:a="http://schemas.openxmlformats.org/drawingml/2006/main" prst="rightArrow">
            <a:avLst/>
          </a:prstGeom>
          <a:solidFill xmlns:a="http://schemas.openxmlformats.org/drawingml/2006/main">
            <a:srgbClr val="5361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5B3F7FF-F035-4E25-B345-C0E9CC443C5B}"/>
              </a:ext>
            </a:extLst>
          </p:cNvPr>
          <p:cNvSpPr>
            <a:spLocks xmlns:a="http://schemas.openxmlformats.org/drawingml/2006/main" noGrp="1"/>
          </p:cNvSpPr>
          <p:nvPr/>
        </p:nvSpPr>
        <p:spPr>
          <a:xfrm xmlns:a="http://schemas.openxmlformats.org/drawingml/2006/main">
            <a:off x="8867775" y="2095500"/>
            <a:ext cx="2476500" cy="2762250"/>
          </a:xfrm>
          <a:prstGeom xmlns:a="http://schemas.openxmlformats.org/drawingml/2006/main" prst="roundRect">
            <a:avLst>
              <a:gd name="adj" fmla="val 4615"/>
            </a:avLst>
          </a:prstGeom>
          <a:solidFill xmlns:a="http://schemas.openxmlformats.org/drawingml/2006/main">
            <a:srgbClr val="E8F5EF"/>
          </a:solidFill>
          <a:ln xmlns:a="http://schemas.openxmlformats.org/drawingml/2006/main" w="7620">
            <a:solidFill>
              <a:srgbClr val="D8DFEA"/>
            </a:solidFill>
          </a:ln>
        </p:spPr>
      </p:sp>
      <p:sp>
        <p:nvSpPr>
          <p:cNvPr id="19" name="20">
            <a:extLst xmlns:a="http://schemas.openxmlformats.org/drawingml/2006/main">
              <a:ext uri="{FF2B5EF4-FFF2-40B4-BE49-F238E27FC236}">
                <a16:creationId xmlns:a16="http://schemas.microsoft.com/office/drawing/2014/main" id="{0AA7B2A5-2BD7-4794-8C05-B5F54454C431}"/>
              </a:ext>
            </a:extLst>
          </p:cNvPr>
          <p:cNvSpPr>
            <a:spLocks xmlns:a="http://schemas.openxmlformats.org/drawingml/2006/main" noGrp="1"/>
          </p:cNvSpPr>
          <p:nvPr/>
        </p:nvSpPr>
        <p:spPr>
          <a:xfrm xmlns:a="http://schemas.openxmlformats.org/drawingml/2006/main">
            <a:off x="9039225" y="2276475"/>
            <a:ext cx="2095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1">
                <a:solidFill>
                  <a:srgbClr val="245EFF"/>
                </a:solidFill>
                <a:latin typeface="IBM Plex Sans"/>
                <a:ea typeface="IBM Plex Sans"/>
                <a:cs typeface="IBM Plex Sans"/>
              </a:defRPr>
            </a:pPr>
            <a:r>
              <a:rPr sz="4050" b="1">
                <a:solidFill>
                  <a:srgbClr val="245EFF"/>
                </a:solidFill>
                <a:latin typeface="IBM Plex Sans"/>
                <a:ea typeface="IBM Plex Sans"/>
                <a:cs typeface="IBM Plex Sans"/>
              </a:rPr>
              <a:t>20</a:t>
            </a:r>
          </a:p>
        </p:txBody>
      </p:sp>
      <p:sp>
        <p:nvSpPr>
          <p:cNvPr id="20" name="TEST">
            <a:extLst xmlns:a="http://schemas.openxmlformats.org/drawingml/2006/main">
              <a:ext uri="{FF2B5EF4-FFF2-40B4-BE49-F238E27FC236}">
                <a16:creationId xmlns:a16="http://schemas.microsoft.com/office/drawing/2014/main" id="{E2D0EE45-B001-465B-B48E-F4CA485EACB9}"/>
              </a:ext>
            </a:extLst>
          </p:cNvPr>
          <p:cNvSpPr>
            <a:spLocks xmlns:a="http://schemas.openxmlformats.org/drawingml/2006/main" noGrp="1"/>
          </p:cNvSpPr>
          <p:nvPr/>
        </p:nvSpPr>
        <p:spPr>
          <a:xfrm xmlns:a="http://schemas.openxmlformats.org/drawingml/2006/main">
            <a:off x="9039225" y="3009900"/>
            <a:ext cx="2124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D2433"/>
                </a:solidFill>
                <a:latin typeface="IBM Plex Sans"/>
                <a:ea typeface="IBM Plex Sans"/>
                <a:cs typeface="IBM Plex Sans"/>
              </a:defRPr>
            </a:pPr>
            <a:r>
              <a:rPr sz="1650" b="1">
                <a:solidFill>
                  <a:srgbClr val="1D2433"/>
                </a:solidFill>
                <a:latin typeface="IBM Plex Sans"/>
                <a:ea typeface="IBM Plex Sans"/>
                <a:cs typeface="IBM Plex Sans"/>
              </a:rPr>
              <a:t>TEST</a:t>
            </a:r>
          </a:p>
        </p:txBody>
      </p:sp>
      <p:sp>
        <p:nvSpPr>
          <p:cNvPr id="21" name="RNA + anchors only&#10;Hidden targets for scoring">
            <a:extLst xmlns:a="http://schemas.openxmlformats.org/drawingml/2006/main">
              <a:ext uri="{FF2B5EF4-FFF2-40B4-BE49-F238E27FC236}">
                <a16:creationId xmlns:a16="http://schemas.microsoft.com/office/drawing/2014/main" id="{916BE4D4-47AB-4AD8-8F08-D50143100142}"/>
              </a:ext>
            </a:extLst>
          </p:cNvPr>
          <p:cNvSpPr>
            <a:spLocks xmlns:a="http://schemas.openxmlformats.org/drawingml/2006/main" noGrp="1"/>
          </p:cNvSpPr>
          <p:nvPr/>
        </p:nvSpPr>
        <p:spPr>
          <a:xfrm xmlns:a="http://schemas.openxmlformats.org/drawingml/2006/main">
            <a:off x="9039225" y="3514725"/>
            <a:ext cx="2143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D2433"/>
                </a:solidFill>
                <a:latin typeface="IBM Plex Sans"/>
                <a:ea typeface="IBM Plex Sans"/>
                <a:cs typeface="IBM Plex Sans"/>
              </a:defRPr>
            </a:pPr>
            <a:r>
              <a:rPr sz="1725" b="0">
                <a:solidFill>
                  <a:srgbClr val="1D2433"/>
                </a:solidFill>
                <a:latin typeface="IBM Plex Sans"/>
                <a:ea typeface="IBM Plex Sans"/>
                <a:cs typeface="IBM Plex Sans"/>
              </a:rPr>
              <a:t>RNA + anchors only</a:t>
            </a:r>
          </a:p>
          <a:p xmlns:a="http://schemas.openxmlformats.org/drawingml/2006/main">
            <a:pPr algn="l">
              <a:defRPr sz="1725" b="0">
                <a:solidFill>
                  <a:srgbClr val="1D2433"/>
                </a:solidFill>
                <a:latin typeface="IBM Plex Sans"/>
                <a:ea typeface="IBM Plex Sans"/>
                <a:cs typeface="IBM Plex Sans"/>
              </a:defRPr>
            </a:pPr>
            <a:r>
              <a:rPr sz="1725" b="0">
                <a:solidFill>
                  <a:srgbClr val="1D2433"/>
                </a:solidFill>
                <a:latin typeface="IBM Plex Sans"/>
                <a:ea typeface="IBM Plex Sans"/>
                <a:cs typeface="IBM Plex Sans"/>
              </a:rPr>
              <a:t>Hidden targets for scoring</a:t>
            </a:r>
          </a:p>
        </p:txBody>
      </p:sp>
      <p:sp>
        <p:nvSpPr>
          <p:cNvPr id="22" name="35-person pool is repeatedly split 15 / 20; 4 additional San">
            <a:extLst xmlns:a="http://schemas.openxmlformats.org/drawingml/2006/main">
              <a:ext uri="{FF2B5EF4-FFF2-40B4-BE49-F238E27FC236}">
                <a16:creationId xmlns:a16="http://schemas.microsoft.com/office/drawing/2014/main" id="{6D0333C7-1D48-4CD7-86E7-55F57689F681}"/>
              </a:ext>
            </a:extLst>
          </p:cNvPr>
          <p:cNvSpPr>
            <a:spLocks xmlns:a="http://schemas.openxmlformats.org/drawingml/2006/main" noGrp="1"/>
          </p:cNvSpPr>
          <p:nvPr/>
        </p:nvSpPr>
        <p:spPr>
          <a:xfrm xmlns:a="http://schemas.openxmlformats.org/drawingml/2006/main">
            <a:off x="723900" y="5048250"/>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36178"/>
                </a:solidFill>
                <a:latin typeface="IBM Plex Sans"/>
                <a:ea typeface="IBM Plex Sans"/>
                <a:cs typeface="IBM Plex Sans"/>
              </a:defRPr>
            </a:pPr>
            <a:r>
              <a:rPr sz="1725" b="0">
                <a:solidFill>
                  <a:srgbClr val="536178"/>
                </a:solidFill>
                <a:latin typeface="IBM Plex Sans"/>
                <a:ea typeface="IBM Plex Sans"/>
                <a:cs typeface="IBM Plex Sans"/>
              </a:rPr>
              <a:t>35-person pool is repeatedly split 15 / 20; 4 additional Sanger participants lack local calibration.</a:t>
            </a:r>
          </a:p>
        </p:txBody>
      </p:sp>
      <p:sp>
        <p:nvSpPr>
          <p:cNvPr id="23" name="COMBAT: 122 participants = 61 train + 20 design + 15 calibra">
            <a:extLst xmlns:a="http://schemas.openxmlformats.org/drawingml/2006/main">
              <a:ext uri="{FF2B5EF4-FFF2-40B4-BE49-F238E27FC236}">
                <a16:creationId xmlns:a16="http://schemas.microsoft.com/office/drawing/2014/main" id="{6BC07AB8-5B73-4D45-986A-AE45315508E5}"/>
              </a:ext>
            </a:extLst>
          </p:cNvPr>
          <p:cNvSpPr>
            <a:spLocks xmlns:a="http://schemas.openxmlformats.org/drawingml/2006/main" noGrp="1"/>
          </p:cNvSpPr>
          <p:nvPr/>
        </p:nvSpPr>
        <p:spPr>
          <a:xfrm xmlns:a="http://schemas.openxmlformats.org/drawingml/2006/main">
            <a:off x="723900" y="57245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D2433"/>
                </a:solidFill>
                <a:latin typeface="IBM Plex Sans"/>
                <a:ea typeface="IBM Plex Sans"/>
                <a:cs typeface="IBM Plex Sans"/>
              </a:defRPr>
            </a:pPr>
            <a:r>
              <a:rPr sz="1725" b="1">
                <a:solidFill>
                  <a:srgbClr val="1D2433"/>
                </a:solidFill>
                <a:latin typeface="IBM Plex Sans"/>
                <a:ea typeface="IBM Plex Sans"/>
                <a:cs typeface="IBM Plex Sans"/>
              </a:rPr>
              <a:t>COMBAT: 122 participants = 61 train + 20 design + 15 calibration + 26 test</a:t>
            </a:r>
          </a:p>
        </p:txBody>
      </p:sp>
      <p:sp>
        <p:nvSpPr>
          <p:cNvPr id="24" name="Target proteins held out; totalVI fitting and RNA SVD use he">
            <a:extLst xmlns:a="http://schemas.openxmlformats.org/drawingml/2006/main">
              <a:ext uri="{FF2B5EF4-FFF2-40B4-BE49-F238E27FC236}">
                <a16:creationId xmlns:a16="http://schemas.microsoft.com/office/drawing/2014/main" id="{44665F44-1D22-4E2E-9A75-DBF18E1F7DE0}"/>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Target proteins held out; totalVI fitting and RNA SVD use held-out RNA transductively</a:t>
            </a:r>
          </a:p>
        </p:txBody>
      </p:sp>
      <p:sp>
        <p:nvSpPr>
          <p:cNvPr id="25" name="3 / 9">
            <a:extLst xmlns:a="http://schemas.openxmlformats.org/drawingml/2006/main">
              <a:ext uri="{FF2B5EF4-FFF2-40B4-BE49-F238E27FC236}">
                <a16:creationId xmlns:a16="http://schemas.microsoft.com/office/drawing/2014/main" id="{FEDB703A-0744-480B-8EDA-137058FB27B7}"/>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3 / 9</a:t>
            </a:r>
          </a:p>
        </p:txBody>
      </p:sp>
    </p:spTree>
    <p:extLst>
      <p:ext uri="{BB962C8B-B14F-4D97-AF65-F5344CB8AC3E}">
        <p14:creationId xmlns:p14="http://schemas.microsoft.com/office/powerpoint/2010/main" val="1927075159"/>
      </p:ext>
    </p:extLst>
  </p:cSld>
</p:sld>
</file>

<file path=ppt/slides/slide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2" name="A shared residual factor tracks antibody depth">
            <a:extLst xmlns:a="http://schemas.openxmlformats.org/drawingml/2006/main">
              <a:ext uri="{FF2B5EF4-FFF2-40B4-BE49-F238E27FC236}">
                <a16:creationId xmlns:a16="http://schemas.microsoft.com/office/drawing/2014/main" id="{D44A44D7-5E25-4382-8732-D24ED37717CE}"/>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D2433"/>
                </a:solidFill>
                <a:latin typeface="IBM Plex Sans"/>
                <a:ea typeface="IBM Plex Sans"/>
                <a:cs typeface="IBM Plex Sans"/>
              </a:defRPr>
            </a:pPr>
            <a:r>
              <a:rPr sz="3000" b="1">
                <a:solidFill>
                  <a:srgbClr val="1D2433"/>
                </a:solidFill>
                <a:latin typeface="IBM Plex Sans"/>
                <a:ea typeface="IBM Plex Sans"/>
                <a:cs typeface="IBM Plex Sans"/>
              </a:rPr>
              <a:t>A shared residual factor tracks antibody depth</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b468ae5aa5f4b3f"/>
          <a:stretch xmlns:a="http://schemas.openxmlformats.org/drawingml/2006/main"/>
        </p:blipFill>
        <p:spPr>
          <a:xfrm xmlns:a="http://schemas.openxmlformats.org/drawingml/2006/main">
            <a:off x="685800" y="1453023"/>
            <a:ext cx="3810000" cy="3932903"/>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f2f535f6e274eed"/>
          <a:stretch xmlns:a="http://schemas.openxmlformats.org/drawingml/2006/main"/>
        </p:blipFill>
        <p:spPr>
          <a:xfrm xmlns:a="http://schemas.openxmlformats.org/drawingml/2006/main">
            <a:off x="4574170" y="1743075"/>
            <a:ext cx="3786609" cy="3648075"/>
          </a:xfrm>
          <a:prstGeom xmlns:a="http://schemas.openxmlformats.org/drawingml/2006/main" prst="rect">
            <a:avLst/>
          </a:prstGeom>
        </p:spPr>
      </p:pic>
      <p:sp>
        <p:nvSpPr>
          <p:cNvPr id="4" name="PC1 versus ADT depth">
            <a:extLst xmlns:a="http://schemas.openxmlformats.org/drawingml/2006/main">
              <a:ext uri="{FF2B5EF4-FFF2-40B4-BE49-F238E27FC236}">
                <a16:creationId xmlns:a16="http://schemas.microsoft.com/office/drawing/2014/main" id="{915A68EC-D239-49E7-B807-BC8FE2AA2C69}"/>
              </a:ext>
            </a:extLst>
          </p:cNvPr>
          <p:cNvSpPr>
            <a:spLocks xmlns:a="http://schemas.openxmlformats.org/drawingml/2006/main" noGrp="1"/>
          </p:cNvSpPr>
          <p:nvPr/>
        </p:nvSpPr>
        <p:spPr>
          <a:xfrm xmlns:a="http://schemas.openxmlformats.org/drawingml/2006/main">
            <a:off x="4724400" y="142875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D2433"/>
                </a:solidFill>
                <a:latin typeface="IBM Plex Sans"/>
                <a:ea typeface="IBM Plex Sans"/>
                <a:cs typeface="IBM Plex Sans"/>
              </a:defRPr>
            </a:pPr>
            <a:r>
              <a:rPr sz="1500" b="0">
                <a:solidFill>
                  <a:srgbClr val="1D2433"/>
                </a:solidFill>
                <a:latin typeface="IBM Plex Sans"/>
                <a:ea typeface="IBM Plex Sans"/>
                <a:cs typeface="IBM Plex Sans"/>
              </a:rPr>
              <a:t>PC1 versus ADT depth</a:t>
            </a:r>
          </a:p>
        </p:txBody>
      </p:sp>
      <p:sp>
        <p:nvSpPr>
          <p:cNvPr id="5" name="75.6%">
            <a:extLst xmlns:a="http://schemas.openxmlformats.org/drawingml/2006/main">
              <a:ext uri="{FF2B5EF4-FFF2-40B4-BE49-F238E27FC236}">
                <a16:creationId xmlns:a16="http://schemas.microsoft.com/office/drawing/2014/main" id="{A295F349-EE2D-4BE4-8743-ED8157358202}"/>
              </a:ext>
            </a:extLst>
          </p:cNvPr>
          <p:cNvSpPr>
            <a:spLocks xmlns:a="http://schemas.openxmlformats.org/drawingml/2006/main" noGrp="1"/>
          </p:cNvSpPr>
          <p:nvPr/>
        </p:nvSpPr>
        <p:spPr>
          <a:xfrm xmlns:a="http://schemas.openxmlformats.org/drawingml/2006/main">
            <a:off x="8629650" y="1685925"/>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245EFF"/>
                </a:solidFill>
                <a:latin typeface="IBM Plex Sans"/>
                <a:ea typeface="IBM Plex Sans"/>
                <a:cs typeface="IBM Plex Sans"/>
              </a:defRPr>
            </a:pPr>
            <a:r>
              <a:rPr sz="3600" b="1">
                <a:solidFill>
                  <a:srgbClr val="245EFF"/>
                </a:solidFill>
                <a:latin typeface="IBM Plex Sans"/>
                <a:ea typeface="IBM Plex Sans"/>
                <a:cs typeface="IBM Plex Sans"/>
              </a:rPr>
              <a:t>75.6%</a:t>
            </a:r>
          </a:p>
        </p:txBody>
      </p:sp>
      <p:sp>
        <p:nvSpPr>
          <p:cNvPr id="6" name="of participant-offset variance in PC1">
            <a:extLst xmlns:a="http://schemas.openxmlformats.org/drawingml/2006/main">
              <a:ext uri="{FF2B5EF4-FFF2-40B4-BE49-F238E27FC236}">
                <a16:creationId xmlns:a16="http://schemas.microsoft.com/office/drawing/2014/main" id="{37AF1E45-4E49-4152-9BEF-BED097977BE1}"/>
              </a:ext>
            </a:extLst>
          </p:cNvPr>
          <p:cNvSpPr>
            <a:spLocks xmlns:a="http://schemas.openxmlformats.org/drawingml/2006/main" noGrp="1"/>
          </p:cNvSpPr>
          <p:nvPr/>
        </p:nvSpPr>
        <p:spPr>
          <a:xfrm xmlns:a="http://schemas.openxmlformats.org/drawingml/2006/main">
            <a:off x="8629650" y="2428875"/>
            <a:ext cx="276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D2433"/>
                </a:solidFill>
                <a:latin typeface="IBM Plex Sans"/>
                <a:ea typeface="IBM Plex Sans"/>
                <a:cs typeface="IBM Plex Sans"/>
              </a:defRPr>
            </a:pPr>
            <a:r>
              <a:rPr sz="1875" b="0">
                <a:solidFill>
                  <a:srgbClr val="1D2433"/>
                </a:solidFill>
                <a:latin typeface="IBM Plex Sans"/>
                <a:ea typeface="IBM Plex Sans"/>
                <a:cs typeface="IBM Plex Sans"/>
              </a:rPr>
              <a:t>of participant-offset variance in PC1</a:t>
            </a:r>
          </a:p>
        </p:txBody>
      </p:sp>
      <p:sp>
        <p:nvSpPr>
          <p:cNvPr id="7" name="ρ = 0.83">
            <a:extLst xmlns:a="http://schemas.openxmlformats.org/drawingml/2006/main">
              <a:ext uri="{FF2B5EF4-FFF2-40B4-BE49-F238E27FC236}">
                <a16:creationId xmlns:a16="http://schemas.microsoft.com/office/drawing/2014/main" id="{D3D1372D-B69C-4D36-809E-62255533E709}"/>
              </a:ext>
            </a:extLst>
          </p:cNvPr>
          <p:cNvSpPr>
            <a:spLocks xmlns:a="http://schemas.openxmlformats.org/drawingml/2006/main" noGrp="1"/>
          </p:cNvSpPr>
          <p:nvPr/>
        </p:nvSpPr>
        <p:spPr>
          <a:xfrm xmlns:a="http://schemas.openxmlformats.org/drawingml/2006/main">
            <a:off x="8629650" y="35337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925" b="1">
                <a:solidFill>
                  <a:srgbClr val="245EFF"/>
                </a:solidFill>
                <a:latin typeface="IBM Plex Sans"/>
                <a:ea typeface="IBM Plex Sans"/>
                <a:cs typeface="IBM Plex Sans"/>
              </a:defRPr>
            </a:pPr>
            <a:r>
              <a:rPr sz="2925" b="1">
                <a:solidFill>
                  <a:srgbClr val="245EFF"/>
                </a:solidFill>
                <a:latin typeface="IBM Plex Sans"/>
                <a:ea typeface="IBM Plex Sans"/>
                <a:cs typeface="IBM Plex Sans"/>
              </a:rPr>
              <a:t>ρ = 0.83</a:t>
            </a:r>
          </a:p>
        </p:txBody>
      </p:sp>
      <p:sp>
        <p:nvSpPr>
          <p:cNvPr id="8" name="association with ADT depth">
            <a:extLst xmlns:a="http://schemas.openxmlformats.org/drawingml/2006/main">
              <a:ext uri="{FF2B5EF4-FFF2-40B4-BE49-F238E27FC236}">
                <a16:creationId xmlns:a16="http://schemas.microsoft.com/office/drawing/2014/main" id="{00947E94-9F91-4B8A-94CC-08EFA2841801}"/>
              </a:ext>
            </a:extLst>
          </p:cNvPr>
          <p:cNvSpPr>
            <a:spLocks xmlns:a="http://schemas.openxmlformats.org/drawingml/2006/main" noGrp="1"/>
          </p:cNvSpPr>
          <p:nvPr/>
        </p:nvSpPr>
        <p:spPr>
          <a:xfrm xmlns:a="http://schemas.openxmlformats.org/drawingml/2006/main">
            <a:off x="8629650" y="4181475"/>
            <a:ext cx="2724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D2433"/>
                </a:solidFill>
                <a:latin typeface="IBM Plex Sans"/>
                <a:ea typeface="IBM Plex Sans"/>
                <a:cs typeface="IBM Plex Sans"/>
              </a:defRPr>
            </a:pPr>
            <a:r>
              <a:rPr sz="1875" b="0">
                <a:solidFill>
                  <a:srgbClr val="1D2433"/>
                </a:solidFill>
                <a:latin typeface="IBM Plex Sans"/>
                <a:ea typeface="IBM Plex Sans"/>
                <a:cs typeface="IBM Plex Sans"/>
              </a:rPr>
              <a:t>association with ADT depth</a:t>
            </a:r>
          </a:p>
        </p:txBody>
      </p:sp>
      <p:sp>
        <p:nvSpPr>
          <p:cNvPr id="9" name="Consistent with technical variation. Association does not es">
            <a:extLst xmlns:a="http://schemas.openxmlformats.org/drawingml/2006/main">
              <a:ext uri="{FF2B5EF4-FFF2-40B4-BE49-F238E27FC236}">
                <a16:creationId xmlns:a16="http://schemas.microsoft.com/office/drawing/2014/main" id="{65ED3672-7E3A-44A8-9F94-F83738D80809}"/>
              </a:ext>
            </a:extLst>
          </p:cNvPr>
          <p:cNvSpPr>
            <a:spLocks xmlns:a="http://schemas.openxmlformats.org/drawingml/2006/main" noGrp="1"/>
          </p:cNvSpPr>
          <p:nvPr/>
        </p:nvSpPr>
        <p:spPr>
          <a:xfrm xmlns:a="http://schemas.openxmlformats.org/drawingml/2006/main">
            <a:off x="723900" y="55816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D2433"/>
                </a:solidFill>
                <a:latin typeface="IBM Plex Sans"/>
                <a:ea typeface="IBM Plex Sans"/>
                <a:cs typeface="IBM Plex Sans"/>
              </a:defRPr>
            </a:pPr>
            <a:r>
              <a:rPr sz="2025" b="1">
                <a:solidFill>
                  <a:srgbClr val="1D2433"/>
                </a:solidFill>
                <a:latin typeface="IBM Plex Sans"/>
                <a:ea typeface="IBM Plex Sans"/>
                <a:cs typeface="IBM Plex Sans"/>
              </a:rPr>
              <a:t>Consistent with technical variation. Association does not establish a purely technical cause.</a:t>
            </a:r>
          </a:p>
        </p:txBody>
      </p:sp>
      <p:sp>
        <p:nvSpPr>
          <p:cNvPr id="10" name="Stephenson: design set for PCA; 59 held-out participants for">
            <a:extLst xmlns:a="http://schemas.openxmlformats.org/drawingml/2006/main">
              <a:ext uri="{FF2B5EF4-FFF2-40B4-BE49-F238E27FC236}">
                <a16:creationId xmlns:a16="http://schemas.microsoft.com/office/drawing/2014/main" id="{3E764A34-156C-4436-92CE-6B0C74680C79}"/>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Stephenson: design set for PCA; 59 held-out participants for associations</a:t>
            </a:r>
          </a:p>
        </p:txBody>
      </p:sp>
      <p:sp>
        <p:nvSpPr>
          <p:cNvPr id="11" name="4 / 9">
            <a:extLst xmlns:a="http://schemas.openxmlformats.org/drawingml/2006/main">
              <a:ext uri="{FF2B5EF4-FFF2-40B4-BE49-F238E27FC236}">
                <a16:creationId xmlns:a16="http://schemas.microsoft.com/office/drawing/2014/main" id="{F57F2221-7DDF-496A-B207-DC628628DC6C}"/>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4 / 9</a:t>
            </a:r>
          </a:p>
        </p:txBody>
      </p:sp>
    </p:spTree>
    <p:extLst>
      <p:ext uri="{BB962C8B-B14F-4D97-AF65-F5344CB8AC3E}">
        <p14:creationId xmlns:p14="http://schemas.microsoft.com/office/powerpoint/2010/main" val="1554986632"/>
      </p:ext>
    </p:extLst>
  </p:cSld>
</p:sld>
</file>

<file path=ppt/slides/slide5.xml><?xml version="1.0" encoding="utf-8"?>
<p:sld xmlns:p="http://schemas.openxmlformats.org/presentationml/2006/main">
  <p:cSld>
    <p:bg>
      <p:bgPr>
        <a:solidFill xmlns:a="http://schemas.openxmlformats.org/drawingml/2006/main">
          <a:srgbClr val="14213D"/>
        </a:solidFill>
      </p:bgPr>
    </p:bg>
    <p:spTree>
      <p:nvGrpSpPr>
        <p:cNvPr id="1" name=""/>
        <p:cNvGrpSpPr/>
        <p:nvPr/>
      </p:nvGrpSpPr>
      <p:grpSpPr>
        <a:xfrm xmlns:a="http://schemas.openxmlformats.org/drawingml/2006/main"/>
      </p:grpSpPr>
      <p:sp>
        <p:nvSpPr>
          <p:cNvPr id="17" name="Prediction, calibration, and decisions">
            <a:extLst xmlns:a="http://schemas.openxmlformats.org/drawingml/2006/main">
              <a:ext uri="{FF2B5EF4-FFF2-40B4-BE49-F238E27FC236}">
                <a16:creationId xmlns:a16="http://schemas.microsoft.com/office/drawing/2014/main" id="{6D59FD96-4884-4BB2-8ED7-C713B33CF1E1}"/>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FFFFFF"/>
                </a:solidFill>
                <a:latin typeface="IBM Plex Sans"/>
                <a:ea typeface="IBM Plex Sans"/>
                <a:cs typeface="IBM Plex Sans"/>
              </a:defRPr>
            </a:pPr>
            <a:r>
              <a:rPr sz="3000" b="1">
                <a:solidFill>
                  <a:srgbClr val="FFFFFF"/>
                </a:solidFill>
                <a:latin typeface="IBM Plex Sans"/>
                <a:ea typeface="IBM Plex Sans"/>
                <a:cs typeface="IBM Plex Sans"/>
              </a:rPr>
              <a:t>Prediction, calibration, and decisions</a:t>
            </a:r>
          </a:p>
        </p:txBody>
      </p:sp>
      <p:sp>
        <p:nvSpPr>
          <p:cNvPr id="2" name="">
            <a:extLst xmlns:a="http://schemas.openxmlformats.org/drawingml/2006/main">
              <a:ext uri="{FF2B5EF4-FFF2-40B4-BE49-F238E27FC236}">
                <a16:creationId xmlns:a16="http://schemas.microsoft.com/office/drawing/2014/main" id="{46F76995-6BD9-4078-BE07-37ED6BF893B9}"/>
              </a:ext>
            </a:extLst>
          </p:cNvPr>
          <p:cNvSpPr>
            <a:spLocks xmlns:a="http://schemas.openxmlformats.org/drawingml/2006/main" noGrp="1"/>
          </p:cNvSpPr>
          <p:nvPr/>
        </p:nvSpPr>
        <p:spPr>
          <a:xfrm xmlns:a="http://schemas.openxmlformats.org/drawingml/2006/main">
            <a:off x="723900" y="1685925"/>
            <a:ext cx="3333750" cy="3409950"/>
          </a:xfrm>
          <a:prstGeom xmlns:a="http://schemas.openxmlformats.org/drawingml/2006/main" prst="roundRect">
            <a:avLst>
              <a:gd name="adj" fmla="val 3429"/>
            </a:avLst>
          </a:prstGeom>
          <a:solidFill xmlns:a="http://schemas.openxmlformats.org/drawingml/2006/main">
            <a:srgbClr val="203152"/>
          </a:solidFill>
          <a:ln xmlns:a="http://schemas.openxmlformats.org/drawingml/2006/main" w="7620">
            <a:solidFill>
              <a:srgbClr val="D8DFEA"/>
            </a:solidFill>
          </a:ln>
        </p:spPr>
      </p:sp>
      <p:sp>
        <p:nvSpPr>
          <p:cNvPr id="3" name="1  PREDICT">
            <a:extLst xmlns:a="http://schemas.openxmlformats.org/drawingml/2006/main">
              <a:ext uri="{FF2B5EF4-FFF2-40B4-BE49-F238E27FC236}">
                <a16:creationId xmlns:a16="http://schemas.microsoft.com/office/drawing/2014/main" id="{BD41124F-F908-4719-9549-185F69501525}"/>
              </a:ext>
            </a:extLst>
          </p:cNvPr>
          <p:cNvSpPr>
            <a:spLocks xmlns:a="http://schemas.openxmlformats.org/drawingml/2006/main" noGrp="1"/>
          </p:cNvSpPr>
          <p:nvPr/>
        </p:nvSpPr>
        <p:spPr>
          <a:xfrm xmlns:a="http://schemas.openxmlformats.org/drawingml/2006/main">
            <a:off x="914400" y="1876425"/>
            <a:ext cx="2943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9DBEFF"/>
                </a:solidFill>
                <a:latin typeface="IBM Plex Sans"/>
                <a:ea typeface="IBM Plex Sans"/>
                <a:cs typeface="IBM Plex Sans"/>
              </a:defRPr>
            </a:pPr>
            <a:r>
              <a:rPr sz="1875" b="1">
                <a:solidFill>
                  <a:srgbClr val="9DBEFF"/>
                </a:solidFill>
                <a:latin typeface="IBM Plex Sans"/>
                <a:ea typeface="IBM Plex Sans"/>
                <a:cs typeface="IBM Plex Sans"/>
              </a:rPr>
              <a:t>1  PREDICT</a:t>
            </a:r>
          </a:p>
        </p:txBody>
      </p:sp>
      <p:sp>
        <p:nvSpPr>
          <p:cNvPr id="4" name="RNA + a few measured proteins">
            <a:extLst xmlns:a="http://schemas.openxmlformats.org/drawingml/2006/main">
              <a:ext uri="{FF2B5EF4-FFF2-40B4-BE49-F238E27FC236}">
                <a16:creationId xmlns:a16="http://schemas.microsoft.com/office/drawing/2014/main" id="{6583C11D-4F0E-4EB9-9E7D-1A132B5BD258}"/>
              </a:ext>
            </a:extLst>
          </p:cNvPr>
          <p:cNvSpPr>
            <a:spLocks xmlns:a="http://schemas.openxmlformats.org/drawingml/2006/main" noGrp="1"/>
          </p:cNvSpPr>
          <p:nvPr/>
        </p:nvSpPr>
        <p:spPr>
          <a:xfrm xmlns:a="http://schemas.openxmlformats.org/drawingml/2006/main">
            <a:off x="914400" y="2514600"/>
            <a:ext cx="2943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FFFFFF"/>
                </a:solidFill>
                <a:latin typeface="IBM Plex Sans"/>
                <a:ea typeface="IBM Plex Sans"/>
                <a:cs typeface="IBM Plex Sans"/>
              </a:defRPr>
            </a:pPr>
            <a:r>
              <a:rPr sz="2175" b="1">
                <a:solidFill>
                  <a:srgbClr val="FFFFFF"/>
                </a:solidFill>
                <a:latin typeface="IBM Plex Sans"/>
                <a:ea typeface="IBM Plex Sans"/>
                <a:cs typeface="IBM Plex Sans"/>
              </a:rPr>
              <a:t>RNA + a few measured proteins</a:t>
            </a:r>
          </a:p>
        </p:txBody>
      </p:sp>
      <p:sp>
        <p:nvSpPr>
          <p:cNvPr id="5" name="Use anchors as model inputs, or correct a fixed imputer usin">
            <a:extLst xmlns:a="http://schemas.openxmlformats.org/drawingml/2006/main">
              <a:ext uri="{FF2B5EF4-FFF2-40B4-BE49-F238E27FC236}">
                <a16:creationId xmlns:a16="http://schemas.microsoft.com/office/drawing/2014/main" id="{11E787A3-7063-4937-986B-4CD9B5BCF23C}"/>
              </a:ext>
            </a:extLst>
          </p:cNvPr>
          <p:cNvSpPr>
            <a:spLocks xmlns:a="http://schemas.openxmlformats.org/drawingml/2006/main" noGrp="1"/>
          </p:cNvSpPr>
          <p:nvPr/>
        </p:nvSpPr>
        <p:spPr>
          <a:xfrm xmlns:a="http://schemas.openxmlformats.org/drawingml/2006/main">
            <a:off x="914400" y="3619500"/>
            <a:ext cx="294322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D7E1F2"/>
                </a:solidFill>
                <a:latin typeface="IBM Plex Sans"/>
                <a:ea typeface="IBM Plex Sans"/>
                <a:cs typeface="IBM Plex Sans"/>
              </a:defRPr>
            </a:pPr>
            <a:r>
              <a:rPr sz="1800" b="0">
                <a:solidFill>
                  <a:srgbClr val="D7E1F2"/>
                </a:solidFill>
                <a:latin typeface="IBM Plex Sans"/>
                <a:ea typeface="IBM Plex Sans"/>
                <a:cs typeface="IBM Plex Sans"/>
              </a:rPr>
              <a:t>Use anchors as model inputs, or correct a fixed imputer using their residuals.</a:t>
            </a:r>
          </a:p>
        </p:txBody>
      </p:sp>
      <p:sp>
        <p:nvSpPr>
          <p:cNvPr id="6" name="">
            <a:extLst xmlns:a="http://schemas.openxmlformats.org/drawingml/2006/main">
              <a:ext uri="{FF2B5EF4-FFF2-40B4-BE49-F238E27FC236}">
                <a16:creationId xmlns:a16="http://schemas.microsoft.com/office/drawing/2014/main" id="{3ABEEFFA-501D-45C5-875B-C512608F17CE}"/>
              </a:ext>
            </a:extLst>
          </p:cNvPr>
          <p:cNvSpPr>
            <a:spLocks xmlns:a="http://schemas.openxmlformats.org/drawingml/2006/main" noGrp="1"/>
          </p:cNvSpPr>
          <p:nvPr/>
        </p:nvSpPr>
        <p:spPr>
          <a:xfrm xmlns:a="http://schemas.openxmlformats.org/drawingml/2006/main">
            <a:off x="4343400" y="1685925"/>
            <a:ext cx="3333750" cy="3409950"/>
          </a:xfrm>
          <a:prstGeom xmlns:a="http://schemas.openxmlformats.org/drawingml/2006/main" prst="roundRect">
            <a:avLst>
              <a:gd name="adj" fmla="val 3429"/>
            </a:avLst>
          </a:prstGeom>
          <a:solidFill xmlns:a="http://schemas.openxmlformats.org/drawingml/2006/main">
            <a:srgbClr val="203152"/>
          </a:solidFill>
          <a:ln xmlns:a="http://schemas.openxmlformats.org/drawingml/2006/main" w="7620">
            <a:solidFill>
              <a:srgbClr val="D8DFEA"/>
            </a:solidFill>
          </a:ln>
        </p:spPr>
      </p:sp>
      <p:sp>
        <p:nvSpPr>
          <p:cNvPr id="7" name="2  CALIBRATE">
            <a:extLst xmlns:a="http://schemas.openxmlformats.org/drawingml/2006/main">
              <a:ext uri="{FF2B5EF4-FFF2-40B4-BE49-F238E27FC236}">
                <a16:creationId xmlns:a16="http://schemas.microsoft.com/office/drawing/2014/main" id="{33AAEE96-46FE-4C58-8139-60F4311B24DA}"/>
              </a:ext>
            </a:extLst>
          </p:cNvPr>
          <p:cNvSpPr>
            <a:spLocks xmlns:a="http://schemas.openxmlformats.org/drawingml/2006/main" noGrp="1"/>
          </p:cNvSpPr>
          <p:nvPr/>
        </p:nvSpPr>
        <p:spPr>
          <a:xfrm xmlns:a="http://schemas.openxmlformats.org/drawingml/2006/main">
            <a:off x="4533900" y="1876425"/>
            <a:ext cx="2943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9DBEFF"/>
                </a:solidFill>
                <a:latin typeface="IBM Plex Sans"/>
                <a:ea typeface="IBM Plex Sans"/>
                <a:cs typeface="IBM Plex Sans"/>
              </a:defRPr>
            </a:pPr>
            <a:r>
              <a:rPr sz="1875" b="1">
                <a:solidFill>
                  <a:srgbClr val="9DBEFF"/>
                </a:solidFill>
                <a:latin typeface="IBM Plex Sans"/>
                <a:ea typeface="IBM Plex Sans"/>
                <a:cs typeface="IBM Plex Sans"/>
              </a:rPr>
              <a:t>2  CALIBRATE</a:t>
            </a:r>
          </a:p>
        </p:txBody>
      </p:sp>
      <p:sp>
        <p:nvSpPr>
          <p:cNvPr id="8" name="One score per participant">
            <a:extLst xmlns:a="http://schemas.openxmlformats.org/drawingml/2006/main">
              <a:ext uri="{FF2B5EF4-FFF2-40B4-BE49-F238E27FC236}">
                <a16:creationId xmlns:a16="http://schemas.microsoft.com/office/drawing/2014/main" id="{431E5567-B3D7-4082-ABF6-F23F92E8CCE9}"/>
              </a:ext>
            </a:extLst>
          </p:cNvPr>
          <p:cNvSpPr>
            <a:spLocks xmlns:a="http://schemas.openxmlformats.org/drawingml/2006/main" noGrp="1"/>
          </p:cNvSpPr>
          <p:nvPr/>
        </p:nvSpPr>
        <p:spPr>
          <a:xfrm xmlns:a="http://schemas.openxmlformats.org/drawingml/2006/main">
            <a:off x="4533900" y="2514600"/>
            <a:ext cx="2943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FFFFFF"/>
                </a:solidFill>
                <a:latin typeface="IBM Plex Sans"/>
                <a:ea typeface="IBM Plex Sans"/>
                <a:cs typeface="IBM Plex Sans"/>
              </a:defRPr>
            </a:pPr>
            <a:r>
              <a:rPr sz="2175" b="1">
                <a:solidFill>
                  <a:srgbClr val="FFFFFF"/>
                </a:solidFill>
                <a:latin typeface="IBM Plex Sans"/>
                <a:ea typeface="IBM Plex Sans"/>
                <a:cs typeface="IBM Plex Sans"/>
              </a:rPr>
              <a:t>One score per participant</a:t>
            </a:r>
          </a:p>
        </p:txBody>
      </p:sp>
      <p:sp>
        <p:nvSpPr>
          <p:cNvPr id="9" name="Set an interval adjustment from 15 reference participants af">
            <a:extLst xmlns:a="http://schemas.openxmlformats.org/drawingml/2006/main">
              <a:ext uri="{FF2B5EF4-FFF2-40B4-BE49-F238E27FC236}">
                <a16:creationId xmlns:a16="http://schemas.microsoft.com/office/drawing/2014/main" id="{BD835647-0062-4E6D-9C51-1A4BDB8FF1B2}"/>
              </a:ext>
            </a:extLst>
          </p:cNvPr>
          <p:cNvSpPr>
            <a:spLocks xmlns:a="http://schemas.openxmlformats.org/drawingml/2006/main" noGrp="1"/>
          </p:cNvSpPr>
          <p:nvPr/>
        </p:nvSpPr>
        <p:spPr>
          <a:xfrm xmlns:a="http://schemas.openxmlformats.org/drawingml/2006/main">
            <a:off x="4533900" y="3619500"/>
            <a:ext cx="294322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D7E1F2"/>
                </a:solidFill>
                <a:latin typeface="IBM Plex Sans"/>
                <a:ea typeface="IBM Plex Sans"/>
                <a:cs typeface="IBM Plex Sans"/>
              </a:defRPr>
            </a:pPr>
            <a:r>
              <a:rPr sz="1800" b="0">
                <a:solidFill>
                  <a:srgbClr val="D7E1F2"/>
                </a:solidFill>
                <a:latin typeface="IBM Plex Sans"/>
                <a:ea typeface="IBM Plex Sans"/>
                <a:cs typeface="IBM Plex Sans"/>
              </a:rPr>
              <a:t>Set an interval adjustment from 15 reference participants after freezing design choices.</a:t>
            </a:r>
          </a:p>
        </p:txBody>
      </p:sp>
      <p:sp>
        <p:nvSpPr>
          <p:cNvPr id="10" name="">
            <a:extLst xmlns:a="http://schemas.openxmlformats.org/drawingml/2006/main">
              <a:ext uri="{FF2B5EF4-FFF2-40B4-BE49-F238E27FC236}">
                <a16:creationId xmlns:a16="http://schemas.microsoft.com/office/drawing/2014/main" id="{0BC7B415-7D5C-4FC2-AF8A-7F05463BD9E1}"/>
              </a:ext>
            </a:extLst>
          </p:cNvPr>
          <p:cNvSpPr>
            <a:spLocks xmlns:a="http://schemas.openxmlformats.org/drawingml/2006/main" noGrp="1"/>
          </p:cNvSpPr>
          <p:nvPr/>
        </p:nvSpPr>
        <p:spPr>
          <a:xfrm xmlns:a="http://schemas.openxmlformats.org/drawingml/2006/main">
            <a:off x="7962900" y="1685925"/>
            <a:ext cx="3333750" cy="3409950"/>
          </a:xfrm>
          <a:prstGeom xmlns:a="http://schemas.openxmlformats.org/drawingml/2006/main" prst="roundRect">
            <a:avLst>
              <a:gd name="adj" fmla="val 3429"/>
            </a:avLst>
          </a:prstGeom>
          <a:solidFill xmlns:a="http://schemas.openxmlformats.org/drawingml/2006/main">
            <a:srgbClr val="203152"/>
          </a:solidFill>
          <a:ln xmlns:a="http://schemas.openxmlformats.org/drawingml/2006/main" w="7620">
            <a:solidFill>
              <a:srgbClr val="D8DFEA"/>
            </a:solidFill>
          </a:ln>
        </p:spPr>
      </p:sp>
      <p:sp>
        <p:nvSpPr>
          <p:cNvPr id="11" name="3  CALL OR ABSTAIN">
            <a:extLst xmlns:a="http://schemas.openxmlformats.org/drawingml/2006/main">
              <a:ext uri="{FF2B5EF4-FFF2-40B4-BE49-F238E27FC236}">
                <a16:creationId xmlns:a16="http://schemas.microsoft.com/office/drawing/2014/main" id="{16A2A85C-50C9-4CEA-9C8A-D5889DF6A013}"/>
              </a:ext>
            </a:extLst>
          </p:cNvPr>
          <p:cNvSpPr>
            <a:spLocks xmlns:a="http://schemas.openxmlformats.org/drawingml/2006/main" noGrp="1"/>
          </p:cNvSpPr>
          <p:nvPr/>
        </p:nvSpPr>
        <p:spPr>
          <a:xfrm xmlns:a="http://schemas.openxmlformats.org/drawingml/2006/main">
            <a:off x="8153400" y="1876425"/>
            <a:ext cx="2943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9DBEFF"/>
                </a:solidFill>
                <a:latin typeface="IBM Plex Sans"/>
                <a:ea typeface="IBM Plex Sans"/>
                <a:cs typeface="IBM Plex Sans"/>
              </a:defRPr>
            </a:pPr>
            <a:r>
              <a:rPr sz="1875" b="1">
                <a:solidFill>
                  <a:srgbClr val="9DBEFF"/>
                </a:solidFill>
                <a:latin typeface="IBM Plex Sans"/>
                <a:ea typeface="IBM Plex Sans"/>
                <a:cs typeface="IBM Plex Sans"/>
              </a:rPr>
              <a:t>3  CALL OR ABSTAIN</a:t>
            </a:r>
          </a:p>
        </p:txBody>
      </p:sp>
      <p:sp>
        <p:nvSpPr>
          <p:cNvPr id="12" name="Compare a fraction interval">
            <a:extLst xmlns:a="http://schemas.openxmlformats.org/drawingml/2006/main">
              <a:ext uri="{FF2B5EF4-FFF2-40B4-BE49-F238E27FC236}">
                <a16:creationId xmlns:a16="http://schemas.microsoft.com/office/drawing/2014/main" id="{5B6A99FE-55FC-456A-AC48-C494AC4DED9B}"/>
              </a:ext>
            </a:extLst>
          </p:cNvPr>
          <p:cNvSpPr>
            <a:spLocks xmlns:a="http://schemas.openxmlformats.org/drawingml/2006/main" noGrp="1"/>
          </p:cNvSpPr>
          <p:nvPr/>
        </p:nvSpPr>
        <p:spPr>
          <a:xfrm xmlns:a="http://schemas.openxmlformats.org/drawingml/2006/main">
            <a:off x="8153400" y="2514600"/>
            <a:ext cx="2943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FFFFFF"/>
                </a:solidFill>
                <a:latin typeface="IBM Plex Sans"/>
                <a:ea typeface="IBM Plex Sans"/>
                <a:cs typeface="IBM Plex Sans"/>
              </a:defRPr>
            </a:pPr>
            <a:r>
              <a:rPr sz="2175" b="1">
                <a:solidFill>
                  <a:srgbClr val="FFFFFF"/>
                </a:solidFill>
                <a:latin typeface="IBM Plex Sans"/>
                <a:ea typeface="IBM Plex Sans"/>
                <a:cs typeface="IBM Plex Sans"/>
              </a:rPr>
              <a:t>Compare a fraction interval</a:t>
            </a:r>
          </a:p>
        </p:txBody>
      </p:sp>
      <p:sp>
        <p:nvSpPr>
          <p:cNvPr id="13" name="Above threshold: HIGH&#10;Below threshold: LOW&#10;Crosses threshold">
            <a:extLst xmlns:a="http://schemas.openxmlformats.org/drawingml/2006/main">
              <a:ext uri="{FF2B5EF4-FFF2-40B4-BE49-F238E27FC236}">
                <a16:creationId xmlns:a16="http://schemas.microsoft.com/office/drawing/2014/main" id="{B4F41DEF-D9CB-4FAA-9FE8-58FDA38C3E55}"/>
              </a:ext>
            </a:extLst>
          </p:cNvPr>
          <p:cNvSpPr>
            <a:spLocks xmlns:a="http://schemas.openxmlformats.org/drawingml/2006/main" noGrp="1"/>
          </p:cNvSpPr>
          <p:nvPr/>
        </p:nvSpPr>
        <p:spPr>
          <a:xfrm xmlns:a="http://schemas.openxmlformats.org/drawingml/2006/main">
            <a:off x="8153400" y="3619500"/>
            <a:ext cx="294322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D7E1F2"/>
                </a:solidFill>
                <a:latin typeface="IBM Plex Sans"/>
                <a:ea typeface="IBM Plex Sans"/>
                <a:cs typeface="IBM Plex Sans"/>
              </a:defRPr>
            </a:pPr>
            <a:r>
              <a:rPr sz="1800" b="0">
                <a:solidFill>
                  <a:srgbClr val="D7E1F2"/>
                </a:solidFill>
                <a:latin typeface="IBM Plex Sans"/>
                <a:ea typeface="IBM Plex Sans"/>
                <a:cs typeface="IBM Plex Sans"/>
              </a:rPr>
              <a:t>Above threshold: HIGH</a:t>
            </a:r>
          </a:p>
          <a:p xmlns:a="http://schemas.openxmlformats.org/drawingml/2006/main">
            <a:pPr algn="l">
              <a:defRPr sz="1800" b="0">
                <a:solidFill>
                  <a:srgbClr val="D7E1F2"/>
                </a:solidFill>
                <a:latin typeface="IBM Plex Sans"/>
                <a:ea typeface="IBM Plex Sans"/>
                <a:cs typeface="IBM Plex Sans"/>
              </a:defRPr>
            </a:pPr>
            <a:r>
              <a:rPr sz="1800" b="0">
                <a:solidFill>
                  <a:srgbClr val="D7E1F2"/>
                </a:solidFill>
                <a:latin typeface="IBM Plex Sans"/>
                <a:ea typeface="IBM Plex Sans"/>
                <a:cs typeface="IBM Plex Sans"/>
              </a:rPr>
              <a:t>Below threshold: LOW</a:t>
            </a:r>
          </a:p>
          <a:p xmlns:a="http://schemas.openxmlformats.org/drawingml/2006/main">
            <a:pPr algn="l">
              <a:defRPr sz="1800" b="0">
                <a:solidFill>
                  <a:srgbClr val="D7E1F2"/>
                </a:solidFill>
                <a:latin typeface="IBM Plex Sans"/>
                <a:ea typeface="IBM Plex Sans"/>
                <a:cs typeface="IBM Plex Sans"/>
              </a:defRPr>
            </a:pPr>
            <a:r>
              <a:rPr sz="1800" b="0">
                <a:solidFill>
                  <a:srgbClr val="D7E1F2"/>
                </a:solidFill>
                <a:latin typeface="IBM Plex Sans"/>
                <a:ea typeface="IBM Plex Sans"/>
                <a:cs typeface="IBM Plex Sans"/>
              </a:rPr>
              <a:t>Crosses threshold: ABSTAIN</a:t>
            </a:r>
          </a:p>
        </p:txBody>
      </p:sp>
      <p:sp>
        <p:nvSpPr>
          <p:cNvPr id="14" name="For each protein: at least an 81.25% probability that a new ">
            <a:extLst xmlns:a="http://schemas.openxmlformats.org/drawingml/2006/main">
              <a:ext uri="{FF2B5EF4-FFF2-40B4-BE49-F238E27FC236}">
                <a16:creationId xmlns:a16="http://schemas.microsoft.com/office/drawing/2014/main" id="{0ECD5E92-67CD-4663-A2B3-E6F48542CA32}"/>
              </a:ext>
            </a:extLst>
          </p:cNvPr>
          <p:cNvSpPr>
            <a:spLocks xmlns:a="http://schemas.openxmlformats.org/drawingml/2006/main" noGrp="1"/>
          </p:cNvSpPr>
          <p:nvPr/>
        </p:nvSpPr>
        <p:spPr>
          <a:xfrm xmlns:a="http://schemas.openxmlformats.org/drawingml/2006/main">
            <a:off x="742950" y="53816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FFFFFF"/>
                </a:solidFill>
                <a:latin typeface="IBM Plex Sans"/>
                <a:ea typeface="IBM Plex Sans"/>
                <a:cs typeface="IBM Plex Sans"/>
              </a:defRPr>
            </a:pPr>
            <a:r>
              <a:rPr sz="2100" b="1">
                <a:solidFill>
                  <a:srgbClr val="FFFFFF"/>
                </a:solidFill>
                <a:latin typeface="IBM Plex Sans"/>
                <a:ea typeface="IBM Plex Sans"/>
                <a:cs typeface="IBM Plex Sans"/>
              </a:rPr>
              <a:t>For each protein: at least an 81.25% probability that a new exchangeable participant gets at least 90% empirical cell coverage.</a:t>
            </a:r>
          </a:p>
        </p:txBody>
      </p:sp>
      <p:sp>
        <p:nvSpPr>
          <p:cNvPr id="15" name="Marginal over participants; not every person or every protei">
            <a:extLst xmlns:a="http://schemas.openxmlformats.org/drawingml/2006/main">
              <a:ext uri="{FF2B5EF4-FFF2-40B4-BE49-F238E27FC236}">
                <a16:creationId xmlns:a16="http://schemas.microsoft.com/office/drawing/2014/main" id="{34321483-4432-41A9-8659-9CF3CE58ACDB}"/>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BCCCE6"/>
                </a:solidFill>
                <a:latin typeface="IBM Plex Sans"/>
                <a:ea typeface="IBM Plex Sans"/>
                <a:cs typeface="IBM Plex Sans"/>
              </a:defRPr>
            </a:pPr>
            <a:r>
              <a:rPr sz="1050" b="0">
                <a:solidFill>
                  <a:srgbClr val="BCCCE6"/>
                </a:solidFill>
                <a:latin typeface="IBM Plex Sans"/>
                <a:ea typeface="IBM Plex Sans"/>
                <a:cs typeface="IBM Plex Sans"/>
              </a:rPr>
              <a:t>Marginal over participants; not every person or every protein simultaneously</a:t>
            </a:r>
          </a:p>
        </p:txBody>
      </p:sp>
      <p:sp>
        <p:nvSpPr>
          <p:cNvPr id="16" name="5 / 9">
            <a:extLst xmlns:a="http://schemas.openxmlformats.org/drawingml/2006/main">
              <a:ext uri="{FF2B5EF4-FFF2-40B4-BE49-F238E27FC236}">
                <a16:creationId xmlns:a16="http://schemas.microsoft.com/office/drawing/2014/main" id="{3A75294E-9387-41B0-B9CF-3945EEB9C472}"/>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BCCCE6"/>
                </a:solidFill>
                <a:latin typeface="IBM Plex Sans"/>
                <a:ea typeface="IBM Plex Sans"/>
                <a:cs typeface="IBM Plex Sans"/>
              </a:defRPr>
            </a:pPr>
            <a:r>
              <a:rPr sz="1050" b="0">
                <a:solidFill>
                  <a:srgbClr val="BCCCE6"/>
                </a:solidFill>
                <a:latin typeface="IBM Plex Sans"/>
                <a:ea typeface="IBM Plex Sans"/>
                <a:cs typeface="IBM Plex Sans"/>
              </a:rPr>
              <a:t>5 / 9</a:t>
            </a:r>
          </a:p>
        </p:txBody>
      </p:sp>
    </p:spTree>
    <p:extLst>
      <p:ext uri="{BB962C8B-B14F-4D97-AF65-F5344CB8AC3E}">
        <p14:creationId xmlns:p14="http://schemas.microsoft.com/office/powerpoint/2010/main" val="385190000"/>
      </p:ext>
    </p:extLst>
  </p:cSld>
</p:sld>
</file>

<file path=ppt/slides/slide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7" name="Calibration changes coverage across participants">
            <a:extLst xmlns:a="http://schemas.openxmlformats.org/drawingml/2006/main">
              <a:ext uri="{FF2B5EF4-FFF2-40B4-BE49-F238E27FC236}">
                <a16:creationId xmlns:a16="http://schemas.microsoft.com/office/drawing/2014/main" id="{50096E47-7CB7-4BEC-92EA-F49B3BDB1965}"/>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D2433"/>
                </a:solidFill>
                <a:latin typeface="IBM Plex Sans"/>
                <a:ea typeface="IBM Plex Sans"/>
                <a:cs typeface="IBM Plex Sans"/>
              </a:defRPr>
            </a:pPr>
            <a:r>
              <a:rPr sz="3000" b="1">
                <a:solidFill>
                  <a:srgbClr val="1D2433"/>
                </a:solidFill>
                <a:latin typeface="IBM Plex Sans"/>
                <a:ea typeface="IBM Plex Sans"/>
                <a:cs typeface="IBM Plex Sans"/>
              </a:rPr>
              <a:t>Calibration changes coverage across participants</a:t>
            </a:r>
          </a:p>
        </p:txBody>
      </p:sp>
      <p:sp>
        <p:nvSpPr>
          <p:cNvPr id="2" name="Share reaching at least 90% cell coverage, averaged across t">
            <a:extLst xmlns:a="http://schemas.openxmlformats.org/drawingml/2006/main">
              <a:ext uri="{FF2B5EF4-FFF2-40B4-BE49-F238E27FC236}">
                <a16:creationId xmlns:a16="http://schemas.microsoft.com/office/drawing/2014/main" id="{C160C5FD-FA4C-4408-B926-C4A8CFA98919}"/>
              </a:ext>
            </a:extLst>
          </p:cNvPr>
          <p:cNvSpPr>
            <a:spLocks xmlns:a="http://schemas.openxmlformats.org/drawingml/2006/main" noGrp="1"/>
          </p:cNvSpPr>
          <p:nvPr/>
        </p:nvSpPr>
        <p:spPr>
          <a:xfrm xmlns:a="http://schemas.openxmlformats.org/drawingml/2006/main">
            <a:off x="723900" y="13144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36178"/>
                </a:solidFill>
                <a:latin typeface="IBM Plex Sans"/>
                <a:ea typeface="IBM Plex Sans"/>
                <a:cs typeface="IBM Plex Sans"/>
              </a:defRPr>
            </a:pPr>
            <a:r>
              <a:rPr sz="1875" b="0">
                <a:solidFill>
                  <a:srgbClr val="536178"/>
                </a:solidFill>
                <a:latin typeface="IBM Plex Sans"/>
                <a:ea typeface="IBM Plex Sans"/>
                <a:cs typeface="IBM Plex Sans"/>
              </a:rPr>
              <a:t>Share reaching at least 90% cell coverage, averaged across target proteins</a:t>
            </a:r>
          </a:p>
        </p:txBody>
      </p:sp>
      <p:graphicFrame>
        <p:nvGraphicFramePr>
          <p:cNvPr id="9" name="Chart"/>
          <p:cNvGraphicFramePr/>
          <p:nvPr/>
        </p:nvGraphicFramePr>
        <p:xfrm>
          <a:off xmlns:a="http://schemas.openxmlformats.org/drawingml/2006/main" x="762000" y="1857375"/>
          <a:ext xmlns:a="http://schemas.openxmlformats.org/drawingml/2006/main" cx="10620375" cy="3429000"/>
        </p:xfrm>
        <a:graphic xmlns:a="http://schemas.openxmlformats.org/drawingml/2006/main">
          <a:graphicData uri="http://schemas.openxmlformats.org/drawingml/2006/chart">
            <c:chart xmlns:r="http://schemas.openxmlformats.org/officeDocument/2006/relationships" xmlns:c="http://schemas.openxmlformats.org/drawingml/2006/chart" r:id="R793342faa97041fa"/>
          </a:graphicData>
        </a:graphic>
      </p:graphicFrame>
      <p:sp>
        <p:nvSpPr>
          <p:cNvPr id="4" name="Participant-block target: ≥81.25%. HCP achieved higher cover">
            <a:extLst xmlns:a="http://schemas.openxmlformats.org/drawingml/2006/main">
              <a:ext uri="{FF2B5EF4-FFF2-40B4-BE49-F238E27FC236}">
                <a16:creationId xmlns:a16="http://schemas.microsoft.com/office/drawing/2014/main" id="{D0B96EEE-E329-4389-9645-8B7E025C47A2}"/>
              </a:ext>
            </a:extLst>
          </p:cNvPr>
          <p:cNvSpPr>
            <a:spLocks xmlns:a="http://schemas.openxmlformats.org/drawingml/2006/main" noGrp="1"/>
          </p:cNvSpPr>
          <p:nvPr/>
        </p:nvSpPr>
        <p:spPr>
          <a:xfrm xmlns:a="http://schemas.openxmlformats.org/drawingml/2006/main">
            <a:off x="723900" y="54292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D2433"/>
                </a:solidFill>
                <a:latin typeface="IBM Plex Sans"/>
                <a:ea typeface="IBM Plex Sans"/>
                <a:cs typeface="IBM Plex Sans"/>
              </a:defRPr>
            </a:pPr>
            <a:r>
              <a:rPr sz="2025" b="1">
                <a:solidFill>
                  <a:srgbClr val="1D2433"/>
                </a:solidFill>
                <a:latin typeface="IBM Plex Sans"/>
                <a:ea typeface="IBM Plex Sans"/>
                <a:cs typeface="IBM Plex Sans"/>
              </a:rPr>
              <a:t>Participant-block target: ≥81.25%. HCP achieved higher coverage with wider intervals and a different guarantee.</a:t>
            </a:r>
          </a:p>
        </p:txBody>
      </p:sp>
      <p:sp>
        <p:nvSpPr>
          <p:cNvPr id="5" name="Ridge + the same five measured inputs; identical predictions">
            <a:extLst xmlns:a="http://schemas.openxmlformats.org/drawingml/2006/main">
              <a:ext uri="{FF2B5EF4-FFF2-40B4-BE49-F238E27FC236}">
                <a16:creationId xmlns:a16="http://schemas.microsoft.com/office/drawing/2014/main" id="{7594EBD7-F6D3-43DC-83C5-3162C4BF4A1D}"/>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Ridge + the same five measured inputs; identical predictions within each cohort</a:t>
            </a:r>
          </a:p>
        </p:txBody>
      </p:sp>
      <p:sp>
        <p:nvSpPr>
          <p:cNvPr id="6" name="6 / 9">
            <a:extLst xmlns:a="http://schemas.openxmlformats.org/drawingml/2006/main">
              <a:ext uri="{FF2B5EF4-FFF2-40B4-BE49-F238E27FC236}">
                <a16:creationId xmlns:a16="http://schemas.microsoft.com/office/drawing/2014/main" id="{9BA0F03E-7370-4F66-BB85-2AFF862D2F2D}"/>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6 / 9</a:t>
            </a:r>
          </a:p>
        </p:txBody>
      </p:sp>
    </p:spTree>
    <p:extLst>
      <p:ext uri="{BB962C8B-B14F-4D97-AF65-F5344CB8AC3E}">
        <p14:creationId xmlns:p14="http://schemas.microsoft.com/office/powerpoint/2010/main" val="51846546"/>
      </p:ext>
    </p:extLst>
  </p:cSld>
</p:sld>
</file>

<file path=ppt/slides/slide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6" name="Measured inputs gave the most efficient intervals">
            <a:extLst xmlns:a="http://schemas.openxmlformats.org/drawingml/2006/main">
              <a:ext uri="{FF2B5EF4-FFF2-40B4-BE49-F238E27FC236}">
                <a16:creationId xmlns:a16="http://schemas.microsoft.com/office/drawing/2014/main" id="{7F54DBAC-4901-4FEE-8676-979180EBF9B1}"/>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D2433"/>
                </a:solidFill>
                <a:latin typeface="IBM Plex Sans"/>
                <a:ea typeface="IBM Plex Sans"/>
                <a:cs typeface="IBM Plex Sans"/>
              </a:defRPr>
            </a:pPr>
            <a:r>
              <a:rPr sz="3000" b="1">
                <a:solidFill>
                  <a:srgbClr val="1D2433"/>
                </a:solidFill>
                <a:latin typeface="IBM Plex Sans"/>
                <a:ea typeface="IBM Plex Sans"/>
                <a:cs typeface="IBM Plex Sans"/>
              </a:rPr>
              <a:t>Measured inputs gave the most efficient intervals</a:t>
            </a:r>
          </a:p>
        </p:txBody>
      </p:sp>
      <p:graphicFrame>
        <p:nvGraphicFramePr>
          <p:cNvPr id="7" name=""/>
          <p:cNvGraphicFramePr/>
          <p:nvPr/>
        </p:nvGraphicFramePr>
        <p:xfrm>
          <a:off xmlns:a="http://schemas.openxmlformats.org/drawingml/2006/main" x="723900" y="1552575"/>
          <a:ext xmlns:a="http://schemas.openxmlformats.org/drawingml/2006/main" cx="10706100" cy="3333750"/>
        </p:xfrm>
        <a:graphic xmlns:a="http://schemas.openxmlformats.org/drawingml/2006/main">
          <a:graphicData uri="http://schemas.openxmlformats.org/drawingml/2006/table">
            <a:tbl>
              <a:tblPr/>
              <a:tblGrid>
                <a:gridCol w="4524375"/>
                <a:gridCol w="1857375"/>
                <a:gridCol w="2286000"/>
                <a:gridCol w="2038350"/>
              </a:tblGrid>
              <a:tr h="555625">
                <a:tc>
                  <a:txBody>
                    <a:bodyPr lIns="114300" tIns="95250" rIns="95250" bIns="76200"/>
                    <a:lstStyle/>
                    <a:p>
                      <a:r>
                        <a:rPr sz="1500" b="1">
                          <a:solidFill>
                            <a:srgbClr val="1D2433"/>
                          </a:solidFill>
                          <a:latin typeface="IBM Plex Sans"/>
                          <a:ea typeface="IBM Plex Sans"/>
                          <a:cs typeface="IBM Plex Sans"/>
                        </a:rPr>
                        <a:t>Ridge variant</a:t>
                      </a:r>
                    </a:p>
                  </a:txBody>
                  <a:tcPr marL="91440" marR="91440" marT="45720" marB="45720" anchor="ctr">
                    <a:solidFill>
                      <a:srgbClr val="EDF2FF"/>
                    </a:solidFill>
                  </a:tcPr>
                </a:tc>
                <a:tc>
                  <a:txBody>
                    <a:bodyPr lIns="114300" tIns="95250" rIns="95250" bIns="76200"/>
                    <a:lstStyle/>
                    <a:p>
                      <a:r>
                        <a:rPr sz="1500" b="1">
                          <a:solidFill>
                            <a:srgbClr val="1D2433"/>
                          </a:solidFill>
                          <a:latin typeface="IBM Plex Sans"/>
                          <a:ea typeface="IBM Plex Sans"/>
                          <a:cs typeface="IBM Plex Sans"/>
                        </a:rPr>
                        <a:t>Below 85%</a:t>
                      </a:r>
                    </a:p>
                  </a:txBody>
                  <a:tcPr marL="91440" marR="91440" marT="45720" marB="45720" anchor="ctr">
                    <a:solidFill>
                      <a:srgbClr val="EDF2FF"/>
                    </a:solidFill>
                  </a:tcPr>
                </a:tc>
                <a:tc>
                  <a:txBody>
                    <a:bodyPr lIns="114300" tIns="95250" rIns="95250" bIns="76200"/>
                    <a:lstStyle/>
                    <a:p>
                      <a:r>
                        <a:rPr sz="1500" b="1">
                          <a:solidFill>
                            <a:srgbClr val="1D2433"/>
                          </a:solidFill>
                          <a:latin typeface="IBM Plex Sans"/>
                          <a:ea typeface="IBM Plex Sans"/>
                          <a:cs typeface="IBM Plex Sans"/>
                        </a:rPr>
                        <a:t>Interval score</a:t>
                      </a:r>
                    </a:p>
                  </a:txBody>
                  <a:tcPr marL="91440" marR="91440" marT="45720" marB="45720" anchor="ctr">
                    <a:solidFill>
                      <a:srgbClr val="EDF2FF"/>
                    </a:solidFill>
                  </a:tcPr>
                </a:tc>
                <a:tc>
                  <a:txBody>
                    <a:bodyPr lIns="114300" tIns="95250" rIns="95250" bIns="76200"/>
                    <a:lstStyle/>
                    <a:p>
                      <a:r>
                        <a:rPr sz="1500" b="1">
                          <a:solidFill>
                            <a:srgbClr val="1D2433"/>
                          </a:solidFill>
                          <a:latin typeface="IBM Plex Sans"/>
                          <a:ea typeface="IBM Plex Sans"/>
                          <a:cs typeface="IBM Plex Sans"/>
                        </a:rPr>
                        <a:t>Width</a:t>
                      </a:r>
                    </a:p>
                  </a:txBody>
                  <a:tcPr marL="91440" marR="91440" marT="45720" marB="45720" anchor="ctr">
                    <a:solidFill>
                      <a:srgbClr val="EDF2FF"/>
                    </a:solidFill>
                  </a:tcPr>
                </a:tc>
              </a:tr>
              <a:tr h="555625">
                <a:tc>
                  <a:txBody>
                    <a:bodyPr lIns="114300" tIns="95250" rIns="95250" bIns="76200"/>
                    <a:lstStyle/>
                    <a:p>
                      <a:r>
                        <a:rPr sz="1725" b="0">
                          <a:solidFill>
                            <a:srgbClr val="1D2433"/>
                          </a:solidFill>
                          <a:latin typeface="IBM Plex Sans"/>
                          <a:ea typeface="IBM Plex Sans"/>
                          <a:cs typeface="IBM Plex Sans"/>
                        </a:rPr>
                        <a:t>Design-mean offset only</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8.3%</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3.26</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2.65</a:t>
                      </a:r>
                    </a:p>
                  </a:txBody>
                  <a:tcPr marL="91440" marR="91440" marT="45720" marB="45720" anchor="ctr">
                    <a:solidFill>
                      <a:srgbClr val="FFFFFF"/>
                    </a:solidFill>
                  </a:tcPr>
                </a:tc>
              </a:tr>
              <a:tr h="555625">
                <a:tc>
                  <a:txBody>
                    <a:bodyPr lIns="114300" tIns="95250" rIns="95250" bIns="76200"/>
                    <a:lstStyle/>
                    <a:p>
                      <a:r>
                        <a:rPr sz="1725" b="0">
                          <a:solidFill>
                            <a:srgbClr val="1D2433"/>
                          </a:solidFill>
                          <a:latin typeface="IBM Plex Sans"/>
                          <a:ea typeface="IBM Plex Sans"/>
                          <a:cs typeface="IBM Plex Sans"/>
                        </a:rPr>
                        <a:t>Common offset</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4.4%</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2.79</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2.20</a:t>
                      </a:r>
                    </a:p>
                  </a:txBody>
                  <a:tcPr marL="91440" marR="91440" marT="45720" marB="45720" anchor="ctr">
                    <a:solidFill>
                      <a:srgbClr val="FFFFFF"/>
                    </a:solidFill>
                  </a:tcPr>
                </a:tc>
              </a:tr>
              <a:tr h="555625">
                <a:tc>
                  <a:txBody>
                    <a:bodyPr lIns="114300" tIns="95250" rIns="95250" bIns="76200"/>
                    <a:lstStyle/>
                    <a:p>
                      <a:r>
                        <a:rPr sz="1725" b="0">
                          <a:solidFill>
                            <a:srgbClr val="1D2433"/>
                          </a:solidFill>
                          <a:latin typeface="IBM Plex Sans"/>
                          <a:ea typeface="IBM Plex Sans"/>
                          <a:cs typeface="IBM Plex Sans"/>
                        </a:rPr>
                        <a:t>Isotype-driven map</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4.5%</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2.81</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2.22</a:t>
                      </a:r>
                    </a:p>
                  </a:txBody>
                  <a:tcPr marL="91440" marR="91440" marT="45720" marB="45720" anchor="ctr">
                    <a:solidFill>
                      <a:srgbClr val="FFFFFF"/>
                    </a:solidFill>
                  </a:tcPr>
                </a:tc>
              </a:tr>
              <a:tr h="555625">
                <a:tc>
                  <a:txBody>
                    <a:bodyPr lIns="114300" tIns="95250" rIns="95250" bIns="76200"/>
                    <a:lstStyle/>
                    <a:p>
                      <a:r>
                        <a:rPr sz="1725" b="0">
                          <a:solidFill>
                            <a:srgbClr val="1D2433"/>
                          </a:solidFill>
                          <a:latin typeface="IBM Plex Sans"/>
                          <a:ea typeface="IBM Plex Sans"/>
                          <a:cs typeface="IBM Plex Sans"/>
                        </a:rPr>
                        <a:t>Learned shared map</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4.2%</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2.77</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2.19</a:t>
                      </a:r>
                    </a:p>
                  </a:txBody>
                  <a:tcPr marL="91440" marR="91440" marT="45720" marB="45720" anchor="ctr">
                    <a:solidFill>
                      <a:srgbClr val="FFFFFF"/>
                    </a:solidFill>
                  </a:tcPr>
                </a:tc>
              </a:tr>
              <a:tr h="555625">
                <a:tc>
                  <a:txBody>
                    <a:bodyPr lIns="114300" tIns="95250" rIns="95250" bIns="76200"/>
                    <a:lstStyle/>
                    <a:p>
                      <a:r>
                        <a:rPr sz="1725" b="0">
                          <a:solidFill>
                            <a:srgbClr val="1D2433"/>
                          </a:solidFill>
                          <a:latin typeface="IBM Plex Sans"/>
                          <a:ea typeface="IBM Plex Sans"/>
                          <a:cs typeface="IBM Plex Sans"/>
                        </a:rPr>
                        <a:t>Measured inputs</a:t>
                      </a:r>
                    </a:p>
                  </a:txBody>
                  <a:tcPr marL="91440" marR="91440" marT="45720" marB="45720" anchor="ctr">
                    <a:solidFill>
                      <a:srgbClr val="E8F5EF"/>
                    </a:solidFill>
                  </a:tcPr>
                </a:tc>
                <a:tc>
                  <a:txBody>
                    <a:bodyPr lIns="114300" tIns="95250" rIns="95250" bIns="76200"/>
                    <a:lstStyle/>
                    <a:p>
                      <a:r>
                        <a:rPr sz="1725" b="0">
                          <a:solidFill>
                            <a:srgbClr val="1D2433"/>
                          </a:solidFill>
                          <a:latin typeface="IBM Plex Sans"/>
                          <a:ea typeface="IBM Plex Sans"/>
                          <a:cs typeface="IBM Plex Sans"/>
                        </a:rPr>
                        <a:t>4.5%</a:t>
                      </a:r>
                    </a:p>
                  </a:txBody>
                  <a:tcPr marL="91440" marR="91440" marT="45720" marB="45720" anchor="ctr">
                    <a:solidFill>
                      <a:srgbClr val="E8F5EF"/>
                    </a:solidFill>
                  </a:tcPr>
                </a:tc>
                <a:tc>
                  <a:txBody>
                    <a:bodyPr lIns="114300" tIns="95250" rIns="95250" bIns="76200"/>
                    <a:lstStyle/>
                    <a:p>
                      <a:r>
                        <a:rPr sz="1725" b="0">
                          <a:solidFill>
                            <a:srgbClr val="1D2433"/>
                          </a:solidFill>
                          <a:latin typeface="IBM Plex Sans"/>
                          <a:ea typeface="IBM Plex Sans"/>
                          <a:cs typeface="IBM Plex Sans"/>
                        </a:rPr>
                        <a:t>2.33</a:t>
                      </a:r>
                    </a:p>
                  </a:txBody>
                  <a:tcPr marL="91440" marR="91440" marT="45720" marB="45720" anchor="ctr">
                    <a:solidFill>
                      <a:srgbClr val="E8F5EF"/>
                    </a:solidFill>
                  </a:tcPr>
                </a:tc>
                <a:tc>
                  <a:txBody>
                    <a:bodyPr lIns="114300" tIns="95250" rIns="95250" bIns="76200"/>
                    <a:lstStyle/>
                    <a:p>
                      <a:r>
                        <a:rPr sz="1725" b="0">
                          <a:solidFill>
                            <a:srgbClr val="1D2433"/>
                          </a:solidFill>
                          <a:latin typeface="IBM Plex Sans"/>
                          <a:ea typeface="IBM Plex Sans"/>
                          <a:cs typeface="IBM Plex Sans"/>
                        </a:rPr>
                        <a:t>1.90</a:t>
                      </a:r>
                    </a:p>
                  </a:txBody>
                  <a:tcPr marL="91440" marR="91440" marT="45720" marB="45720" anchor="ctr">
                    <a:solidFill>
                      <a:srgbClr val="E8F5EF"/>
                    </a:solidFill>
                  </a:tcPr>
                </a:tc>
              </a:tr>
            </a:tbl>
          </a:graphicData>
        </a:graphic>
      </p:graphicFrame>
      <p:sp>
        <p:nvSpPr>
          <p:cNvPr id="3" name="Simple corrections matched the learned map closely. Direct m">
            <a:extLst xmlns:a="http://schemas.openxmlformats.org/drawingml/2006/main">
              <a:ext uri="{FF2B5EF4-FFF2-40B4-BE49-F238E27FC236}">
                <a16:creationId xmlns:a16="http://schemas.microsoft.com/office/drawing/2014/main" id="{8CFBB8D3-D420-4B92-9DF5-6ED2DCFFC483}"/>
              </a:ext>
            </a:extLst>
          </p:cNvPr>
          <p:cNvSpPr>
            <a:spLocks xmlns:a="http://schemas.openxmlformats.org/drawingml/2006/main" noGrp="1"/>
          </p:cNvSpPr>
          <p:nvPr/>
        </p:nvSpPr>
        <p:spPr>
          <a:xfrm xmlns:a="http://schemas.openxmlformats.org/drawingml/2006/main">
            <a:off x="723900" y="5172075"/>
            <a:ext cx="10553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D2433"/>
                </a:solidFill>
                <a:latin typeface="IBM Plex Sans"/>
                <a:ea typeface="IBM Plex Sans"/>
                <a:cs typeface="IBM Plex Sans"/>
              </a:defRPr>
            </a:pPr>
            <a:r>
              <a:rPr sz="2100" b="1">
                <a:solidFill>
                  <a:srgbClr val="1D2433"/>
                </a:solidFill>
                <a:latin typeface="IBM Plex Sans"/>
                <a:ea typeface="IBM Plex Sans"/>
                <a:cs typeface="IBM Plex Sans"/>
              </a:rPr>
              <a:t>Simple corrections matched the learned map closely. Direct measured inputs reduced interval score and width at similar coverage.</a:t>
            </a:r>
          </a:p>
        </p:txBody>
      </p:sp>
      <p:sp>
        <p:nvSpPr>
          <p:cNvPr id="4" name="Stephenson; same participant-block calibration. Lower interv">
            <a:extLst xmlns:a="http://schemas.openxmlformats.org/drawingml/2006/main">
              <a:ext uri="{FF2B5EF4-FFF2-40B4-BE49-F238E27FC236}">
                <a16:creationId xmlns:a16="http://schemas.microsoft.com/office/drawing/2014/main" id="{E19C50DA-5E02-4B67-9C72-1C2BFA99A1BA}"/>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Stephenson; same participant-block calibration. Lower interval score is better.</a:t>
            </a:r>
          </a:p>
        </p:txBody>
      </p:sp>
      <p:sp>
        <p:nvSpPr>
          <p:cNvPr id="5" name="7 / 9">
            <a:extLst xmlns:a="http://schemas.openxmlformats.org/drawingml/2006/main">
              <a:ext uri="{FF2B5EF4-FFF2-40B4-BE49-F238E27FC236}">
                <a16:creationId xmlns:a16="http://schemas.microsoft.com/office/drawing/2014/main" id="{179AEE7D-343F-4B9F-9DD0-56598F08ED46}"/>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7 / 9</a:t>
            </a:r>
          </a:p>
        </p:txBody>
      </p:sp>
    </p:spTree>
    <p:extLst>
      <p:ext uri="{BB962C8B-B14F-4D97-AF65-F5344CB8AC3E}">
        <p14:creationId xmlns:p14="http://schemas.microsoft.com/office/powerpoint/2010/main" val="1613636330"/>
      </p:ext>
    </p:extLst>
  </p:cSld>
</p:sld>
</file>

<file path=ppt/slides/slide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1" name="Useful biomarker calls remain selective">
            <a:extLst xmlns:a="http://schemas.openxmlformats.org/drawingml/2006/main">
              <a:ext uri="{FF2B5EF4-FFF2-40B4-BE49-F238E27FC236}">
                <a16:creationId xmlns:a16="http://schemas.microsoft.com/office/drawing/2014/main" id="{90CE07EE-4D92-4CB6-9F98-7122450C2D43}"/>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D2433"/>
                </a:solidFill>
                <a:latin typeface="IBM Plex Sans"/>
                <a:ea typeface="IBM Plex Sans"/>
                <a:cs typeface="IBM Plex Sans"/>
              </a:defRPr>
            </a:pPr>
            <a:r>
              <a:rPr sz="3000" b="1">
                <a:solidFill>
                  <a:srgbClr val="1D2433"/>
                </a:solidFill>
                <a:latin typeface="IBM Plex Sans"/>
                <a:ea typeface="IBM Plex Sans"/>
                <a:cs typeface="IBM Plex Sans"/>
              </a:rPr>
              <a:t>Useful biomarker calls remain selective</a:t>
            </a:r>
          </a:p>
        </p:txBody>
      </p:sp>
      <p:sp>
        <p:nvSpPr>
          <p:cNvPr id="2" name="Stephenson: compare at the same 27% call rate">
            <a:extLst xmlns:a="http://schemas.openxmlformats.org/drawingml/2006/main">
              <a:ext uri="{FF2B5EF4-FFF2-40B4-BE49-F238E27FC236}">
                <a16:creationId xmlns:a16="http://schemas.microsoft.com/office/drawing/2014/main" id="{2D6458CA-FDC6-44D2-B05D-AE9CC45A0CFD}"/>
              </a:ext>
            </a:extLst>
          </p:cNvPr>
          <p:cNvSpPr>
            <a:spLocks xmlns:a="http://schemas.openxmlformats.org/drawingml/2006/main" noGrp="1"/>
          </p:cNvSpPr>
          <p:nvPr/>
        </p:nvSpPr>
        <p:spPr>
          <a:xfrm xmlns:a="http://schemas.openxmlformats.org/drawingml/2006/main">
            <a:off x="723900" y="1400175"/>
            <a:ext cx="10429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245EFF"/>
                </a:solidFill>
                <a:latin typeface="IBM Plex Sans"/>
                <a:ea typeface="IBM Plex Sans"/>
                <a:cs typeface="IBM Plex Sans"/>
              </a:defRPr>
            </a:pPr>
            <a:r>
              <a:rPr sz="2175" b="1">
                <a:solidFill>
                  <a:srgbClr val="245EFF"/>
                </a:solidFill>
                <a:latin typeface="IBM Plex Sans"/>
                <a:ea typeface="IBM Plex Sans"/>
                <a:cs typeface="IBM Plex Sans"/>
              </a:rPr>
              <a:t>Stephenson: compare at the same 27% call rate</a:t>
            </a:r>
          </a:p>
        </p:txBody>
      </p:sp>
      <p:graphicFrame>
        <p:nvGraphicFramePr>
          <p:cNvPr id="13" name=""/>
          <p:cNvGraphicFramePr/>
          <p:nvPr/>
        </p:nvGraphicFramePr>
        <p:xfrm>
          <a:off xmlns:a="http://schemas.openxmlformats.org/drawingml/2006/main" x="723900" y="1981200"/>
          <a:ext xmlns:a="http://schemas.openxmlformats.org/drawingml/2006/main" cx="6534150" cy="2886075"/>
        </p:xfrm>
        <a:graphic xmlns:a="http://schemas.openxmlformats.org/drawingml/2006/main">
          <a:graphicData uri="http://schemas.openxmlformats.org/drawingml/2006/table">
            <a:tbl>
              <a:tblPr/>
              <a:tblGrid>
                <a:gridCol w="4524375"/>
                <a:gridCol w="2009775"/>
              </a:tblGrid>
              <a:tr h="577215">
                <a:tc>
                  <a:txBody>
                    <a:bodyPr lIns="114300" tIns="95250" rIns="95250" bIns="76200"/>
                    <a:lstStyle/>
                    <a:p>
                      <a:r>
                        <a:rPr sz="1500" b="1">
                          <a:solidFill>
                            <a:srgbClr val="1D2433"/>
                          </a:solidFill>
                          <a:latin typeface="IBM Plex Sans"/>
                          <a:ea typeface="IBM Plex Sans"/>
                          <a:cs typeface="IBM Plex Sans"/>
                        </a:rPr>
                        <a:t>Procedure</a:t>
                      </a:r>
                    </a:p>
                  </a:txBody>
                  <a:tcPr marL="91440" marR="91440" marT="45720" marB="45720" anchor="ctr">
                    <a:solidFill>
                      <a:srgbClr val="EDF2FF"/>
                    </a:solidFill>
                  </a:tcPr>
                </a:tc>
                <a:tc>
                  <a:txBody>
                    <a:bodyPr lIns="114300" tIns="95250" rIns="95250" bIns="76200"/>
                    <a:lstStyle/>
                    <a:p>
                      <a:r>
                        <a:rPr sz="1500" b="1">
                          <a:solidFill>
                            <a:srgbClr val="1D2433"/>
                          </a:solidFill>
                          <a:latin typeface="IBM Plex Sans"/>
                          <a:ea typeface="IBM Plex Sans"/>
                          <a:cs typeface="IBM Plex Sans"/>
                        </a:rPr>
                        <a:t>Error among calls</a:t>
                      </a:r>
                    </a:p>
                  </a:txBody>
                  <a:tcPr marL="91440" marR="91440" marT="45720" marB="45720" anchor="ctr">
                    <a:solidFill>
                      <a:srgbClr val="EDF2FF"/>
                    </a:solidFill>
                  </a:tcPr>
                </a:tc>
              </a:tr>
              <a:tr h="577215">
                <a:tc>
                  <a:txBody>
                    <a:bodyPr lIns="114300" tIns="95250" rIns="95250" bIns="76200"/>
                    <a:lstStyle/>
                    <a:p>
                      <a:r>
                        <a:rPr sz="1725" b="0">
                          <a:solidFill>
                            <a:srgbClr val="1D2433"/>
                          </a:solidFill>
                          <a:latin typeface="IBM Plex Sans"/>
                          <a:ea typeface="IBM Plex Sans"/>
                          <a:cs typeface="IBM Plex Sans"/>
                        </a:rPr>
                        <a:t>Random abstention</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31.7–32.9%</a:t>
                      </a:r>
                    </a:p>
                  </a:txBody>
                  <a:tcPr marL="91440" marR="91440" marT="45720" marB="45720" anchor="ctr">
                    <a:solidFill>
                      <a:srgbClr val="FFFFFF"/>
                    </a:solidFill>
                  </a:tcPr>
                </a:tc>
              </a:tr>
              <a:tr h="577215">
                <a:tc>
                  <a:txBody>
                    <a:bodyPr lIns="114300" tIns="95250" rIns="95250" bIns="76200"/>
                    <a:lstStyle/>
                    <a:p>
                      <a:r>
                        <a:rPr sz="1725" b="0">
                          <a:solidFill>
                            <a:srgbClr val="1D2433"/>
                          </a:solidFill>
                          <a:latin typeface="IBM Plex Sans"/>
                          <a:ea typeface="IBM Plex Sans"/>
                          <a:cs typeface="IBM Plex Sans"/>
                        </a:rPr>
                        <a:t>Threshold distance</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20.1–20.6%</a:t>
                      </a:r>
                    </a:p>
                  </a:txBody>
                  <a:tcPr marL="91440" marR="91440" marT="45720" marB="45720" anchor="ctr">
                    <a:solidFill>
                      <a:srgbClr val="FFFFFF"/>
                    </a:solidFill>
                  </a:tcPr>
                </a:tc>
              </a:tr>
              <a:tr h="577215">
                <a:tc>
                  <a:txBody>
                    <a:bodyPr lIns="114300" tIns="95250" rIns="95250" bIns="76200"/>
                    <a:lstStyle/>
                    <a:p>
                      <a:r>
                        <a:rPr sz="1725" b="0">
                          <a:solidFill>
                            <a:srgbClr val="1D2433"/>
                          </a:solidFill>
                          <a:latin typeface="IBM Plex Sans"/>
                          <a:ea typeface="IBM Plex Sans"/>
                          <a:cs typeface="IBM Plex Sans"/>
                        </a:rPr>
                        <a:t>Anchor correction only</a:t>
                      </a:r>
                    </a:p>
                  </a:txBody>
                  <a:tcPr marL="91440" marR="91440" marT="45720" marB="45720" anchor="ctr">
                    <a:solidFill>
                      <a:srgbClr val="FFFFFF"/>
                    </a:solidFill>
                  </a:tcPr>
                </a:tc>
                <a:tc>
                  <a:txBody>
                    <a:bodyPr lIns="114300" tIns="95250" rIns="95250" bIns="76200"/>
                    <a:lstStyle/>
                    <a:p>
                      <a:r>
                        <a:rPr sz="1725" b="0">
                          <a:solidFill>
                            <a:srgbClr val="1D2433"/>
                          </a:solidFill>
                          <a:latin typeface="IBM Plex Sans"/>
                          <a:ea typeface="IBM Plex Sans"/>
                          <a:cs typeface="IBM Plex Sans"/>
                        </a:rPr>
                        <a:t>4.7–6.6%</a:t>
                      </a:r>
                    </a:p>
                  </a:txBody>
                  <a:tcPr marL="91440" marR="91440" marT="45720" marB="45720" anchor="ctr">
                    <a:solidFill>
                      <a:srgbClr val="FFFFFF"/>
                    </a:solidFill>
                  </a:tcPr>
                </a:tc>
              </a:tr>
              <a:tr h="577215">
                <a:tc>
                  <a:txBody>
                    <a:bodyPr lIns="114300" tIns="95250" rIns="95250" bIns="76200"/>
                    <a:lstStyle/>
                    <a:p>
                      <a:r>
                        <a:rPr sz="1725" b="0">
                          <a:solidFill>
                            <a:srgbClr val="1D2433"/>
                          </a:solidFill>
                          <a:latin typeface="IBM Plex Sans"/>
                          <a:ea typeface="IBM Plex Sans"/>
                          <a:cs typeface="IBM Plex Sans"/>
                        </a:rPr>
                        <a:t>ProteoGuard</a:t>
                      </a:r>
                    </a:p>
                  </a:txBody>
                  <a:tcPr marL="91440" marR="91440" marT="45720" marB="45720" anchor="ctr">
                    <a:solidFill>
                      <a:srgbClr val="E8F5EF"/>
                    </a:solidFill>
                  </a:tcPr>
                </a:tc>
                <a:tc>
                  <a:txBody>
                    <a:bodyPr lIns="114300" tIns="95250" rIns="95250" bIns="76200"/>
                    <a:lstStyle/>
                    <a:p>
                      <a:r>
                        <a:rPr sz="1725" b="0">
                          <a:solidFill>
                            <a:srgbClr val="1D2433"/>
                          </a:solidFill>
                          <a:latin typeface="IBM Plex Sans"/>
                          <a:ea typeface="IBM Plex Sans"/>
                          <a:cs typeface="IBM Plex Sans"/>
                        </a:rPr>
                        <a:t>2.1–2.2%</a:t>
                      </a:r>
                    </a:p>
                  </a:txBody>
                  <a:tcPr marL="91440" marR="91440" marT="45720" marB="45720" anchor="ctr">
                    <a:solidFill>
                      <a:srgbClr val="E8F5EF"/>
                    </a:solidFill>
                  </a:tcPr>
                </a:tc>
              </a:tr>
            </a:tbl>
          </a:graphicData>
        </a:graphic>
      </p:graphicFrame>
      <p:sp>
        <p:nvSpPr>
          <p:cNvPr id="4" name="">
            <a:extLst xmlns:a="http://schemas.openxmlformats.org/drawingml/2006/main">
              <a:ext uri="{FF2B5EF4-FFF2-40B4-BE49-F238E27FC236}">
                <a16:creationId xmlns:a16="http://schemas.microsoft.com/office/drawing/2014/main" id="{8C82E1E5-843D-41A2-BA1F-5B901846EB29}"/>
              </a:ext>
            </a:extLst>
          </p:cNvPr>
          <p:cNvSpPr>
            <a:spLocks xmlns:a="http://schemas.openxmlformats.org/drawingml/2006/main" noGrp="1"/>
          </p:cNvSpPr>
          <p:nvPr/>
        </p:nvSpPr>
        <p:spPr>
          <a:xfrm xmlns:a="http://schemas.openxmlformats.org/drawingml/2006/main">
            <a:off x="7629525" y="1971675"/>
            <a:ext cx="3762375" cy="2905125"/>
          </a:xfrm>
          <a:prstGeom xmlns:a="http://schemas.openxmlformats.org/drawingml/2006/main" prst="roundRect">
            <a:avLst>
              <a:gd name="adj" fmla="val 3934"/>
            </a:avLst>
          </a:prstGeom>
          <a:solidFill xmlns:a="http://schemas.openxmlformats.org/drawingml/2006/main">
            <a:srgbClr val="E8F5EF"/>
          </a:solidFill>
          <a:ln xmlns:a="http://schemas.openxmlformats.org/drawingml/2006/main" w="7620">
            <a:solidFill>
              <a:srgbClr val="D8DFEA"/>
            </a:solidFill>
          </a:ln>
        </p:spPr>
      </p:sp>
      <p:sp>
        <p:nvSpPr>
          <p:cNvPr id="5" name="COMBAT">
            <a:extLst xmlns:a="http://schemas.openxmlformats.org/drawingml/2006/main">
              <a:ext uri="{FF2B5EF4-FFF2-40B4-BE49-F238E27FC236}">
                <a16:creationId xmlns:a16="http://schemas.microsoft.com/office/drawing/2014/main" id="{C5AED76C-BF19-4E85-9AB0-424CA438B0E8}"/>
              </a:ext>
            </a:extLst>
          </p:cNvPr>
          <p:cNvSpPr>
            <a:spLocks xmlns:a="http://schemas.openxmlformats.org/drawingml/2006/main" noGrp="1"/>
          </p:cNvSpPr>
          <p:nvPr/>
        </p:nvSpPr>
        <p:spPr>
          <a:xfrm xmlns:a="http://schemas.openxmlformats.org/drawingml/2006/main">
            <a:off x="7848600" y="21907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17D54"/>
                </a:solidFill>
                <a:latin typeface="IBM Plex Sans"/>
                <a:ea typeface="IBM Plex Sans"/>
                <a:cs typeface="IBM Plex Sans"/>
              </a:defRPr>
            </a:pPr>
            <a:r>
              <a:rPr sz="2175" b="1">
                <a:solidFill>
                  <a:srgbClr val="117D54"/>
                </a:solidFill>
                <a:latin typeface="IBM Plex Sans"/>
                <a:ea typeface="IBM Plex Sans"/>
                <a:cs typeface="IBM Plex Sans"/>
              </a:rPr>
              <a:t>COMBAT</a:t>
            </a:r>
          </a:p>
        </p:txBody>
      </p:sp>
      <p:sp>
        <p:nvSpPr>
          <p:cNvPr id="6" name="Only 5–9%&#10;of decisions called">
            <a:extLst xmlns:a="http://schemas.openxmlformats.org/drawingml/2006/main">
              <a:ext uri="{FF2B5EF4-FFF2-40B4-BE49-F238E27FC236}">
                <a16:creationId xmlns:a16="http://schemas.microsoft.com/office/drawing/2014/main" id="{20AB4B7C-8C66-4180-8533-066EBC9AB948}"/>
              </a:ext>
            </a:extLst>
          </p:cNvPr>
          <p:cNvSpPr>
            <a:spLocks xmlns:a="http://schemas.openxmlformats.org/drawingml/2006/main" noGrp="1"/>
          </p:cNvSpPr>
          <p:nvPr/>
        </p:nvSpPr>
        <p:spPr>
          <a:xfrm xmlns:a="http://schemas.openxmlformats.org/drawingml/2006/main">
            <a:off x="7848600" y="2828925"/>
            <a:ext cx="328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1D2433"/>
                </a:solidFill>
                <a:latin typeface="IBM Plex Sans"/>
                <a:ea typeface="IBM Plex Sans"/>
                <a:cs typeface="IBM Plex Sans"/>
              </a:defRPr>
            </a:pPr>
            <a:r>
              <a:rPr sz="2325" b="1">
                <a:solidFill>
                  <a:srgbClr val="1D2433"/>
                </a:solidFill>
                <a:latin typeface="IBM Plex Sans"/>
                <a:ea typeface="IBM Plex Sans"/>
                <a:cs typeface="IBM Plex Sans"/>
              </a:rPr>
              <a:t>Only 5–9%</a:t>
            </a:r>
          </a:p>
          <a:p xmlns:a="http://schemas.openxmlformats.org/drawingml/2006/main">
            <a:pPr algn="l">
              <a:defRPr sz="2325" b="1">
                <a:solidFill>
                  <a:srgbClr val="1D2433"/>
                </a:solidFill>
                <a:latin typeface="IBM Plex Sans"/>
                <a:ea typeface="IBM Plex Sans"/>
                <a:cs typeface="IBM Plex Sans"/>
              </a:defRPr>
            </a:pPr>
            <a:r>
              <a:rPr sz="2325" b="1">
                <a:solidFill>
                  <a:srgbClr val="1D2433"/>
                </a:solidFill>
                <a:latin typeface="IBM Plex Sans"/>
                <a:ea typeface="IBM Plex Sans"/>
                <a:cs typeface="IBM Plex Sans"/>
              </a:rPr>
              <a:t>of decisions called</a:t>
            </a:r>
          </a:p>
        </p:txBody>
      </p:sp>
      <p:sp>
        <p:nvSpPr>
          <p:cNvPr id="7" name="5–9% observed error&#10;among those calls">
            <a:extLst xmlns:a="http://schemas.openxmlformats.org/drawingml/2006/main">
              <a:ext uri="{FF2B5EF4-FFF2-40B4-BE49-F238E27FC236}">
                <a16:creationId xmlns:a16="http://schemas.microsoft.com/office/drawing/2014/main" id="{4D3ED8C6-26C9-457C-B7D4-97299B8B44D9}"/>
              </a:ext>
            </a:extLst>
          </p:cNvPr>
          <p:cNvSpPr>
            <a:spLocks xmlns:a="http://schemas.openxmlformats.org/drawingml/2006/main" noGrp="1"/>
          </p:cNvSpPr>
          <p:nvPr/>
        </p:nvSpPr>
        <p:spPr>
          <a:xfrm xmlns:a="http://schemas.openxmlformats.org/drawingml/2006/main">
            <a:off x="7848600" y="3895725"/>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D2433"/>
                </a:solidFill>
                <a:latin typeface="IBM Plex Sans"/>
                <a:ea typeface="IBM Plex Sans"/>
                <a:cs typeface="IBM Plex Sans"/>
              </a:defRPr>
            </a:pPr>
            <a:r>
              <a:rPr sz="1950" b="0">
                <a:solidFill>
                  <a:srgbClr val="1D2433"/>
                </a:solidFill>
                <a:latin typeface="IBM Plex Sans"/>
                <a:ea typeface="IBM Plex Sans"/>
                <a:cs typeface="IBM Plex Sans"/>
              </a:rPr>
              <a:t>5–9% observed error</a:t>
            </a:r>
          </a:p>
          <a:p xmlns:a="http://schemas.openxmlformats.org/drawingml/2006/main">
            <a:pPr algn="l">
              <a:defRPr sz="1950" b="0">
                <a:solidFill>
                  <a:srgbClr val="1D2433"/>
                </a:solidFill>
                <a:latin typeface="IBM Plex Sans"/>
                <a:ea typeface="IBM Plex Sans"/>
                <a:cs typeface="IBM Plex Sans"/>
              </a:defRPr>
            </a:pPr>
            <a:r>
              <a:rPr sz="1950" b="0">
                <a:solidFill>
                  <a:srgbClr val="1D2433"/>
                </a:solidFill>
                <a:latin typeface="IBM Plex Sans"/>
                <a:ea typeface="IBM Plex Sans"/>
                <a:cs typeface="IBM Plex Sans"/>
              </a:rPr>
              <a:t>among those calls</a:t>
            </a:r>
          </a:p>
        </p:txBody>
      </p:sp>
      <p:sp>
        <p:nvSpPr>
          <p:cNvPr id="8" name="High / low is relative to the design cohort. These are empir">
            <a:extLst xmlns:a="http://schemas.openxmlformats.org/drawingml/2006/main">
              <a:ext uri="{FF2B5EF4-FFF2-40B4-BE49-F238E27FC236}">
                <a16:creationId xmlns:a16="http://schemas.microsoft.com/office/drawing/2014/main" id="{D3406F10-21EE-4B74-82B5-07200F839D62}"/>
              </a:ext>
            </a:extLst>
          </p:cNvPr>
          <p:cNvSpPr>
            <a:spLocks xmlns:a="http://schemas.openxmlformats.org/drawingml/2006/main" noGrp="1"/>
          </p:cNvSpPr>
          <p:nvPr/>
        </p:nvSpPr>
        <p:spPr>
          <a:xfrm xmlns:a="http://schemas.openxmlformats.org/drawingml/2006/main">
            <a:off x="723900" y="52959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D2433"/>
                </a:solidFill>
                <a:latin typeface="IBM Plex Sans"/>
                <a:ea typeface="IBM Plex Sans"/>
                <a:cs typeface="IBM Plex Sans"/>
              </a:defRPr>
            </a:pPr>
            <a:r>
              <a:rPr sz="2100" b="1">
                <a:solidFill>
                  <a:srgbClr val="1D2433"/>
                </a:solidFill>
                <a:latin typeface="IBM Plex Sans"/>
                <a:ea typeface="IBM Plex Sans"/>
                <a:cs typeface="IBM Plex Sans"/>
              </a:rPr>
              <a:t>High / low is relative to the design cohort. These are empirical selective errors, not clinical guarantees.</a:t>
            </a:r>
          </a:p>
        </p:txBody>
      </p:sp>
      <p:sp>
        <p:nvSpPr>
          <p:cNvPr id="9" name="Matched-rate ranges span base predictors; they are not confi">
            <a:extLst xmlns:a="http://schemas.openxmlformats.org/drawingml/2006/main">
              <a:ext uri="{FF2B5EF4-FFF2-40B4-BE49-F238E27FC236}">
                <a16:creationId xmlns:a16="http://schemas.microsoft.com/office/drawing/2014/main" id="{6BFE71CD-FDF7-4D28-9B54-2644A228B27E}"/>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Matched-rate ranges span base predictors; they are not confidence intervals</a:t>
            </a:r>
          </a:p>
        </p:txBody>
      </p:sp>
      <p:sp>
        <p:nvSpPr>
          <p:cNvPr id="10" name="8 / 9">
            <a:extLst xmlns:a="http://schemas.openxmlformats.org/drawingml/2006/main">
              <a:ext uri="{FF2B5EF4-FFF2-40B4-BE49-F238E27FC236}">
                <a16:creationId xmlns:a16="http://schemas.microsoft.com/office/drawing/2014/main" id="{F8403BB2-7A6E-4A77-85D3-B72699FD9909}"/>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8 / 9</a:t>
            </a:r>
          </a:p>
        </p:txBody>
      </p:sp>
    </p:spTree>
    <p:extLst>
      <p:ext uri="{BB962C8B-B14F-4D97-AF65-F5344CB8AC3E}">
        <p14:creationId xmlns:p14="http://schemas.microsoft.com/office/powerpoint/2010/main" val="1598934648"/>
      </p:ext>
    </p:extLst>
  </p:cSld>
</p:sld>
</file>

<file path=ppt/slides/slide9.xml><?xml version="1.0" encoding="utf-8"?>
<p:sld xmlns:p="http://schemas.openxmlformats.org/presentationml/2006/main">
  <p:cSld>
    <p:bg>
      <p:bgPr>
        <a:solidFill xmlns:a="http://schemas.openxmlformats.org/drawingml/2006/main">
          <a:srgbClr val="14213D"/>
        </a:solidFill>
      </p:bgPr>
    </p:bg>
    <p:spTree>
      <p:nvGrpSpPr>
        <p:cNvPr id="1" name=""/>
        <p:cNvGrpSpPr/>
        <p:nvPr/>
      </p:nvGrpSpPr>
      <p:grpSpPr>
        <a:xfrm xmlns:a="http://schemas.openxmlformats.org/drawingml/2006/main"/>
      </p:grpSpPr>
      <p:sp>
        <p:nvSpPr>
          <p:cNvPr id="10" name="What replicated, and what remained limited">
            <a:extLst xmlns:a="http://schemas.openxmlformats.org/drawingml/2006/main">
              <a:ext uri="{FF2B5EF4-FFF2-40B4-BE49-F238E27FC236}">
                <a16:creationId xmlns:a16="http://schemas.microsoft.com/office/drawing/2014/main" id="{7D34C60A-9E52-47D6-ACED-59512637A4D9}"/>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FFFFFF"/>
                </a:solidFill>
                <a:latin typeface="IBM Plex Sans"/>
                <a:ea typeface="IBM Plex Sans"/>
                <a:cs typeface="IBM Plex Sans"/>
              </a:defRPr>
            </a:pPr>
            <a:r>
              <a:rPr sz="3000" b="1">
                <a:solidFill>
                  <a:srgbClr val="FFFFFF"/>
                </a:solidFill>
                <a:latin typeface="IBM Plex Sans"/>
                <a:ea typeface="IBM Plex Sans"/>
                <a:cs typeface="IBM Plex Sans"/>
              </a:rPr>
              <a:t>What replicated, and what remained limited</a:t>
            </a:r>
          </a:p>
        </p:txBody>
      </p:sp>
      <p:sp>
        <p:nvSpPr>
          <p:cNvPr id="2" name="Replicated">
            <a:extLst xmlns:a="http://schemas.openxmlformats.org/drawingml/2006/main">
              <a:ext uri="{FF2B5EF4-FFF2-40B4-BE49-F238E27FC236}">
                <a16:creationId xmlns:a16="http://schemas.microsoft.com/office/drawing/2014/main" id="{5FEABC22-6817-49BF-B830-0F7D4D975DEE}"/>
              </a:ext>
            </a:extLst>
          </p:cNvPr>
          <p:cNvSpPr>
            <a:spLocks xmlns:a="http://schemas.openxmlformats.org/drawingml/2006/main" noGrp="1"/>
          </p:cNvSpPr>
          <p:nvPr/>
        </p:nvSpPr>
        <p:spPr>
          <a:xfrm xmlns:a="http://schemas.openxmlformats.org/drawingml/2006/main">
            <a:off x="723900" y="16954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9DBEFF"/>
                </a:solidFill>
                <a:latin typeface="IBM Plex Sans"/>
                <a:ea typeface="IBM Plex Sans"/>
                <a:cs typeface="IBM Plex Sans"/>
              </a:defRPr>
            </a:pPr>
            <a:r>
              <a:rPr sz="2175" b="1">
                <a:solidFill>
                  <a:srgbClr val="9DBEFF"/>
                </a:solidFill>
                <a:latin typeface="IBM Plex Sans"/>
                <a:ea typeface="IBM Plex Sans"/>
                <a:cs typeface="IBM Plex Sans"/>
              </a:rPr>
              <a:t>Replicated</a:t>
            </a:r>
          </a:p>
        </p:txBody>
      </p:sp>
      <p:sp>
        <p:nvSpPr>
          <p:cNvPr id="3" name="Participant-block calibration and the interval-efficiency be">
            <a:extLst xmlns:a="http://schemas.openxmlformats.org/drawingml/2006/main">
              <a:ext uri="{FF2B5EF4-FFF2-40B4-BE49-F238E27FC236}">
                <a16:creationId xmlns:a16="http://schemas.microsoft.com/office/drawing/2014/main" id="{6C53D5C5-1BA4-404C-A5DC-70A2BACD309B}"/>
              </a:ext>
            </a:extLst>
          </p:cNvPr>
          <p:cNvSpPr>
            <a:spLocks xmlns:a="http://schemas.openxmlformats.org/drawingml/2006/main" noGrp="1"/>
          </p:cNvSpPr>
          <p:nvPr/>
        </p:nvSpPr>
        <p:spPr>
          <a:xfrm xmlns:a="http://schemas.openxmlformats.org/drawingml/2006/main">
            <a:off x="3943350" y="1695450"/>
            <a:ext cx="72961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Participant-block calibration and the interval-efficiency benefit of measured inputs in both cohorts.</a:t>
            </a:r>
          </a:p>
        </p:txBody>
      </p:sp>
      <p:sp>
        <p:nvSpPr>
          <p:cNvPr id="4" name="Cohort-dependent">
            <a:extLst xmlns:a="http://schemas.openxmlformats.org/drawingml/2006/main">
              <a:ext uri="{FF2B5EF4-FFF2-40B4-BE49-F238E27FC236}">
                <a16:creationId xmlns:a16="http://schemas.microsoft.com/office/drawing/2014/main" id="{862AA9BC-2532-4E66-ABFA-BD708F8810C1}"/>
              </a:ext>
            </a:extLst>
          </p:cNvPr>
          <p:cNvSpPr>
            <a:spLocks xmlns:a="http://schemas.openxmlformats.org/drawingml/2006/main" noGrp="1"/>
          </p:cNvSpPr>
          <p:nvPr/>
        </p:nvSpPr>
        <p:spPr>
          <a:xfrm xmlns:a="http://schemas.openxmlformats.org/drawingml/2006/main">
            <a:off x="723900" y="3000375"/>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9DBEFF"/>
                </a:solidFill>
                <a:latin typeface="IBM Plex Sans"/>
                <a:ea typeface="IBM Plex Sans"/>
                <a:cs typeface="IBM Plex Sans"/>
              </a:defRPr>
            </a:pPr>
            <a:r>
              <a:rPr sz="2175" b="1">
                <a:solidFill>
                  <a:srgbClr val="9DBEFF"/>
                </a:solidFill>
                <a:latin typeface="IBM Plex Sans"/>
                <a:ea typeface="IBM Plex Sans"/>
                <a:cs typeface="IBM Plex Sans"/>
              </a:rPr>
              <a:t>Cohort-dependent</a:t>
            </a:r>
          </a:p>
        </p:txBody>
      </p:sp>
      <p:sp>
        <p:nvSpPr>
          <p:cNvPr id="5" name="Post-hoc correction helped Stephenson, but provided little a">
            <a:extLst xmlns:a="http://schemas.openxmlformats.org/drawingml/2006/main">
              <a:ext uri="{FF2B5EF4-FFF2-40B4-BE49-F238E27FC236}">
                <a16:creationId xmlns:a16="http://schemas.microsoft.com/office/drawing/2014/main" id="{3CD805C4-905F-4C2B-BD1A-A67B53140F19}"/>
              </a:ext>
            </a:extLst>
          </p:cNvPr>
          <p:cNvSpPr>
            <a:spLocks xmlns:a="http://schemas.openxmlformats.org/drawingml/2006/main" noGrp="1"/>
          </p:cNvSpPr>
          <p:nvPr/>
        </p:nvSpPr>
        <p:spPr>
          <a:xfrm xmlns:a="http://schemas.openxmlformats.org/drawingml/2006/main">
            <a:off x="3943350" y="3000375"/>
            <a:ext cx="72961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Post-hoc correction helped Stephenson, but provided little additional benefit in COMBAT.</a:t>
            </a:r>
          </a:p>
        </p:txBody>
      </p:sp>
      <p:sp>
        <p:nvSpPr>
          <p:cNvPr id="6" name="Biological scope">
            <a:extLst xmlns:a="http://schemas.openxmlformats.org/drawingml/2006/main">
              <a:ext uri="{FF2B5EF4-FFF2-40B4-BE49-F238E27FC236}">
                <a16:creationId xmlns:a16="http://schemas.microsoft.com/office/drawing/2014/main" id="{68684857-06D9-4199-81DD-D627537408C2}"/>
              </a:ext>
            </a:extLst>
          </p:cNvPr>
          <p:cNvSpPr>
            <a:spLocks xmlns:a="http://schemas.openxmlformats.org/drawingml/2006/main" noGrp="1"/>
          </p:cNvSpPr>
          <p:nvPr/>
        </p:nvSpPr>
        <p:spPr>
          <a:xfrm xmlns:a="http://schemas.openxmlformats.org/drawingml/2006/main">
            <a:off x="723900" y="430530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9DBEFF"/>
                </a:solidFill>
                <a:latin typeface="IBM Plex Sans"/>
                <a:ea typeface="IBM Plex Sans"/>
                <a:cs typeface="IBM Plex Sans"/>
              </a:defRPr>
            </a:pPr>
            <a:r>
              <a:rPr sz="2175" b="1">
                <a:solidFill>
                  <a:srgbClr val="9DBEFF"/>
                </a:solidFill>
                <a:latin typeface="IBM Plex Sans"/>
                <a:ea typeface="IBM Plex Sans"/>
                <a:cs typeface="IBM Plex Sans"/>
              </a:rPr>
              <a:t>Biological scope</a:t>
            </a:r>
          </a:p>
        </p:txBody>
      </p:sp>
      <p:sp>
        <p:nvSpPr>
          <p:cNvPr id="7" name="Immune-marker calls remained selective. COMBAT supported sub">
            <a:extLst xmlns:a="http://schemas.openxmlformats.org/drawingml/2006/main">
              <a:ext uri="{FF2B5EF4-FFF2-40B4-BE49-F238E27FC236}">
                <a16:creationId xmlns:a16="http://schemas.microsoft.com/office/drawing/2014/main" id="{B79AAEAE-7336-4DF9-9419-B4F14BB2AE26}"/>
              </a:ext>
            </a:extLst>
          </p:cNvPr>
          <p:cNvSpPr>
            <a:spLocks xmlns:a="http://schemas.openxmlformats.org/drawingml/2006/main" noGrp="1"/>
          </p:cNvSpPr>
          <p:nvPr/>
        </p:nvSpPr>
        <p:spPr>
          <a:xfrm xmlns:a="http://schemas.openxmlformats.org/drawingml/2006/main">
            <a:off x="3943350" y="4305300"/>
            <a:ext cx="72961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Immune-marker calls remained selective. COMBAT supported substantially fewer usable calls.</a:t>
            </a:r>
          </a:p>
        </p:txBody>
      </p:sp>
      <p:sp>
        <p:nvSpPr>
          <p:cNvPr id="8" name="Questions · Further comparisons and reproducibility details ">
            <a:extLst xmlns:a="http://schemas.openxmlformats.org/drawingml/2006/main">
              <a:ext uri="{FF2B5EF4-FFF2-40B4-BE49-F238E27FC236}">
                <a16:creationId xmlns:a16="http://schemas.microsoft.com/office/drawing/2014/main" id="{67AA10B3-0A43-45B4-A06C-0E35F0832580}"/>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BCCCE6"/>
                </a:solidFill>
                <a:latin typeface="IBM Plex Sans"/>
                <a:ea typeface="IBM Plex Sans"/>
                <a:cs typeface="IBM Plex Sans"/>
              </a:defRPr>
            </a:pPr>
            <a:r>
              <a:rPr sz="1050" b="0">
                <a:solidFill>
                  <a:srgbClr val="BCCCE6"/>
                </a:solidFill>
                <a:latin typeface="IBM Plex Sans"/>
                <a:ea typeface="IBM Plex Sans"/>
                <a:cs typeface="IBM Plex Sans"/>
              </a:rPr>
              <a:t>Questions · Further comparisons and reproducibility details in backup slides</a:t>
            </a:r>
          </a:p>
        </p:txBody>
      </p:sp>
      <p:sp>
        <p:nvSpPr>
          <p:cNvPr id="9" name="9 / 9">
            <a:extLst xmlns:a="http://schemas.openxmlformats.org/drawingml/2006/main">
              <a:ext uri="{FF2B5EF4-FFF2-40B4-BE49-F238E27FC236}">
                <a16:creationId xmlns:a16="http://schemas.microsoft.com/office/drawing/2014/main" id="{66CE5F8D-5248-4A80-8C4D-1FFAAF6A1742}"/>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BCCCE6"/>
                </a:solidFill>
                <a:latin typeface="IBM Plex Sans"/>
                <a:ea typeface="IBM Plex Sans"/>
                <a:cs typeface="IBM Plex Sans"/>
              </a:defRPr>
            </a:pPr>
            <a:r>
              <a:rPr sz="1050" b="0">
                <a:solidFill>
                  <a:srgbClr val="BCCCE6"/>
                </a:solidFill>
                <a:latin typeface="IBM Plex Sans"/>
                <a:ea typeface="IBM Plex Sans"/>
                <a:cs typeface="IBM Plex Sans"/>
              </a:rPr>
              <a:t>9 / 9</a:t>
            </a:r>
          </a:p>
        </p:txBody>
      </p:sp>
    </p:spTree>
    <p:extLst>
      <p:ext uri="{BB962C8B-B14F-4D97-AF65-F5344CB8AC3E}">
        <p14:creationId xmlns:p14="http://schemas.microsoft.com/office/powerpoint/2010/main" val="1467218639"/>
      </p:ext>
    </p:extLst>
  </p:cSld>
</p:sld>
</file>

<file path=ppt/slides/slide1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Backup: the participant-block guarantee">
            <a:extLst xmlns:a="http://schemas.openxmlformats.org/drawingml/2006/main">
              <a:ext uri="{FF2B5EF4-FFF2-40B4-BE49-F238E27FC236}">
                <a16:creationId xmlns:a16="http://schemas.microsoft.com/office/drawing/2014/main" id="{E5AD73E1-31BD-4C09-BF96-288FB6FCBE50}"/>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D2433"/>
                </a:solidFill>
                <a:latin typeface="IBM Plex Sans"/>
                <a:ea typeface="IBM Plex Sans"/>
                <a:cs typeface="IBM Plex Sans"/>
              </a:defRPr>
            </a:pPr>
            <a:r>
              <a:rPr sz="3000" b="1">
                <a:solidFill>
                  <a:srgbClr val="1D2433"/>
                </a:solidFill>
                <a:latin typeface="IBM Plex Sans"/>
                <a:ea typeface="IBM Plex Sans"/>
                <a:cs typeface="IBM Plex Sans"/>
              </a:rPr>
              <a:t>Backup: the participant-block guarantee</a:t>
            </a:r>
          </a:p>
        </p:txBody>
      </p:sp>
      <p:sp>
        <p:nvSpPr>
          <p:cNvPr id="2" name="1. Within each participant, take the score needed to cover 9">
            <a:extLst xmlns:a="http://schemas.openxmlformats.org/drawingml/2006/main">
              <a:ext uri="{FF2B5EF4-FFF2-40B4-BE49-F238E27FC236}">
                <a16:creationId xmlns:a16="http://schemas.microsoft.com/office/drawing/2014/main" id="{3769777B-E765-468E-990B-C12EAA88DA8C}"/>
              </a:ext>
            </a:extLst>
          </p:cNvPr>
          <p:cNvSpPr>
            <a:spLocks xmlns:a="http://schemas.openxmlformats.org/drawingml/2006/main" noGrp="1"/>
          </p:cNvSpPr>
          <p:nvPr/>
        </p:nvSpPr>
        <p:spPr>
          <a:xfrm xmlns:a="http://schemas.openxmlformats.org/drawingml/2006/main">
            <a:off x="723900" y="149542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D2433"/>
                </a:solidFill>
                <a:latin typeface="IBM Plex Sans"/>
                <a:ea typeface="IBM Plex Sans"/>
                <a:cs typeface="IBM Plex Sans"/>
              </a:defRPr>
            </a:pPr>
            <a:r>
              <a:rPr sz="2250" b="0">
                <a:solidFill>
                  <a:srgbClr val="1D2433"/>
                </a:solidFill>
                <a:latin typeface="IBM Plex Sans"/>
                <a:ea typeface="IBM Plex Sans"/>
                <a:cs typeface="IBM Plex Sans"/>
              </a:rPr>
              <a:t>1. Within each participant, take the score needed to cover 90% of evaluated cells.</a:t>
            </a:r>
          </a:p>
        </p:txBody>
      </p:sp>
      <p:sp>
        <p:nvSpPr>
          <p:cNvPr id="3" name="2. Across 15 calibration participants, take the 13th smalles">
            <a:extLst xmlns:a="http://schemas.openxmlformats.org/drawingml/2006/main">
              <a:ext uri="{FF2B5EF4-FFF2-40B4-BE49-F238E27FC236}">
                <a16:creationId xmlns:a16="http://schemas.microsoft.com/office/drawing/2014/main" id="{0D0466FA-A642-48A9-85CD-9E712266074E}"/>
              </a:ext>
            </a:extLst>
          </p:cNvPr>
          <p:cNvSpPr>
            <a:spLocks xmlns:a="http://schemas.openxmlformats.org/drawingml/2006/main" noGrp="1"/>
          </p:cNvSpPr>
          <p:nvPr/>
        </p:nvSpPr>
        <p:spPr>
          <a:xfrm xmlns:a="http://schemas.openxmlformats.org/drawingml/2006/main">
            <a:off x="723900" y="261937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D2433"/>
                </a:solidFill>
                <a:latin typeface="IBM Plex Sans"/>
                <a:ea typeface="IBM Plex Sans"/>
                <a:cs typeface="IBM Plex Sans"/>
              </a:defRPr>
            </a:pPr>
            <a:r>
              <a:rPr sz="2250" b="0">
                <a:solidFill>
                  <a:srgbClr val="1D2433"/>
                </a:solidFill>
                <a:latin typeface="IBM Plex Sans"/>
                <a:ea typeface="IBM Plex Sans"/>
                <a:cs typeface="IBM Plex Sans"/>
              </a:rPr>
              <a:t>2. Across 15 calibration participants, take the 13th smallest participant score.</a:t>
            </a:r>
          </a:p>
        </p:txBody>
      </p:sp>
      <p:sp>
        <p:nvSpPr>
          <p:cNvPr id="4" name="">
            <a:extLst xmlns:a="http://schemas.openxmlformats.org/drawingml/2006/main">
              <a:ext uri="{FF2B5EF4-FFF2-40B4-BE49-F238E27FC236}">
                <a16:creationId xmlns:a16="http://schemas.microsoft.com/office/drawing/2014/main" id="{9D20CE5A-9EDE-47E1-82EB-C9847CB0BEDE}"/>
              </a:ext>
            </a:extLst>
          </p:cNvPr>
          <p:cNvSpPr>
            <a:spLocks xmlns:a="http://schemas.openxmlformats.org/drawingml/2006/main" noGrp="1"/>
          </p:cNvSpPr>
          <p:nvPr/>
        </p:nvSpPr>
        <p:spPr>
          <a:xfrm xmlns:a="http://schemas.openxmlformats.org/drawingml/2006/main">
            <a:off x="723900" y="3695700"/>
            <a:ext cx="10610850" cy="1190625"/>
          </a:xfrm>
          <a:prstGeom xmlns:a="http://schemas.openxmlformats.org/drawingml/2006/main" prst="roundRect">
            <a:avLst>
              <a:gd name="adj" fmla="val 9600"/>
            </a:avLst>
          </a:prstGeom>
          <a:solidFill xmlns:a="http://schemas.openxmlformats.org/drawingml/2006/main">
            <a:srgbClr val="EDF2FF"/>
          </a:solidFill>
          <a:ln xmlns:a="http://schemas.openxmlformats.org/drawingml/2006/main" w="7620">
            <a:solidFill>
              <a:srgbClr val="D8DFEA"/>
            </a:solidFill>
          </a:ln>
        </p:spPr>
      </p:sp>
      <p:sp>
        <p:nvSpPr>
          <p:cNvPr id="5" name="P(new-participant empirical coverage ≥ 90%) ≥ 13/16">
            <a:extLst xmlns:a="http://schemas.openxmlformats.org/drawingml/2006/main">
              <a:ext uri="{FF2B5EF4-FFF2-40B4-BE49-F238E27FC236}">
                <a16:creationId xmlns:a16="http://schemas.microsoft.com/office/drawing/2014/main" id="{E76D22ED-4608-4FAD-9DD3-3E22A8CB5453}"/>
              </a:ext>
            </a:extLst>
          </p:cNvPr>
          <p:cNvSpPr>
            <a:spLocks xmlns:a="http://schemas.openxmlformats.org/drawingml/2006/main" noGrp="1"/>
          </p:cNvSpPr>
          <p:nvPr/>
        </p:nvSpPr>
        <p:spPr>
          <a:xfrm xmlns:a="http://schemas.openxmlformats.org/drawingml/2006/main">
            <a:off x="914400" y="4010025"/>
            <a:ext cx="10153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1">
                <a:solidFill>
                  <a:srgbClr val="245EFF"/>
                </a:solidFill>
                <a:latin typeface="IBM Plex Sans"/>
                <a:ea typeface="IBM Plex Sans"/>
                <a:cs typeface="IBM Plex Sans"/>
              </a:defRPr>
            </a:pPr>
            <a:r>
              <a:rPr sz="2475" b="1">
                <a:solidFill>
                  <a:srgbClr val="245EFF"/>
                </a:solidFill>
                <a:latin typeface="IBM Plex Sans"/>
                <a:ea typeface="IBM Plex Sans"/>
                <a:cs typeface="IBM Plex Sans"/>
              </a:rPr>
              <a:t>P(new-participant empirical coverage ≥ 90%) ≥ 13/16</a:t>
            </a:r>
          </a:p>
        </p:txBody>
      </p:sp>
      <p:sp>
        <p:nvSpPr>
          <p:cNvPr id="6" name="Per protein; exchangeable participant blocks; design choices">
            <a:extLst xmlns:a="http://schemas.openxmlformats.org/drawingml/2006/main">
              <a:ext uri="{FF2B5EF4-FFF2-40B4-BE49-F238E27FC236}">
                <a16:creationId xmlns:a16="http://schemas.microsoft.com/office/drawing/2014/main" id="{60E95D77-BA2C-4748-AE79-7507F634A4F7}"/>
              </a:ext>
            </a:extLst>
          </p:cNvPr>
          <p:cNvSpPr>
            <a:spLocks xmlns:a="http://schemas.openxmlformats.org/drawingml/2006/main" noGrp="1"/>
          </p:cNvSpPr>
          <p:nvPr/>
        </p:nvSpPr>
        <p:spPr>
          <a:xfrm xmlns:a="http://schemas.openxmlformats.org/drawingml/2006/main">
            <a:off x="723900" y="521970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D2433"/>
                </a:solidFill>
                <a:latin typeface="IBM Plex Sans"/>
                <a:ea typeface="IBM Plex Sans"/>
                <a:cs typeface="IBM Plex Sans"/>
              </a:defRPr>
            </a:pPr>
            <a:r>
              <a:rPr sz="1950" b="0">
                <a:solidFill>
                  <a:srgbClr val="1D2433"/>
                </a:solidFill>
                <a:latin typeface="IBM Plex Sans"/>
                <a:ea typeface="IBM Plex Sans"/>
                <a:cs typeface="IBM Plex Sans"/>
              </a:rPr>
              <a:t>Per protein; exchangeable participant blocks; design choices fixed before calibration. The bound is marginal and is not simultaneous across proteins.</a:t>
            </a:r>
          </a:p>
        </p:txBody>
      </p:sp>
      <p:sp>
        <p:nvSpPr>
          <p:cNvPr id="7" name="Adaptation of the conformal rank argument; details and limit">
            <a:extLst xmlns:a="http://schemas.openxmlformats.org/drawingml/2006/main">
              <a:ext uri="{FF2B5EF4-FFF2-40B4-BE49-F238E27FC236}">
                <a16:creationId xmlns:a16="http://schemas.microsoft.com/office/drawing/2014/main" id="{409DF33B-CD4A-432D-A7EB-016D9D12D070}"/>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Adaptation of the conformal rank argument; details and limitations in the report</a:t>
            </a:r>
          </a:p>
        </p:txBody>
      </p:sp>
      <p:sp>
        <p:nvSpPr>
          <p:cNvPr id="8" name="Backup 1">
            <a:extLst xmlns:a="http://schemas.openxmlformats.org/drawingml/2006/main">
              <a:ext uri="{FF2B5EF4-FFF2-40B4-BE49-F238E27FC236}">
                <a16:creationId xmlns:a16="http://schemas.microsoft.com/office/drawing/2014/main" id="{5CB73FA4-9AF3-4CC7-A215-80C59DEBAB0A}"/>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Backup 1</a:t>
            </a:r>
          </a:p>
        </p:txBody>
      </p:sp>
    </p:spTree>
    <p:extLst>
      <p:ext uri="{BB962C8B-B14F-4D97-AF65-F5344CB8AC3E}">
        <p14:creationId xmlns:p14="http://schemas.microsoft.com/office/powerpoint/2010/main" val="93556251"/>
      </p:ext>
    </p:extLst>
  </p:cSld>
</p:sld>
</file>

<file path=ppt/slides/slide1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8" name="Backup: totalVI risk–coverage curve">
            <a:extLst xmlns:a="http://schemas.openxmlformats.org/drawingml/2006/main">
              <a:ext uri="{FF2B5EF4-FFF2-40B4-BE49-F238E27FC236}">
                <a16:creationId xmlns:a16="http://schemas.microsoft.com/office/drawing/2014/main" id="{8E0BCAE0-70FC-4117-9E6F-E465B066D0E5}"/>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D2433"/>
                </a:solidFill>
                <a:latin typeface="IBM Plex Sans"/>
                <a:ea typeface="IBM Plex Sans"/>
                <a:cs typeface="IBM Plex Sans"/>
              </a:defRPr>
            </a:pPr>
            <a:r>
              <a:rPr sz="3000" b="1">
                <a:solidFill>
                  <a:srgbClr val="1D2433"/>
                </a:solidFill>
                <a:latin typeface="IBM Plex Sans"/>
                <a:ea typeface="IBM Plex Sans"/>
                <a:cs typeface="IBM Plex Sans"/>
              </a:rPr>
              <a:t>Backup: totalVI risk–coverage curve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1d81fe925ca4439"/>
          <a:stretch xmlns:a="http://schemas.openxmlformats.org/drawingml/2006/main"/>
        </p:blipFill>
        <p:spPr>
          <a:xfrm xmlns:a="http://schemas.openxmlformats.org/drawingml/2006/main">
            <a:off x="1648355" y="1438275"/>
            <a:ext cx="5104340" cy="4181475"/>
          </a:xfrm>
          <a:prstGeom xmlns:a="http://schemas.openxmlformats.org/drawingml/2006/main" prst="rect">
            <a:avLst/>
          </a:prstGeom>
        </p:spPr>
      </p:pic>
      <p:sp>
        <p:nvSpPr>
          <p:cNvPr id="3" name="Each method chooses which decisions to call.">
            <a:extLst xmlns:a="http://schemas.openxmlformats.org/drawingml/2006/main">
              <a:ext uri="{FF2B5EF4-FFF2-40B4-BE49-F238E27FC236}">
                <a16:creationId xmlns:a16="http://schemas.microsoft.com/office/drawing/2014/main" id="{BA07078D-1C77-4521-84CE-8777308461F5}"/>
              </a:ext>
            </a:extLst>
          </p:cNvPr>
          <p:cNvSpPr>
            <a:spLocks xmlns:a="http://schemas.openxmlformats.org/drawingml/2006/main" noGrp="1"/>
          </p:cNvSpPr>
          <p:nvPr/>
        </p:nvSpPr>
        <p:spPr>
          <a:xfrm xmlns:a="http://schemas.openxmlformats.org/drawingml/2006/main">
            <a:off x="8010525" y="1857375"/>
            <a:ext cx="34766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D2433"/>
                </a:solidFill>
                <a:latin typeface="IBM Plex Sans"/>
                <a:ea typeface="IBM Plex Sans"/>
                <a:cs typeface="IBM Plex Sans"/>
              </a:defRPr>
            </a:pPr>
            <a:r>
              <a:rPr sz="2100" b="1">
                <a:solidFill>
                  <a:srgbClr val="1D2433"/>
                </a:solidFill>
                <a:latin typeface="IBM Plex Sans"/>
                <a:ea typeface="IBM Plex Sans"/>
                <a:cs typeface="IBM Plex Sans"/>
              </a:rPr>
              <a:t>Each method chooses which decisions to call.</a:t>
            </a:r>
          </a:p>
        </p:txBody>
      </p:sp>
      <p:sp>
        <p:nvSpPr>
          <p:cNvPr id="4" name="Compare errors at a fixed horizontal position, so every meth">
            <a:extLst xmlns:a="http://schemas.openxmlformats.org/drawingml/2006/main">
              <a:ext uri="{FF2B5EF4-FFF2-40B4-BE49-F238E27FC236}">
                <a16:creationId xmlns:a16="http://schemas.microsoft.com/office/drawing/2014/main" id="{1A1FC05D-FE7D-4B4F-8077-60929925183C}"/>
              </a:ext>
            </a:extLst>
          </p:cNvPr>
          <p:cNvSpPr>
            <a:spLocks xmlns:a="http://schemas.openxmlformats.org/drawingml/2006/main" noGrp="1"/>
          </p:cNvSpPr>
          <p:nvPr/>
        </p:nvSpPr>
        <p:spPr>
          <a:xfrm xmlns:a="http://schemas.openxmlformats.org/drawingml/2006/main">
            <a:off x="8010525" y="3343275"/>
            <a:ext cx="33337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D2433"/>
                </a:solidFill>
                <a:latin typeface="IBM Plex Sans"/>
                <a:ea typeface="IBM Plex Sans"/>
                <a:cs typeface="IBM Plex Sans"/>
              </a:defRPr>
            </a:pPr>
            <a:r>
              <a:rPr sz="1950" b="0">
                <a:solidFill>
                  <a:srgbClr val="1D2433"/>
                </a:solidFill>
                <a:latin typeface="IBM Plex Sans"/>
                <a:ea typeface="IBM Plex Sans"/>
                <a:cs typeface="IBM Plex Sans"/>
              </a:rPr>
              <a:t>Compare errors at a fixed horizontal position, so every method makes the same fraction of calls.</a:t>
            </a:r>
          </a:p>
        </p:txBody>
      </p:sp>
      <p:sp>
        <p:nvSpPr>
          <p:cNvPr id="5" name="Blue: ProteoGuard   Cyan: corrected point prediction&#10;Green: ">
            <a:extLst xmlns:a="http://schemas.openxmlformats.org/drawingml/2006/main">
              <a:ext uri="{FF2B5EF4-FFF2-40B4-BE49-F238E27FC236}">
                <a16:creationId xmlns:a16="http://schemas.microsoft.com/office/drawing/2014/main" id="{627AAEB5-37C4-4931-B88B-952B40D6B984}"/>
              </a:ext>
            </a:extLst>
          </p:cNvPr>
          <p:cNvSpPr>
            <a:spLocks xmlns:a="http://schemas.openxmlformats.org/drawingml/2006/main" noGrp="1"/>
          </p:cNvSpPr>
          <p:nvPr/>
        </p:nvSpPr>
        <p:spPr>
          <a:xfrm xmlns:a="http://schemas.openxmlformats.org/drawingml/2006/main">
            <a:off x="723900" y="5629275"/>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36178"/>
                </a:solidFill>
                <a:latin typeface="IBM Plex Sans"/>
                <a:ea typeface="IBM Plex Sans"/>
                <a:cs typeface="IBM Plex Sans"/>
              </a:defRPr>
            </a:pPr>
            <a:r>
              <a:rPr sz="1500" b="0">
                <a:solidFill>
                  <a:srgbClr val="536178"/>
                </a:solidFill>
                <a:latin typeface="IBM Plex Sans"/>
                <a:ea typeface="IBM Plex Sans"/>
                <a:cs typeface="IBM Plex Sans"/>
              </a:rPr>
              <a:t>Blue: ProteoGuard   Cyan: corrected point prediction</a:t>
            </a:r>
          </a:p>
          <a:p xmlns:a="http://schemas.openxmlformats.org/drawingml/2006/main">
            <a:pPr algn="l">
              <a:defRPr sz="1500" b="0">
                <a:solidFill>
                  <a:srgbClr val="536178"/>
                </a:solidFill>
                <a:latin typeface="IBM Plex Sans"/>
                <a:ea typeface="IBM Plex Sans"/>
                <a:cs typeface="IBM Plex Sans"/>
              </a:defRPr>
            </a:pPr>
            <a:r>
              <a:rPr sz="1500" b="0">
                <a:solidFill>
                  <a:srgbClr val="536178"/>
                </a:solidFill>
                <a:latin typeface="IBM Plex Sans"/>
                <a:ea typeface="IBM Plex Sans"/>
                <a:cs typeface="IBM Plex Sans"/>
              </a:rPr>
              <a:t>Green: block, no anchors   Orange: threshold distance   Grey: random</a:t>
            </a:r>
          </a:p>
        </p:txBody>
      </p:sp>
      <p:sp>
        <p:nvSpPr>
          <p:cNvPr id="6" name="Original figure from supplied deck; no curve values digitize">
            <a:extLst xmlns:a="http://schemas.openxmlformats.org/drawingml/2006/main">
              <a:ext uri="{FF2B5EF4-FFF2-40B4-BE49-F238E27FC236}">
                <a16:creationId xmlns:a16="http://schemas.microsoft.com/office/drawing/2014/main" id="{90BB8090-4225-4F3A-A98F-DC40667084BA}"/>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Original figure from supplied deck; no curve values digitized or regenerated</a:t>
            </a:r>
          </a:p>
        </p:txBody>
      </p:sp>
      <p:sp>
        <p:nvSpPr>
          <p:cNvPr id="7" name="Backup 2">
            <a:extLst xmlns:a="http://schemas.openxmlformats.org/drawingml/2006/main">
              <a:ext uri="{FF2B5EF4-FFF2-40B4-BE49-F238E27FC236}">
                <a16:creationId xmlns:a16="http://schemas.microsoft.com/office/drawing/2014/main" id="{7E7EC2FF-2072-4C75-9D57-BB5CF1F746D8}"/>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Backup 2</a:t>
            </a:r>
          </a:p>
        </p:txBody>
      </p:sp>
    </p:spTree>
    <p:extLst>
      <p:ext uri="{BB962C8B-B14F-4D97-AF65-F5344CB8AC3E}">
        <p14:creationId xmlns:p14="http://schemas.microsoft.com/office/powerpoint/2010/main" val="108098985"/>
      </p:ext>
    </p:extLst>
  </p:cSld>
</p:sld>
</file>

<file path=ppt/slides/slide1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6" name="Backup: COMBAT processing-pool association">
            <a:extLst xmlns:a="http://schemas.openxmlformats.org/drawingml/2006/main">
              <a:ext uri="{FF2B5EF4-FFF2-40B4-BE49-F238E27FC236}">
                <a16:creationId xmlns:a16="http://schemas.microsoft.com/office/drawing/2014/main" id="{53E191B8-735C-4D6C-B6A6-F816FAA588AE}"/>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D2433"/>
                </a:solidFill>
                <a:latin typeface="IBM Plex Sans"/>
                <a:ea typeface="IBM Plex Sans"/>
                <a:cs typeface="IBM Plex Sans"/>
              </a:defRPr>
            </a:pPr>
            <a:r>
              <a:rPr sz="3000" b="1">
                <a:solidFill>
                  <a:srgbClr val="1D2433"/>
                </a:solidFill>
                <a:latin typeface="IBM Plex Sans"/>
                <a:ea typeface="IBM Plex Sans"/>
                <a:cs typeface="IBM Plex Sans"/>
              </a:rPr>
              <a:t>Backup: COMBAT processing-pool association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d4ca535121e4fb3"/>
          <a:stretch xmlns:a="http://schemas.openxmlformats.org/drawingml/2006/main"/>
        </p:blipFill>
        <p:spPr>
          <a:xfrm xmlns:a="http://schemas.openxmlformats.org/drawingml/2006/main">
            <a:off x="723900" y="1690463"/>
            <a:ext cx="10744200" cy="2962725"/>
          </a:xfrm>
          <a:prstGeom xmlns:a="http://schemas.openxmlformats.org/drawingml/2006/main" prst="rect">
            <a:avLst/>
          </a:prstGeom>
        </p:spPr>
      </p:pic>
      <p:sp>
        <p:nvSpPr>
          <p:cNvPr id="3" name="Processing-pool association supports a technical contributio">
            <a:extLst xmlns:a="http://schemas.openxmlformats.org/drawingml/2006/main">
              <a:ext uri="{FF2B5EF4-FFF2-40B4-BE49-F238E27FC236}">
                <a16:creationId xmlns:a16="http://schemas.microsoft.com/office/drawing/2014/main" id="{CC894AF8-F286-42BD-8C4A-85DA7C043430}"/>
              </a:ext>
            </a:extLst>
          </p:cNvPr>
          <p:cNvSpPr>
            <a:spLocks xmlns:a="http://schemas.openxmlformats.org/drawingml/2006/main" noGrp="1"/>
          </p:cNvSpPr>
          <p:nvPr/>
        </p:nvSpPr>
        <p:spPr>
          <a:xfrm xmlns:a="http://schemas.openxmlformats.org/drawingml/2006/main">
            <a:off x="723900" y="5191125"/>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D2433"/>
                </a:solidFill>
                <a:latin typeface="IBM Plex Sans"/>
                <a:ea typeface="IBM Plex Sans"/>
                <a:cs typeface="IBM Plex Sans"/>
              </a:defRPr>
            </a:pPr>
            <a:r>
              <a:rPr sz="2175" b="1">
                <a:solidFill>
                  <a:srgbClr val="1D2433"/>
                </a:solidFill>
                <a:latin typeface="IBM Plex Sans"/>
                <a:ea typeface="IBM Plex Sans"/>
                <a:cs typeface="IBM Plex Sans"/>
              </a:rPr>
              <a:t>Processing-pool association supports a technical contribution. It does not exclude biology or demonstrate transfer to new pools.</a:t>
            </a:r>
          </a:p>
        </p:txBody>
      </p:sp>
      <p:sp>
        <p:nvSpPr>
          <p:cNvPr id="4" name="COMBAT: 122 participants, 10 pools. Random participant split">
            <a:extLst xmlns:a="http://schemas.openxmlformats.org/drawingml/2006/main">
              <a:ext uri="{FF2B5EF4-FFF2-40B4-BE49-F238E27FC236}">
                <a16:creationId xmlns:a16="http://schemas.microsoft.com/office/drawing/2014/main" id="{AA203F6E-1326-43E5-82B9-36D90E081492}"/>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COMBAT: 122 participants, 10 pools. Random participant splits represent existing environments.</a:t>
            </a:r>
          </a:p>
        </p:txBody>
      </p:sp>
      <p:sp>
        <p:nvSpPr>
          <p:cNvPr id="5" name="Backup 3">
            <a:extLst xmlns:a="http://schemas.openxmlformats.org/drawingml/2006/main">
              <a:ext uri="{FF2B5EF4-FFF2-40B4-BE49-F238E27FC236}">
                <a16:creationId xmlns:a16="http://schemas.microsoft.com/office/drawing/2014/main" id="{2AB24367-4078-4E3E-89BD-B9BA2B1E1D65}"/>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Backup 3</a:t>
            </a:r>
          </a:p>
        </p:txBody>
      </p:sp>
    </p:spTree>
    <p:extLst>
      <p:ext uri="{BB962C8B-B14F-4D97-AF65-F5344CB8AC3E}">
        <p14:creationId xmlns:p14="http://schemas.microsoft.com/office/powerpoint/2010/main" val="2115269370"/>
      </p:ext>
    </p:extLst>
  </p:cSld>
</p:sld>
</file>

<file path=ppt/slides/slide1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9" name="Backup: unfinished comparisons and reproducibility">
            <a:extLst xmlns:a="http://schemas.openxmlformats.org/drawingml/2006/main">
              <a:ext uri="{FF2B5EF4-FFF2-40B4-BE49-F238E27FC236}">
                <a16:creationId xmlns:a16="http://schemas.microsoft.com/office/drawing/2014/main" id="{ADE982E3-BB63-4C8B-A4C7-2BAE865C8631}"/>
              </a:ext>
            </a:extLst>
          </p:cNvPr>
          <p:cNvSpPr>
            <a:spLocks xmlns:a="http://schemas.openxmlformats.org/drawingml/2006/main" noGrp="1"/>
          </p:cNvSpPr>
          <p:nvPr/>
        </p:nvSpPr>
        <p:spPr>
          <a:xfrm xmlns:a="http://schemas.openxmlformats.org/drawingml/2006/main">
            <a:off x="685800" y="4381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D2433"/>
                </a:solidFill>
                <a:latin typeface="IBM Plex Sans"/>
                <a:ea typeface="IBM Plex Sans"/>
                <a:cs typeface="IBM Plex Sans"/>
              </a:defRPr>
            </a:pPr>
            <a:r>
              <a:rPr sz="3000" b="1">
                <a:solidFill>
                  <a:srgbClr val="1D2433"/>
                </a:solidFill>
                <a:latin typeface="IBM Plex Sans"/>
                <a:ea typeface="IBM Plex Sans"/>
                <a:cs typeface="IBM Plex Sans"/>
              </a:rPr>
              <a:t>Backup: unfinished comparisons and reproducibility</a:t>
            </a:r>
          </a:p>
        </p:txBody>
      </p:sp>
      <p:sp>
        <p:nvSpPr>
          <p:cNvPr id="2" name="scVAEIT remains preliminary">
            <a:extLst xmlns:a="http://schemas.openxmlformats.org/drawingml/2006/main">
              <a:ext uri="{FF2B5EF4-FFF2-40B4-BE49-F238E27FC236}">
                <a16:creationId xmlns:a16="http://schemas.microsoft.com/office/drawing/2014/main" id="{98AF4417-1E38-45E2-B609-F1C40CF83EAD}"/>
              </a:ext>
            </a:extLst>
          </p:cNvPr>
          <p:cNvSpPr>
            <a:spLocks xmlns:a="http://schemas.openxmlformats.org/drawingml/2006/main" noGrp="1"/>
          </p:cNvSpPr>
          <p:nvPr/>
        </p:nvSpPr>
        <p:spPr>
          <a:xfrm xmlns:a="http://schemas.openxmlformats.org/drawingml/2006/main">
            <a:off x="723900" y="157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45EFF"/>
                </a:solidFill>
                <a:latin typeface="IBM Plex Sans"/>
                <a:ea typeface="IBM Plex Sans"/>
                <a:cs typeface="IBM Plex Sans"/>
              </a:defRPr>
            </a:pPr>
            <a:r>
              <a:rPr sz="2250" b="1">
                <a:solidFill>
                  <a:srgbClr val="245EFF"/>
                </a:solidFill>
                <a:latin typeface="IBM Plex Sans"/>
                <a:ea typeface="IBM Plex Sans"/>
                <a:cs typeface="IBM Plex Sans"/>
              </a:rPr>
              <a:t>scVAEIT remains preliminary</a:t>
            </a:r>
          </a:p>
        </p:txBody>
      </p:sp>
      <p:sp>
        <p:nvSpPr>
          <p:cNvPr id="3" name="Verify the same inputs, target scale, and convergence before">
            <a:extLst xmlns:a="http://schemas.openxmlformats.org/drawingml/2006/main">
              <a:ext uri="{FF2B5EF4-FFF2-40B4-BE49-F238E27FC236}">
                <a16:creationId xmlns:a16="http://schemas.microsoft.com/office/drawing/2014/main" id="{E118AF63-6D1D-4713-9C12-25453000F290}"/>
              </a:ext>
            </a:extLst>
          </p:cNvPr>
          <p:cNvSpPr>
            <a:spLocks xmlns:a="http://schemas.openxmlformats.org/drawingml/2006/main" noGrp="1"/>
          </p:cNvSpPr>
          <p:nvPr/>
        </p:nvSpPr>
        <p:spPr>
          <a:xfrm xmlns:a="http://schemas.openxmlformats.org/drawingml/2006/main">
            <a:off x="723900" y="214312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D2433"/>
                </a:solidFill>
                <a:latin typeface="IBM Plex Sans"/>
                <a:ea typeface="IBM Plex Sans"/>
                <a:cs typeface="IBM Plex Sans"/>
              </a:defRPr>
            </a:pPr>
            <a:r>
              <a:rPr sz="2025" b="0">
                <a:solidFill>
                  <a:srgbClr val="1D2433"/>
                </a:solidFill>
                <a:latin typeface="IBM Plex Sans"/>
                <a:ea typeface="IBM Plex Sans"/>
                <a:cs typeface="IBM Plex Sans"/>
              </a:rPr>
              <a:t>Verify the same inputs, target scale, and convergence before comparing completed models. The supplied longer run has no final result here.</a:t>
            </a:r>
          </a:p>
        </p:txBody>
      </p:sp>
      <p:sp>
        <p:nvSpPr>
          <p:cNvPr id="4" name="Repository fixes + eight CPU tests">
            <a:extLst xmlns:a="http://schemas.openxmlformats.org/drawingml/2006/main">
              <a:ext uri="{FF2B5EF4-FFF2-40B4-BE49-F238E27FC236}">
                <a16:creationId xmlns:a16="http://schemas.microsoft.com/office/drawing/2014/main" id="{46503982-76EE-46CE-8D1E-6242721B45BB}"/>
              </a:ext>
            </a:extLst>
          </p:cNvPr>
          <p:cNvSpPr>
            <a:spLocks xmlns:a="http://schemas.openxmlformats.org/drawingml/2006/main" noGrp="1"/>
          </p:cNvSpPr>
          <p:nvPr/>
        </p:nvSpPr>
        <p:spPr>
          <a:xfrm xmlns:a="http://schemas.openxmlformats.org/drawingml/2006/main">
            <a:off x="723900" y="34480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45EFF"/>
                </a:solidFill>
                <a:latin typeface="IBM Plex Sans"/>
                <a:ea typeface="IBM Plex Sans"/>
                <a:cs typeface="IBM Plex Sans"/>
              </a:defRPr>
            </a:pPr>
            <a:r>
              <a:rPr sz="2250" b="1">
                <a:solidFill>
                  <a:srgbClr val="245EFF"/>
                </a:solidFill>
                <a:latin typeface="IBM Plex Sans"/>
                <a:ea typeface="IBM Plex Sans"/>
                <a:cs typeface="IBM Plex Sans"/>
              </a:rPr>
              <a:t>Repository fixes + eight CPU tests</a:t>
            </a:r>
          </a:p>
        </p:txBody>
      </p:sp>
      <p:sp>
        <p:nvSpPr>
          <p:cNvPr id="5" name="Seeds, paths, pipeline ordering, and the budget plot are fix">
            <a:extLst xmlns:a="http://schemas.openxmlformats.org/drawingml/2006/main">
              <a:ext uri="{FF2B5EF4-FFF2-40B4-BE49-F238E27FC236}">
                <a16:creationId xmlns:a16="http://schemas.microsoft.com/office/drawing/2014/main" id="{AFCF5029-F97A-45F8-B18F-7D6C98897D13}"/>
              </a:ext>
            </a:extLst>
          </p:cNvPr>
          <p:cNvSpPr>
            <a:spLocks xmlns:a="http://schemas.openxmlformats.org/drawingml/2006/main" noGrp="1"/>
          </p:cNvSpPr>
          <p:nvPr/>
        </p:nvSpPr>
        <p:spPr>
          <a:xfrm xmlns:a="http://schemas.openxmlformats.org/drawingml/2006/main">
            <a:off x="723900" y="401955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D2433"/>
                </a:solidFill>
                <a:latin typeface="IBM Plex Sans"/>
                <a:ea typeface="IBM Plex Sans"/>
                <a:cs typeface="IBM Plex Sans"/>
              </a:defRPr>
            </a:pPr>
            <a:r>
              <a:rPr sz="2025" b="0">
                <a:solidFill>
                  <a:srgbClr val="1D2433"/>
                </a:solidFill>
                <a:latin typeface="IBM Plex Sans"/>
                <a:ea typeface="IBM Plex Sans"/>
                <a:cs typeface="IBM Plex Sans"/>
              </a:rPr>
              <a:t>Seeds, paths, pipeline ordering, and the budget plot are fixed. Exact source preparation, result manifests, and the server environment still need verification.</a:t>
            </a:r>
          </a:p>
        </p:txBody>
      </p:sp>
      <p:sp>
        <p:nvSpPr>
          <p:cNvPr id="6" name="Code and documents: github.com/nazirad19/proteoguard​&#10;No coh">
            <a:extLst xmlns:a="http://schemas.openxmlformats.org/drawingml/2006/main">
              <a:ext uri="{FF2B5EF4-FFF2-40B4-BE49-F238E27FC236}">
                <a16:creationId xmlns:a16="http://schemas.microsoft.com/office/drawing/2014/main" id="{56A1C5E8-3A71-4DA0-8C03-80212993D087}"/>
              </a:ext>
            </a:extLst>
          </p:cNvPr>
          <p:cNvSpPr>
            <a:spLocks xmlns:a="http://schemas.openxmlformats.org/drawingml/2006/main" noGrp="1"/>
          </p:cNvSpPr>
          <p:nvPr/>
        </p:nvSpPr>
        <p:spPr>
          <a:xfrm xmlns:a="http://schemas.openxmlformats.org/drawingml/2006/main">
            <a:off x="723900" y="54483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36178"/>
                </a:solidFill>
                <a:latin typeface="IBM Plex Sans"/>
                <a:ea typeface="IBM Plex Sans"/>
                <a:cs typeface="IBM Plex Sans"/>
              </a:defRPr>
            </a:pPr>
            <a:r>
              <a:rPr sz="1950" b="0">
                <a:solidFill>
                  <a:srgbClr val="536178"/>
                </a:solidFill>
                <a:latin typeface="IBM Plex Sans"/>
                <a:ea typeface="IBM Plex Sans"/>
                <a:cs typeface="IBM Plex Sans"/>
              </a:rPr>
              <a:t>Code and documents: github.com/nazirad19/proteoguard​</a:t>
            </a:r>
          </a:p>
          <a:p xmlns:a="http://schemas.openxmlformats.org/drawingml/2006/main">
            <a:pPr algn="l">
              <a:defRPr sz="1950" b="0">
                <a:solidFill>
                  <a:srgbClr val="536178"/>
                </a:solidFill>
                <a:latin typeface="IBM Plex Sans"/>
                <a:ea typeface="IBM Plex Sans"/>
                <a:cs typeface="IBM Plex Sans"/>
              </a:defRPr>
            </a:pPr>
            <a:r>
              <a:rPr sz="1950" b="0">
                <a:solidFill>
                  <a:srgbClr val="536178"/>
                </a:solidFill>
                <a:latin typeface="IBM Plex Sans"/>
                <a:ea typeface="IBM Plex Sans"/>
                <a:cs typeface="IBM Plex Sans"/>
              </a:rPr>
              <a:t>No cohort training was rerun for this revision.</a:t>
            </a:r>
          </a:p>
        </p:txBody>
      </p:sp>
      <p:sp>
        <p:nvSpPr>
          <p:cNvPr id="7" name="Readout: efficiency-corrected totalVI protein likelihood; se">
            <a:extLst xmlns:a="http://schemas.openxmlformats.org/drawingml/2006/main">
              <a:ext uri="{FF2B5EF4-FFF2-40B4-BE49-F238E27FC236}">
                <a16:creationId xmlns:a16="http://schemas.microsoft.com/office/drawing/2014/main" id="{8AB41864-FE92-4074-977D-FC275D6B8DB8}"/>
              </a:ext>
            </a:extLst>
          </p:cNvPr>
          <p:cNvSpPr>
            <a:spLocks xmlns:a="http://schemas.openxmlformats.org/drawingml/2006/main" noGrp="1"/>
          </p:cNvSpPr>
          <p:nvPr/>
        </p:nvSpPr>
        <p:spPr>
          <a:xfrm xmlns:a="http://schemas.openxmlformats.org/drawingml/2006/main">
            <a:off x="685800" y="631507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Readout: efficiency-corrected totalVI protein likelihood; see report for pending provenance</a:t>
            </a:r>
          </a:p>
        </p:txBody>
      </p:sp>
      <p:sp>
        <p:nvSpPr>
          <p:cNvPr id="8" name="Backup 4">
            <a:extLst xmlns:a="http://schemas.openxmlformats.org/drawingml/2006/main">
              <a:ext uri="{FF2B5EF4-FFF2-40B4-BE49-F238E27FC236}">
                <a16:creationId xmlns:a16="http://schemas.microsoft.com/office/drawing/2014/main" id="{61C46606-028C-4930-ADDD-0082C30CB350}"/>
              </a:ext>
            </a:extLst>
          </p:cNvPr>
          <p:cNvSpPr>
            <a:spLocks xmlns:a="http://schemas.openxmlformats.org/drawingml/2006/main" noGrp="1"/>
          </p:cNvSpPr>
          <p:nvPr/>
        </p:nvSpPr>
        <p:spPr>
          <a:xfrm xmlns:a="http://schemas.openxmlformats.org/drawingml/2006/main">
            <a:off x="10839450" y="6362700"/>
            <a:ext cx="71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36178"/>
                </a:solidFill>
                <a:latin typeface="IBM Plex Sans"/>
                <a:ea typeface="IBM Plex Sans"/>
                <a:cs typeface="IBM Plex Sans"/>
              </a:defRPr>
            </a:pPr>
            <a:r>
              <a:rPr sz="1050" b="0">
                <a:solidFill>
                  <a:srgbClr val="536178"/>
                </a:solidFill>
                <a:latin typeface="IBM Plex Sans"/>
                <a:ea typeface="IBM Plex Sans"/>
                <a:cs typeface="IBM Plex Sans"/>
              </a:rPr>
              <a:t>Backup 4</a:t>
            </a:r>
          </a:p>
        </p:txBody>
      </p:sp>
    </p:spTree>
    <p:extLst>
      <p:ext uri="{BB962C8B-B14F-4D97-AF65-F5344CB8AC3E}">
        <p14:creationId xmlns:p14="http://schemas.microsoft.com/office/powerpoint/2010/main" val="2115269370"/>
      </p:ext>
    </p:extLst>
  </p:cSld>
</p:sld>
</file>

<file path=ppt/theme/theme1.xml><?xml version="1.0" encoding="utf-8"?>
<a:theme xmlns:a="http://schemas.openxmlformats.org/drawingml/2006/main" name="ProteoGuard — Final Project">
  <a:themeElements>
    <a:clrScheme name="ProteoGuard — Final Project">
      <a:dk1>
        <a:srgbClr val="1A1F2E"/>
      </a:dk1>
      <a:lt1>
        <a:srgbClr val="FBFBF8"/>
      </a:lt1>
      <a:dk2>
        <a:srgbClr val="525661"/>
      </a:dk2>
      <a:lt2>
        <a:srgbClr val="E5E5E4"/>
      </a:lt2>
      <a:accent1>
        <a:srgbClr val="C2410C"/>
      </a:accent1>
      <a:accent2>
        <a:srgbClr val="BFD0F0"/>
      </a:accent2>
      <a:accent3>
        <a:srgbClr val="8FB3FF"/>
      </a:accent3>
      <a:accent4>
        <a:srgbClr val="1F5FE0"/>
      </a:accent4>
      <a:accent5>
        <a:srgbClr val="1D2D52"/>
      </a:accent5>
      <a:accent6>
        <a:srgbClr val="157347"/>
      </a:accent6>
      <a:hlink>
        <a:srgbClr val="0563C1"/>
      </a:hlink>
      <a:folHlink>
        <a:srgbClr val="954F72"/>
      </a:folHlink>
    </a:clrScheme>
    <a:fontScheme name="ProteoGuard — Final Project">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roteoGuard — Final Projec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2026-10-08T13:10:15.8620000Z</dcterms:created>
  <dcterms:modified xsi:type="dcterms:W3CDTF">2026-10-08T13:10:15.8620000Z</dcterms:modified>
</coreProperties>
</file>